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8DB4B50F-135C-AE82-47DA-41F11F7EE36D}">
          <p14:sldIdLst>
            <p14:sldId id="256"/>
          </p14:sldIdLst>
        </p14:section>
        <p14:section name="平台介紹" id="{E2E3D560-6D70-1F6A-0A7E-1BDBB90D51E5}">
          <p14:sldIdLst>
            <p14:sldId id="257"/>
            <p14:sldId id="258"/>
            <p14:sldId id="259"/>
          </p14:sldIdLst>
        </p14:section>
        <p14:section name="功能介紹" id="{64DC8400-91C4-EA3A-7546-39D627613EDE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設計說明" id="{F688B833-21B9-BF73-9158-81CE295FE91C}">
          <p14:sldIdLst>
            <p14:sldId id="267"/>
            <p14:sldId id="268"/>
            <p14:sldId id="269"/>
            <p14:sldId id="270"/>
          </p14:sldIdLst>
        </p14:section>
        <p14:section name="成果與方向" id="{1D5ADA37-4B63-D30D-1EE5-1603E005E02B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7356" autoAdjust="0"/>
  </p:normalViewPr>
  <p:slideViewPr>
    <p:cSldViewPr snapToGrid="0" snapToObjects="1">
      <p:cViewPr varScale="1">
        <p:scale>
          <a:sx n="60" d="100"/>
          <a:sy n="60" d="100"/>
        </p:scale>
        <p:origin x="145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8155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大家好，我是林永欽。我的期中作品叫「論憶」，是一個給研究生用的期刊論文記憶庫。平時作業版本只有閱讀和翻譯，期中這版加上了關聯圖譜、AI 對話、文獻庫總覽和比較矩陣，共五種檢視。接下來依序說明平台目的、受眾、功能，以及我怎麼用視覺設計強調重點資訊。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研究生讀外文論文常遇到三個斷點：讀不懂、記不住、連不起來。論憶針對這三點分別提供逐段對照翻譯、螢光筆記加 AI 問答，以及自動串聯與關聯圖譜。整體目的是讓時間花在理解與比較，而不是查字典和翻舊檔案。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主要對象是碩博士研究生：每學期要讀大量外文論文、要寫文獻回顧，而且多半在筆電上讀 PDF。右邊是三個典型情境，分別對應到閱讀器、關聯圖譜與比較矩陣、AI 對話。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整個平台是一條資料流：匯入、AI 辨識與翻譯、自動串聯、閱讀標記，最後在查閱階段幫助做決策。介面上，左側欄決定看哪些論文：全部論文、某個專案或未分類；上方的五個分頁決定怎麼看：總覽、閱讀器、關聯圖譜、比較矩陣和 AI 對話。點左邊不會換檢視，點上面不會換範圍。沒登入時，資料存在使用者自己的瀏覽器；用 Google 登入後，每個帳號有自己的文獻庫，會自動同步到自己的雲端硬碟，換一台電腦登入就看得到。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閱讀器是最常用的檢視。上方可以切換對照、原文、中文三種模式。點一下任一段落，就會出現螢光、筆記和重新翻譯的按鈕。右側面板自動列出這篇引用了誰、被誰引用，以及共用關鍵詞的相關論文。上方也能直接複製 APA、BibTeX；登入 Google 後還能匯出成 Google 文件、排入日曆。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圖譜把整個文獻庫畫成節點與連線。上方三個按鈕可以分別開關三種關係，三種關係用不同線型區分，不只靠顏色。現在選取的是 ResNet，所以它變成深色，和它沒有關係的 BERT、GPT-3 自動淡化，這就是焦點加脈絡的設計。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對話會把目前範圍的論文（選了專案就只有這個專案），包括我的筆記和螢光重點，一起交給 AI，並要求它只能根據這些內容回答、在句末標出處。出處是可以點的標籤，點了右側就顯示那篇論文的原文，方便查證，避免 AI 亂編。AI 用的是使用者自己的 Gemini 或 Claude 金鑰，論文內容只會送到他選的那一家。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覽是期中新增的檢視，目標是支援決策：下一步該讀什麼。上方五個數字是文獻庫的現況；年份圖看文獻集中在哪個時期；專案組成看各專案的比重；熱門關鍵詞點一下，閱讀器就只列出含這個關鍵詞的論文，篇數和圖上一致；閱讀進度表把翻譯最少的論文排在最上面。所有圖表都跟著選取的專案一起變動，數字彼此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比較矩陣是期中版本新增的檢視，對應寫文獻回顧最花時間的一步：把每篇論文的研究目的、方法、資料、發現和限制整理成一張表。按「AI 填寫空白格」，AI 會一篇一篇讀原文，每一格只根據原文寫一兩句摘要，並附上段落出處和逐字引文；程式會檢查引文真的出現在那一段、數字也對得上，對不上的標成「出處待查」。AI 寫的都是草稿，用虛線框標出來，要點開核對、按儲存才算確認，確認過的用實線色條。另外還有概念矩陣和缺口地圖，可以看出哪些概念最常見、哪些組合在目前收錄的論文裡還沒有出現（不一定就是研究缺口）；整張表可以匯出成 Markdown 和 APA 參考文獻。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生常會同時有好幾個研究方向。論憶的做法是：所有讀過的論文都放在「全部論文」，要開一個新方向時，就建一個專案。左側欄選了專案之後，上方的「總覽」分頁就是這個專案的首頁：最上面是研究方向，建立時可以順便填幾個關鍵詞；接著是只算這個專案的數字；然後是這個專案的論文，同一篇論文可以同時放在好幾個專案。系統會從全部論文裡，依研究方向、專案裡論文的關鍵詞與引用關係，推薦最相關的論文（最多三篇），並寫出推薦原因，按一下就加進專案；下面還有可以串聯的論文，以及到 Google 學術找新文獻的連結。選了專案之後，閱讀器、圖譜、比較矩陣和 AI 對話也都只看這個專案的論文。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除了五種檢視，還有幾個讓它能真的拿來用的功能：掃描版 PDF 會自動 OCR；用 Google 登入後，每個帳號有自己的文獻庫，自動同步到自己的雲端硬碟，換電腦登入就看得到；也可以從雲端硬碟匯入、匯出 Google 文件、排入日曆。不登入也能用，論文存在這台電腦的瀏覽器，可以匯出 JSON 或用 Gist 同步。翻譯預設用瀏覽器內建翻譯，免費、不用金鑰；AI 問答用自己的 Gemini 或 Claude 金鑰，也能請 AI 只根據原文補齊作者、卷期頁和 DOI，確認後才寫入。瀏覽器裡的文獻庫現在改存 IndexedDB，可以存幾百篇全文；手機也能用單欄版面閱讀。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第一個設計原則是顏色分工。整個介面以墨色和紙色為基底，只用一個強調色：青色。因為強調色用得很少，所以畫面上一出現青色就代表 AI 內容、可以點的東西或進度。螢光的黃和藍只代表使用者自己標的重點。專案的分類色是用程式模擬色盲計算過的：因為圖譜上任兩個節點都可能相鄰，我只用通過「任兩色比較」的 3 色，最小色差 9.2，高於門檻 8，第 4 個以後的專案歸為灰色「其他」。而且專案的顏色存在文獻庫裡，改名、刪除或篩選都不會換色。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個原則是：圖譜上每一種視覺變化都要對應到一種資訊。三種關係用線型區分，所以就算黑白列印也分得出來；線條粗細代表共同關鍵詞數量；選取的論文是整張圖唯一的深色塊，沒有關係的論文淡化。連線標籤只顯示和選取論文相連的線，避免整張圖都是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個原則用在總覽、比較矩陣和閱讀器。第一是強調而不是全彩：按下「標示」後，關鍵詞圖只把目前這篇論文有的關鍵詞上青色，其他灰色。第二是排序就是建議：閱讀進度表把最需要處理的放最上面。第三是比較矩陣的狀態不只靠顏色：確認過的格子是實線色條，AI 草稿是虛線框，出處待查是紅褐色虛線框，黑白列印也分得出來。第四是字體分工：襯線字是標題與原文、無襯線是介面與譯文、等寬字是關鍵詞與數據。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期中版本完成後，我做了三輪可用性檢查。方法是讓 AI 代理扮演第一次使用的研究生、寫文獻回顧的博士生和用手機複習的人，在真的瀏覽器裡完成任務，同時量測效能；每個找到的問題，都再由另一個代理重現確認，所以這是模擬測試，不是真人受測。效能方面，第一次開啟網站到看到內容大約 0.3 秒，之後約 0.16 秒；切換檢視最慢的是比較矩陣，約 0.06 秒；版面跳動是 0.04，低於良好的門檻 0.1。可用性方面三輪檢查一共確認了 81 個問題，右邊是幾個例子：例如鍵盤原本沒辦法選段落來畫螢光，現在段落編號是按鈕；刪除論文以前不能復原，現在 8 秒內可以按「復原刪除」。期中版本做好後，我自己用的時候也覺得側欄的按鈕不直覺：檢視、專案和滑鼠停留都是同一種灰底，分不清現在在哪裡，所以改成左側欄只選範圍、上方分頁切換檢視，整個側欄只有目前的範圍是灰底。這些都已經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期中已完成五種檢視，包括這次新增的比較矩陣，還有專案總覽與推薦、免金鑰的內建翻譯、匯入輸出，以及 Google 登入後每個帳號各一份、自動同步雲端硬碟的文獻庫；做了三輪可用性檢查，也把文獻庫改存 IndexedDB，可以存幾百篇全文。期末想做成在自己電腦使用、像 Google 生態工具的 Chrome 插件。研究後發現現在的網站不能直接包成插件：執行環境需要 eval，pdf.js、OCR、Google 登入又都是從網路載入，這些在 Chrome 插件裡都被禁止。所以期末的主目標是收集器插件加可安裝網站：在任何網頁按一下就能把論文送進論憶，網站也能安裝成獨立視窗的 App，不必改寫整個網站。省下的時間會投入這門課的重點：視覺化與決策分析。完整的側邊欄插件需要先把網站改寫成 Vite 加 React，列為延伸目標。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以上是論憶的期中成果，謝謝大家。網站用 QR code 就能開，按「先不登入，直接使用」就有內建的四篇示範論文，可以直接試用閱讀器、圖譜、總覽，以及已經填好範例的比較矩陣。要用 Google 登入的話，要先把 Gmail 加進測試名單。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1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1447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論憶｜期刊論文記憶庫　·　期中報告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5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11" Type="http://schemas.openxmlformats.org/officeDocument/2006/relationships/image" Target="../media/image2.png"/><Relationship Id="rId5" Type="http://schemas.openxmlformats.org/officeDocument/2006/relationships/image" Target="../media/image9.png"/><Relationship Id="rId10" Type="http://schemas.openxmlformats.org/officeDocument/2006/relationships/image" Target="../media/image13.png"/><Relationship Id="rId4" Type="http://schemas.openxmlformats.org/officeDocument/2006/relationships/image" Target="../media/image8.png"/><Relationship Id="rId9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al"/>
          <p:cNvSpPr/>
          <p:nvPr/>
        </p:nvSpPr>
        <p:spPr>
          <a:xfrm>
            <a:off x="731520" y="868680"/>
            <a:ext cx="868680" cy="868680"/>
          </a:xfrm>
          <a:prstGeom prst="roundRect">
            <a:avLst>
              <a:gd name="adj" fmla="val 14737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eal-text"/>
          <p:cNvSpPr txBox="1"/>
          <p:nvPr/>
        </p:nvSpPr>
        <p:spPr>
          <a:xfrm>
            <a:off x="73152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tx1"/>
                </a:solidFill>
              </a:rPr>
              <a:t>論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論憶｜期刊論文記憶庫</a:t>
            </a:r>
            <a:endParaRPr lang="en-US" sz="4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bg2"/>
                </a:solidFill>
              </a:rPr>
              <a:t>讓讀過的外文論文，</a:t>
            </a:r>
            <a:r>
              <a:rPr lang="en-US" sz="1800" dirty="0">
                <a:solidFill>
                  <a:schemeClr val="tx1"/>
                </a:solidFill>
                <a:highlight>
                  <a:srgbClr val="FAECB6"/>
                </a:highlight>
              </a:rPr>
              <a:t>看得懂、找得回、連得起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177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設計者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46177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林永欽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0200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課程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5020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chemeClr val="bg1"/>
                </a:solidFill>
              </a:rPr>
              <a:t>視覺化分析與決策應用設計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223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報告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4223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期中報告</a:t>
            </a:r>
            <a:endParaRPr lang="en-US" sz="1600" dirty="0"/>
          </a:p>
        </p:txBody>
      </p:sp>
      <p:sp>
        <p:nvSpPr>
          <p:cNvPr id="12" name="cover-dashboard-frame"/>
          <p:cNvSpPr/>
          <p:nvPr/>
        </p:nvSpPr>
        <p:spPr>
          <a:xfrm>
            <a:off x="6903720" y="914400"/>
            <a:ext cx="4754880" cy="29718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13" name="cover-dashboard" descr="cover-dashbo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914400"/>
            <a:ext cx="4754880" cy="2971800"/>
          </a:xfrm>
          <a:prstGeom prst="rect">
            <a:avLst/>
          </a:prstGeom>
        </p:spPr>
      </p:pic>
      <p:sp>
        <p:nvSpPr>
          <p:cNvPr id="14" name="cover-graph-edge"/>
          <p:cNvSpPr/>
          <p:nvPr/>
        </p:nvSpPr>
        <p:spPr>
          <a:xfrm>
            <a:off x="7589520" y="3337560"/>
            <a:ext cx="411480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cover-graph-frame"/>
          <p:cNvSpPr/>
          <p:nvPr/>
        </p:nvSpPr>
        <p:spPr>
          <a:xfrm>
            <a:off x="7635240" y="3383280"/>
            <a:ext cx="4023360" cy="25146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16" name="cover-graph" descr="cover-grap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383280"/>
            <a:ext cx="4023360" cy="2514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90372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>
                    <a:alpha val="70000"/>
                  </a:schemeClr>
                </a:solidFill>
              </a:rPr>
              <a:t>journal-article-memory-tool.vercel.app/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平台目的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把「讀論文」變成能累積、能查詢的知識庫</a:t>
            </a:r>
            <a:endParaRPr lang="en-US" sz="3200" dirty="0"/>
          </a:p>
        </p:txBody>
      </p:sp>
      <p:sp>
        <p:nvSpPr>
          <p:cNvPr id="4" name="pain-0"/>
          <p:cNvSpPr/>
          <p:nvPr/>
        </p:nvSpPr>
        <p:spPr>
          <a:xfrm>
            <a:off x="548640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icon-LuLanguages-bg"/>
          <p:cNvSpPr/>
          <p:nvPr/>
        </p:nvSpPr>
        <p:spPr>
          <a:xfrm>
            <a:off x="822960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6" name="icon-LuLanguages" descr="LuLanguag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1987174"/>
            <a:ext cx="286756" cy="2867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讀不懂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外文論文術語密集，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逐句查字典打斷思路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匯入後逐段翻成繁中，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原文與中文對照閱讀，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 AI 翻譯時專有名詞保留原文</a:t>
            </a:r>
            <a:endParaRPr lang="en-US" sz="1500" dirty="0"/>
          </a:p>
        </p:txBody>
      </p:sp>
      <p:sp>
        <p:nvSpPr>
          <p:cNvPr id="12" name="pain-1"/>
          <p:cNvSpPr/>
          <p:nvPr/>
        </p:nvSpPr>
        <p:spPr>
          <a:xfrm>
            <a:off x="4306824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icon-LuHighlighter-bg"/>
          <p:cNvSpPr/>
          <p:nvPr/>
        </p:nvSpPr>
        <p:spPr>
          <a:xfrm>
            <a:off x="4581144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4" name="icon-LuHighlighter" descr="LuHighligh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3798" y="1987174"/>
            <a:ext cx="286756" cy="2867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21224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記不住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581144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重點散在 PDF、筆記本和腦袋裡，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寫論文時找不回來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81144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4"/>
          <p:cNvSpPr txBox="1"/>
          <p:nvPr/>
        </p:nvSpPr>
        <p:spPr>
          <a:xfrm>
            <a:off x="4581144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81144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螢光與段落筆記存在同一處，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 AI 問答查整個文獻庫，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回答附上出處</a:t>
            </a:r>
            <a:endParaRPr lang="en-US" sz="1500" dirty="0"/>
          </a:p>
        </p:txBody>
      </p:sp>
      <p:sp>
        <p:nvSpPr>
          <p:cNvPr id="20" name="pain-2"/>
          <p:cNvSpPr/>
          <p:nvPr/>
        </p:nvSpPr>
        <p:spPr>
          <a:xfrm>
            <a:off x="8065008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icon-LuWaypoints-bg"/>
          <p:cNvSpPr/>
          <p:nvPr/>
        </p:nvSpPr>
        <p:spPr>
          <a:xfrm>
            <a:off x="8339328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2" name="icon-LuWaypoints" descr="LuWaypoint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1982" y="1987174"/>
            <a:ext cx="286756" cy="28675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79408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連不起來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8339328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論文之間的引用與主題關係，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只能靠記憶拼湊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339328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1"/>
          <p:cNvSpPr txBox="1"/>
          <p:nvPr/>
        </p:nvSpPr>
        <p:spPr>
          <a:xfrm>
            <a:off x="8339328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39328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自動比對共同關鍵詞與引用，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用關聯圖譜一次看清楚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目的：</a:t>
            </a:r>
            <a:r>
              <a:rPr lang="en-US" sz="2000" dirty="0">
                <a:solidFill>
                  <a:schemeClr val="tx1"/>
                </a:solidFill>
                <a:highlight>
                  <a:srgbClr val="FAECB6"/>
                </a:highlight>
              </a:rPr>
              <a:t>讓研究生把時間花在理解與比較</a:t>
            </a:r>
            <a:r>
              <a:rPr lang="en-US" sz="2000" dirty="0">
                <a:solidFill>
                  <a:schemeClr val="tx1"/>
                </a:solidFill>
              </a:rPr>
              <a:t>，而不是查字典、翻舊檔案。</a:t>
            </a:r>
            <a:endParaRPr lang="en-US" sz="20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受眾與使用情境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為研究生與個人研究者設計</a:t>
            </a:r>
            <a:endParaRPr lang="en-US" sz="3200" dirty="0"/>
          </a:p>
        </p:txBody>
      </p:sp>
      <p:sp>
        <p:nvSpPr>
          <p:cNvPr id="4" name="persona"/>
          <p:cNvSpPr/>
          <p:nvPr/>
        </p:nvSpPr>
        <p:spPr>
          <a:xfrm>
            <a:off x="548640" y="1600200"/>
            <a:ext cx="4114800" cy="43434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icon-LuGraduationCap-bg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6" name="icon-LuGraduationCap" descr="LuGraduation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20153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主要對象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碩博士研究生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3464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每學期要讀數十篇外文論文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要整理文獻回顧、說清楚研究脈絡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在筆電讀 PDF，通勤時用手機複習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4480560"/>
            <a:ext cx="356616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8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次要對象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個人研究者、跨領域讀者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983480" y="1600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87452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剛進實驗室，要讀懂領域經典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983480" y="227685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上傳 PDF 自動翻譯，對照閱讀、邊讀邊畫螢光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500055" y="231343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4"/>
          <p:cNvSpPr txBox="1"/>
          <p:nvPr/>
        </p:nvSpPr>
        <p:spPr>
          <a:xfrm>
            <a:off x="10500055" y="231343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閱讀器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983480" y="2953512"/>
            <a:ext cx="665957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6"/>
          <p:cNvSpPr txBox="1"/>
          <p:nvPr/>
        </p:nvSpPr>
        <p:spPr>
          <a:xfrm>
            <a:off x="498348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333756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寫文獻回顧，要理清論文脈絡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983480" y="373989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從圖譜看誰引用誰，再用比較矩陣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逐篇比較方法、資料與發現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357055" y="377647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0"/>
          <p:cNvSpPr txBox="1"/>
          <p:nvPr/>
        </p:nvSpPr>
        <p:spPr>
          <a:xfrm>
            <a:off x="9357055" y="37764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關聯圖譜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500055" y="377647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2"/>
          <p:cNvSpPr txBox="1"/>
          <p:nvPr/>
        </p:nvSpPr>
        <p:spPr>
          <a:xfrm>
            <a:off x="10500055" y="37764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比較矩陣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83480" y="4416552"/>
            <a:ext cx="665957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4"/>
          <p:cNvSpPr txBox="1"/>
          <p:nvPr/>
        </p:nvSpPr>
        <p:spPr>
          <a:xfrm>
            <a:off x="4983480" y="4526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983480" y="480060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口試或報告前，要回想讀過的重點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4983480" y="520293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直接問文獻庫，回答附出處，點一下就回到原文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0500055" y="523951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8"/>
          <p:cNvSpPr txBox="1"/>
          <p:nvPr/>
        </p:nvSpPr>
        <p:spPr>
          <a:xfrm>
            <a:off x="10500055" y="523951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 對話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5760720"/>
            <a:ext cx="6659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tx2"/>
                </a:solidFill>
              </a:rPr>
              <a:t>平台共有五種檢視，下一頁說明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平台架構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一條資料流，五種檢視</a:t>
            </a:r>
            <a:endParaRPr lang="en-US" sz="3200" dirty="0"/>
          </a:p>
        </p:txBody>
      </p:sp>
      <p:sp>
        <p:nvSpPr>
          <p:cNvPr id="4" name="flow-0"/>
          <p:cNvSpPr/>
          <p:nvPr/>
        </p:nvSpPr>
        <p:spPr>
          <a:xfrm>
            <a:off x="548640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icon-LuFileUp-bg"/>
          <p:cNvSpPr/>
          <p:nvPr/>
        </p:nvSpPr>
        <p:spPr>
          <a:xfrm>
            <a:off x="749808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6" name="icon-LuFileUp" descr="LuFile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187452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18488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匯入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PDF、掃描檔 OCR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雲端硬碟、貼上文字</a:t>
            </a:r>
            <a:endParaRPr lang="en-US" sz="1300" dirty="0"/>
          </a:p>
        </p:txBody>
      </p:sp>
      <p:pic>
        <p:nvPicPr>
          <p:cNvPr id="10" name="arrow-0" descr="arr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464" y="2491740"/>
            <a:ext cx="219456" cy="219456"/>
          </a:xfrm>
          <a:prstGeom prst="rect">
            <a:avLst/>
          </a:prstGeom>
        </p:spPr>
      </p:pic>
      <p:sp>
        <p:nvSpPr>
          <p:cNvPr id="11" name="flow-1"/>
          <p:cNvSpPr/>
          <p:nvPr/>
        </p:nvSpPr>
        <p:spPr>
          <a:xfrm>
            <a:off x="2825496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icon-LuSparkles-bg"/>
          <p:cNvSpPr/>
          <p:nvPr/>
        </p:nvSpPr>
        <p:spPr>
          <a:xfrm>
            <a:off x="3026664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3" name="icon-LuSparkles" descr="LuSparkl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7248" y="1874520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95344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2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026664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辨識與翻譯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26664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辨識標題與關鍵詞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逐段翻成繁體中文</a:t>
            </a:r>
            <a:endParaRPr lang="en-US" sz="1300" dirty="0"/>
          </a:p>
        </p:txBody>
      </p:sp>
      <p:pic>
        <p:nvPicPr>
          <p:cNvPr id="17" name="arrow-1" descr="arr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491740"/>
            <a:ext cx="219456" cy="219456"/>
          </a:xfrm>
          <a:prstGeom prst="rect">
            <a:avLst/>
          </a:prstGeom>
        </p:spPr>
      </p:pic>
      <p:sp>
        <p:nvSpPr>
          <p:cNvPr id="18" name="flow-2"/>
          <p:cNvSpPr/>
          <p:nvPr/>
        </p:nvSpPr>
        <p:spPr>
          <a:xfrm>
            <a:off x="5102352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icon-LuLink-bg"/>
          <p:cNvSpPr/>
          <p:nvPr/>
        </p:nvSpPr>
        <p:spPr>
          <a:xfrm>
            <a:off x="5303520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0" name="icon-LuLink" descr="LuLin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4104" y="187452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172200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3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5303520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自動串聯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5303520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比對共同關鍵詞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與參考文獻</a:t>
            </a:r>
            <a:endParaRPr lang="en-US" sz="1300" dirty="0"/>
          </a:p>
        </p:txBody>
      </p:sp>
      <p:pic>
        <p:nvPicPr>
          <p:cNvPr id="24" name="arrow-2" descr="arr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2491740"/>
            <a:ext cx="219456" cy="219456"/>
          </a:xfrm>
          <a:prstGeom prst="rect">
            <a:avLst/>
          </a:prstGeom>
        </p:spPr>
      </p:pic>
      <p:sp>
        <p:nvSpPr>
          <p:cNvPr id="25" name="flow-3"/>
          <p:cNvSpPr/>
          <p:nvPr/>
        </p:nvSpPr>
        <p:spPr>
          <a:xfrm>
            <a:off x="7379208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icon-LuPenLine-bg"/>
          <p:cNvSpPr/>
          <p:nvPr/>
        </p:nvSpPr>
        <p:spPr>
          <a:xfrm>
            <a:off x="7580376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7" name="icon-LuPenLine" descr="LuPenLin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1874520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49056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4</a:t>
            </a:r>
            <a:endParaRPr lang="en-US" sz="1200" dirty="0"/>
          </a:p>
        </p:txBody>
      </p:sp>
      <p:sp>
        <p:nvSpPr>
          <p:cNvPr id="29" name="Text 20"/>
          <p:cNvSpPr txBox="1"/>
          <p:nvPr/>
        </p:nvSpPr>
        <p:spPr>
          <a:xfrm>
            <a:off x="7580376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閱讀與標記</a:t>
            </a:r>
            <a:endParaRPr lang="en-US" sz="1600" dirty="0"/>
          </a:p>
        </p:txBody>
      </p:sp>
      <p:sp>
        <p:nvSpPr>
          <p:cNvPr id="30" name="Text 21"/>
          <p:cNvSpPr txBox="1"/>
          <p:nvPr/>
        </p:nvSpPr>
        <p:spPr>
          <a:xfrm>
            <a:off x="7580376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螢光、段落筆記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手動串聯並寫理由</a:t>
            </a:r>
            <a:endParaRPr lang="en-US" sz="1300" dirty="0"/>
          </a:p>
        </p:txBody>
      </p:sp>
      <p:pic>
        <p:nvPicPr>
          <p:cNvPr id="31" name="arrow-3" descr="arr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491740"/>
            <a:ext cx="219456" cy="219456"/>
          </a:xfrm>
          <a:prstGeom prst="rect">
            <a:avLst/>
          </a:prstGeom>
        </p:spPr>
      </p:pic>
      <p:sp>
        <p:nvSpPr>
          <p:cNvPr id="32" name="flow-4"/>
          <p:cNvSpPr/>
          <p:nvPr/>
        </p:nvSpPr>
        <p:spPr>
          <a:xfrm>
            <a:off x="9656064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icon-LuChartColumn-bg"/>
          <p:cNvSpPr/>
          <p:nvPr/>
        </p:nvSpPr>
        <p:spPr>
          <a:xfrm>
            <a:off x="9857232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34" name="icon-LuChartColumn" descr="LuChartColum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57816" y="1874520"/>
            <a:ext cx="256032" cy="256032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0725912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5</a:t>
            </a:r>
            <a:endParaRPr lang="en-US" sz="1200" dirty="0"/>
          </a:p>
        </p:txBody>
      </p:sp>
      <p:sp>
        <p:nvSpPr>
          <p:cNvPr id="36" name="Text 25"/>
          <p:cNvSpPr txBox="1"/>
          <p:nvPr/>
        </p:nvSpPr>
        <p:spPr>
          <a:xfrm>
            <a:off x="9857232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查閱與決策</a:t>
            </a:r>
            <a:endParaRPr lang="en-US" sz="1600" dirty="0"/>
          </a:p>
        </p:txBody>
      </p:sp>
      <p:sp>
        <p:nvSpPr>
          <p:cNvPr id="37" name="Text 26"/>
          <p:cNvSpPr txBox="1"/>
          <p:nvPr/>
        </p:nvSpPr>
        <p:spPr>
          <a:xfrm>
            <a:off x="9857232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總覽、矩陣、問答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決定下一步讀什麼</a:t>
            </a:r>
            <a:endParaRPr lang="en-US" sz="1300" dirty="0"/>
          </a:p>
        </p:txBody>
      </p:sp>
      <p:sp>
        <p:nvSpPr>
          <p:cNvPr id="38" name="Text 27"/>
          <p:cNvSpPr txBox="1"/>
          <p:nvPr/>
        </p:nvSpPr>
        <p:spPr>
          <a:xfrm>
            <a:off x="548640" y="36758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五種檢視</a:t>
            </a:r>
            <a:r>
              <a:rPr lang="en-US" sz="1200" dirty="0">
                <a:solidFill>
                  <a:schemeClr val="tx2"/>
                </a:solidFill>
              </a:rPr>
              <a:t>　上方分頁切換；左側欄選範圍（全部論文或某個專案）</a:t>
            </a:r>
            <a:endParaRPr lang="en-US" sz="1200" dirty="0"/>
          </a:p>
        </p:txBody>
      </p:sp>
      <p:sp>
        <p:nvSpPr>
          <p:cNvPr id="39" name="thumb-0-frame"/>
          <p:cNvSpPr/>
          <p:nvPr/>
        </p:nvSpPr>
        <p:spPr>
          <a:xfrm>
            <a:off x="548640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40" name="thumb-0" descr="thumb-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005072"/>
            <a:ext cx="2087209" cy="130450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548640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總覽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數字與圖表看全局</a:t>
            </a:r>
            <a:endParaRPr lang="en-US" sz="1400" dirty="0"/>
          </a:p>
        </p:txBody>
      </p:sp>
      <p:sp>
        <p:nvSpPr>
          <p:cNvPr id="42" name="thumb-1-frame"/>
          <p:cNvSpPr/>
          <p:nvPr/>
        </p:nvSpPr>
        <p:spPr>
          <a:xfrm>
            <a:off x="2800441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43" name="thumb-1" descr="thumb-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0441" y="4005072"/>
            <a:ext cx="2087209" cy="130450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2800441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閱讀器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對照閱讀與標記</a:t>
            </a:r>
            <a:endParaRPr lang="en-US" sz="1400" dirty="0"/>
          </a:p>
        </p:txBody>
      </p:sp>
      <p:sp>
        <p:nvSpPr>
          <p:cNvPr id="45" name="thumb-2-frame"/>
          <p:cNvSpPr/>
          <p:nvPr/>
        </p:nvSpPr>
        <p:spPr>
          <a:xfrm>
            <a:off x="5052243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46" name="thumb-2" descr="thumb-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52243" y="4005072"/>
            <a:ext cx="2087209" cy="1304506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5052243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關聯圖譜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看論文之間的關係</a:t>
            </a:r>
            <a:endParaRPr lang="en-US" sz="1400" dirty="0"/>
          </a:p>
        </p:txBody>
      </p:sp>
      <p:sp>
        <p:nvSpPr>
          <p:cNvPr id="48" name="thumb-3-frame"/>
          <p:cNvSpPr/>
          <p:nvPr/>
        </p:nvSpPr>
        <p:spPr>
          <a:xfrm>
            <a:off x="7304044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49" name="thumb-3" descr="thumb-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04044" y="4005072"/>
            <a:ext cx="2087209" cy="1304506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7304044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比較矩陣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逐篇比較論文</a:t>
            </a:r>
            <a:endParaRPr lang="en-US" sz="1400" dirty="0"/>
          </a:p>
        </p:txBody>
      </p:sp>
      <p:sp>
        <p:nvSpPr>
          <p:cNvPr id="51" name="thumb-4-frame"/>
          <p:cNvSpPr/>
          <p:nvPr/>
        </p:nvSpPr>
        <p:spPr>
          <a:xfrm>
            <a:off x="9555846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52" name="thumb-4" descr="thumb-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55846" y="4005072"/>
            <a:ext cx="2087209" cy="1304506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9555846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對話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問目前的文獻</a:t>
            </a:r>
            <a:endParaRPr lang="en-US" sz="140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閱讀器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原文與中文並排，重點直接標在段落上</a:t>
            </a:r>
            <a:endParaRPr lang="en-US" sz="3200" dirty="0"/>
          </a:p>
        </p:txBody>
      </p:sp>
      <p:sp>
        <p:nvSpPr>
          <p:cNvPr id="4" name="reader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5" name="reader.png" descr="r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1676400" y="266001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marker-1-text"/>
          <p:cNvSpPr txBox="1"/>
          <p:nvPr/>
        </p:nvSpPr>
        <p:spPr>
          <a:xfrm>
            <a:off x="1676400" y="26600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1790700" y="467389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arker-2-text"/>
          <p:cNvSpPr txBox="1"/>
          <p:nvPr/>
        </p:nvSpPr>
        <p:spPr>
          <a:xfrm>
            <a:off x="1790700" y="46738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583174" y="198437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marker-3-text"/>
          <p:cNvSpPr txBox="1"/>
          <p:nvPr/>
        </p:nvSpPr>
        <p:spPr>
          <a:xfrm>
            <a:off x="5583174" y="19843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5151628" y="291236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marker-4-text"/>
          <p:cNvSpPr txBox="1"/>
          <p:nvPr/>
        </p:nvSpPr>
        <p:spPr>
          <a:xfrm>
            <a:off x="5151628" y="29123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三種閱讀模式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對照、原文、中文一鍵切換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原文襯線字、中文無襯線字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點段落就能標記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黃藍兩色螢光、加筆記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或只重新翻譯這一段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右側串聯面板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列出引用了、被引用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以及共用關鍵詞的相關論文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引用與匯出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一鍵複製 APA、BibTeX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登入 Google 可匯出文件、排入日曆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關聯圖譜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誰引用誰、誰和誰同主題，一張圖看清</a:t>
            </a:r>
            <a:endParaRPr lang="en-US" sz="3200" dirty="0"/>
          </a:p>
        </p:txBody>
      </p:sp>
      <p:sp>
        <p:nvSpPr>
          <p:cNvPr id="4" name="graph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5" name="graph.png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3822446" y="179616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marker-1-text"/>
          <p:cNvSpPr txBox="1"/>
          <p:nvPr/>
        </p:nvSpPr>
        <p:spPr>
          <a:xfrm>
            <a:off x="3822446" y="17961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2788920" y="521440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arker-2-text"/>
          <p:cNvSpPr txBox="1"/>
          <p:nvPr/>
        </p:nvSpPr>
        <p:spPr>
          <a:xfrm>
            <a:off x="2788920" y="52144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2948178" y="353321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marker-3-text"/>
          <p:cNvSpPr txBox="1"/>
          <p:nvPr/>
        </p:nvSpPr>
        <p:spPr>
          <a:xfrm>
            <a:off x="2948178" y="35332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1795526" y="253929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marker-4-text"/>
          <p:cNvSpPr txBox="1"/>
          <p:nvPr/>
        </p:nvSpPr>
        <p:spPr>
          <a:xfrm>
            <a:off x="1795526" y="25392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三種關係可分別開關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共同關鍵詞（實線）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引用（點線）、手動串聯（虛線）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焦點與脈絡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選取的論文變深色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沒有關係的論文自動淡化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連線本身帶資訊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線越粗，共同關鍵詞越多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連線上標出引用方向與理由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只看目前的範圍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左側欄選了專案，就只畫它的論文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色條代表專案，和側欄、總覽一致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AI 對話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問目前範圍的文獻，回答附上出處</a:t>
            </a:r>
            <a:endParaRPr lang="en-US" sz="3200" dirty="0"/>
          </a:p>
        </p:txBody>
      </p:sp>
      <p:sp>
        <p:nvSpPr>
          <p:cNvPr id="4" name="chat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5" name="chat.png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3670687" y="212376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marker-1-text"/>
          <p:cNvSpPr txBox="1"/>
          <p:nvPr/>
        </p:nvSpPr>
        <p:spPr>
          <a:xfrm>
            <a:off x="3670687" y="21237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5409438" y="17744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arker-2-text"/>
          <p:cNvSpPr txBox="1"/>
          <p:nvPr/>
        </p:nvSpPr>
        <p:spPr>
          <a:xfrm>
            <a:off x="5409438" y="17744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361940" y="248390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marker-3-text"/>
          <p:cNvSpPr txBox="1"/>
          <p:nvPr/>
        </p:nvSpPr>
        <p:spPr>
          <a:xfrm>
            <a:off x="5361940" y="248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6887782" y="177825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marker-4-text"/>
          <p:cNvSpPr txBox="1"/>
          <p:nvPr/>
        </p:nvSpPr>
        <p:spPr>
          <a:xfrm>
            <a:off x="6887782" y="17782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出處標籤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句末標出論文（如 He 2016）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點一下，右側就顯示原文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來源原文面板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中文、原文與你的螢光、筆記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並列在一起，方便查證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只根據你的文獻庫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也參考筆記、螢光與手動串聯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資料不足時會直說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用自己的 AI 金鑰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按右上角的 AI 狀態，到「進階」貼金鑰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Gemini 或 Claude，只存在自己的瀏覽器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總覽（期中新增）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用數字與圖表決定下一步讀什麼</a:t>
            </a:r>
            <a:endParaRPr lang="en-US" sz="3200" dirty="0"/>
          </a:p>
        </p:txBody>
      </p:sp>
      <p:sp>
        <p:nvSpPr>
          <p:cNvPr id="4" name="dash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5" name="dash.png" descr="d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4485640" y="177063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marker-1-text"/>
          <p:cNvSpPr txBox="1"/>
          <p:nvPr/>
        </p:nvSpPr>
        <p:spPr>
          <a:xfrm>
            <a:off x="4485640" y="17706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4150106" y="260398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arker-2-text"/>
          <p:cNvSpPr txBox="1"/>
          <p:nvPr/>
        </p:nvSpPr>
        <p:spPr>
          <a:xfrm>
            <a:off x="4150106" y="260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6886448" y="260398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marker-3-text"/>
          <p:cNvSpPr txBox="1"/>
          <p:nvPr/>
        </p:nvSpPr>
        <p:spPr>
          <a:xfrm>
            <a:off x="6886448" y="260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4150106" y="384427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marker-4-text"/>
          <p:cNvSpPr txBox="1"/>
          <p:nvPr/>
        </p:nvSpPr>
        <p:spPr>
          <a:xfrm>
            <a:off x="4150106" y="3844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5"/>
          <p:cNvSpPr/>
          <p:nvPr/>
        </p:nvSpPr>
        <p:spPr>
          <a:xfrm>
            <a:off x="6886448" y="384427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marker-5-text"/>
          <p:cNvSpPr txBox="1"/>
          <p:nvPr/>
        </p:nvSpPr>
        <p:spPr>
          <a:xfrm>
            <a:off x="6886448" y="3844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6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57032" y="157276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五個關鍵數字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57032" y="1920240"/>
            <a:ext cx="33860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篇數、翻譯進度、螢光、筆記、串聯</a:t>
            </a:r>
            <a:endParaRPr lang="en-US" sz="1400" dirty="0"/>
          </a:p>
        </p:txBody>
      </p:sp>
      <p:sp>
        <p:nvSpPr>
          <p:cNvPr id="20" name="marker-2"/>
          <p:cNvSpPr/>
          <p:nvPr/>
        </p:nvSpPr>
        <p:spPr>
          <a:xfrm>
            <a:off x="7818120" y="235915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marker-2-text"/>
          <p:cNvSpPr txBox="1"/>
          <p:nvPr/>
        </p:nvSpPr>
        <p:spPr>
          <a:xfrm>
            <a:off x="781812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57032" y="235000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出版年份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257032" y="2697480"/>
            <a:ext cx="33860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文獻集中在哪幾年、缺了哪段時期</a:t>
            </a:r>
            <a:endParaRPr lang="en-US" sz="1400" dirty="0"/>
          </a:p>
        </p:txBody>
      </p:sp>
      <p:sp>
        <p:nvSpPr>
          <p:cNvPr id="24" name="marker-3"/>
          <p:cNvSpPr/>
          <p:nvPr/>
        </p:nvSpPr>
        <p:spPr>
          <a:xfrm>
            <a:off x="7818120" y="31363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marker-3-text"/>
          <p:cNvSpPr txBox="1"/>
          <p:nvPr/>
        </p:nvSpPr>
        <p:spPr>
          <a:xfrm>
            <a:off x="781812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57032" y="312724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專案組成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257032" y="3474720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各專案占比與翻譯進度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點色塊即可切換到該專案</a:t>
            </a:r>
            <a:endParaRPr lang="en-US" sz="1400" dirty="0"/>
          </a:p>
        </p:txBody>
      </p:sp>
      <p:sp>
        <p:nvSpPr>
          <p:cNvPr id="28" name="marker-4"/>
          <p:cNvSpPr/>
          <p:nvPr/>
        </p:nvSpPr>
        <p:spPr>
          <a:xfrm>
            <a:off x="7818120" y="416052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marker-4-text"/>
          <p:cNvSpPr txBox="1"/>
          <p:nvPr/>
        </p:nvSpPr>
        <p:spPr>
          <a:xfrm>
            <a:off x="781812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257032" y="4151376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熱門關鍵詞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257032" y="4498848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點選只看含這個關鍵詞的論文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可標示目前論文有的關鍵詞</a:t>
            </a:r>
            <a:endParaRPr lang="en-US" sz="1400" dirty="0"/>
          </a:p>
        </p:txBody>
      </p:sp>
      <p:sp>
        <p:nvSpPr>
          <p:cNvPr id="32" name="marker-5"/>
          <p:cNvSpPr/>
          <p:nvPr/>
        </p:nvSpPr>
        <p:spPr>
          <a:xfrm>
            <a:off x="7818120" y="518464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marker-5-text"/>
          <p:cNvSpPr txBox="1"/>
          <p:nvPr/>
        </p:nvSpPr>
        <p:spPr>
          <a:xfrm>
            <a:off x="7818120" y="5184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257032" y="5175504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閱讀進度表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257032" y="5522976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翻譯最少的排最上面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直接看出先處理哪篇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比較矩陣（期中新增）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寫文獻回顧前，先把論文排成一張比較表</a:t>
            </a:r>
            <a:endParaRPr lang="en-US" sz="3200" dirty="0"/>
          </a:p>
        </p:txBody>
      </p:sp>
      <p:sp>
        <p:nvSpPr>
          <p:cNvPr id="4" name="matrix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5" name="matrix.png" descr="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2620010" y="307588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marker-1-text"/>
          <p:cNvSpPr txBox="1"/>
          <p:nvPr/>
        </p:nvSpPr>
        <p:spPr>
          <a:xfrm>
            <a:off x="2620010" y="307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3681984" y="468112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arker-2-text"/>
          <p:cNvSpPr txBox="1"/>
          <p:nvPr/>
        </p:nvSpPr>
        <p:spPr>
          <a:xfrm>
            <a:off x="3681984" y="46811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298440" y="36951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marker-3-text"/>
          <p:cNvSpPr txBox="1"/>
          <p:nvPr/>
        </p:nvSpPr>
        <p:spPr>
          <a:xfrm>
            <a:off x="5298440" y="369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2720594" y="174167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marker-4-text"/>
          <p:cNvSpPr txBox="1"/>
          <p:nvPr/>
        </p:nvSpPr>
        <p:spPr>
          <a:xfrm>
            <a:off x="2720594" y="17416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論文 × 比較面向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研究目的、方法、資料、發現、限制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欄位可以改名、新增或隱藏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只根據原文擬稿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每格附段落出處與逐字引文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程式核對引文與數字，草稿要確認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點格子就能核對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右側列出出處段落，引文畫青色底線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沒改內容按「儲存」就是確認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概念矩陣與缺口地圖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看哪些概念常見、哪些組合文獻庫裡還沒有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可匯出 Markdown 表格與 APA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專案總覽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開新的研究方向，就開一個乾淨的專案</a:t>
            </a:r>
            <a:endParaRPr lang="en-US" sz="3200" dirty="0"/>
          </a:p>
        </p:txBody>
      </p:sp>
      <p:sp>
        <p:nvSpPr>
          <p:cNvPr id="4" name="project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5" name="project.png" descr="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5156031" y="218702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marker-1-text"/>
          <p:cNvSpPr txBox="1"/>
          <p:nvPr/>
        </p:nvSpPr>
        <p:spPr>
          <a:xfrm>
            <a:off x="5156031" y="21870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1678940" y="263829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arker-2-text"/>
          <p:cNvSpPr txBox="1"/>
          <p:nvPr/>
        </p:nvSpPr>
        <p:spPr>
          <a:xfrm>
            <a:off x="1678940" y="26382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1678940" y="320491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marker-3-text"/>
          <p:cNvSpPr txBox="1"/>
          <p:nvPr/>
        </p:nvSpPr>
        <p:spPr>
          <a:xfrm>
            <a:off x="1678940" y="320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1678940" y="419021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marker-4-text"/>
          <p:cNvSpPr txBox="1"/>
          <p:nvPr/>
        </p:nvSpPr>
        <p:spPr>
          <a:xfrm>
            <a:off x="1678940" y="41902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研究方向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建立專案時順便填幾個關鍵詞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之後隨時可以改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只算這個專案的數字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篇數、翻譯進度、螢光、筆記、串聯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下方還有這個專案的圖表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這個專案的論文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同一篇可以放進好幾個專案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移出不會刪掉論文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從全部論文推薦（最多 3 篇）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依研究方向、關鍵詞與引用排序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下方還有推薦串聯與找新文獻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支援功能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讓平台真的能用在日常研究</a:t>
            </a:r>
            <a:endParaRPr lang="en-US" sz="3200" dirty="0"/>
          </a:p>
        </p:txBody>
      </p:sp>
      <p:sp>
        <p:nvSpPr>
          <p:cNvPr id="4" name="support-0"/>
          <p:cNvSpPr/>
          <p:nvPr/>
        </p:nvSpPr>
        <p:spPr>
          <a:xfrm>
            <a:off x="548640" y="157276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icon-LuScanText-bg"/>
          <p:cNvSpPr/>
          <p:nvPr/>
        </p:nvSpPr>
        <p:spPr>
          <a:xfrm>
            <a:off x="777240" y="18013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6" name="icon-LuScanText" descr="LuScanTex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47" y="190597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739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PDF 與掃描版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16712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自動分段並擷取參考文獻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掃描頁用 OCR 辨識英文與繁中</a:t>
            </a:r>
            <a:endParaRPr lang="en-US" sz="1400" dirty="0"/>
          </a:p>
        </p:txBody>
      </p:sp>
      <p:sp>
        <p:nvSpPr>
          <p:cNvPr id="9" name="support-1"/>
          <p:cNvSpPr/>
          <p:nvPr/>
        </p:nvSpPr>
        <p:spPr>
          <a:xfrm>
            <a:off x="4846320" y="157276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icon-LuFolderOpen-bg"/>
          <p:cNvSpPr/>
          <p:nvPr/>
        </p:nvSpPr>
        <p:spPr>
          <a:xfrm>
            <a:off x="5074920" y="18013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1" name="icon-LuFolderOpen" descr="LuFolderO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9527" y="1905975"/>
            <a:ext cx="266273" cy="26627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7739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Google 雲端硬碟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216712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登入 Google 後，直接搜尋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並匯入雲端硬碟裡的 PDF</a:t>
            </a:r>
            <a:endParaRPr lang="en-US" sz="1400" dirty="0"/>
          </a:p>
        </p:txBody>
      </p:sp>
      <p:sp>
        <p:nvSpPr>
          <p:cNvPr id="14" name="support-2"/>
          <p:cNvSpPr/>
          <p:nvPr/>
        </p:nvSpPr>
        <p:spPr>
          <a:xfrm>
            <a:off x="548640" y="308152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icon-LuQuote-bg"/>
          <p:cNvSpPr/>
          <p:nvPr/>
        </p:nvSpPr>
        <p:spPr>
          <a:xfrm>
            <a:off x="777240" y="33101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6" name="icon-LuQuote" descr="LuQuo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47" y="3414735"/>
            <a:ext cx="266273" cy="26627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引用與匯出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36758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一鍵複製 APA、BibTeX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AI 整理書目：補齊卷期頁與 DOI</a:t>
            </a:r>
            <a:endParaRPr lang="en-US" sz="1400" dirty="0"/>
          </a:p>
        </p:txBody>
      </p:sp>
      <p:sp>
        <p:nvSpPr>
          <p:cNvPr id="19" name="support-3"/>
          <p:cNvSpPr/>
          <p:nvPr/>
        </p:nvSpPr>
        <p:spPr>
          <a:xfrm>
            <a:off x="4846320" y="308152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icon-LuRefreshCw-bg"/>
          <p:cNvSpPr/>
          <p:nvPr/>
        </p:nvSpPr>
        <p:spPr>
          <a:xfrm>
            <a:off x="5074920" y="33101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1" name="icon-LuRefreshCw" descr="LuRefreshCw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9527" y="3414735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備份與同步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715000" y="36758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登入 Google 開啟自己的文獻庫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自動同步雲端硬碟，換電腦也能用</a:t>
            </a:r>
            <a:endParaRPr lang="en-US" sz="1400" dirty="0"/>
          </a:p>
        </p:txBody>
      </p:sp>
      <p:sp>
        <p:nvSpPr>
          <p:cNvPr id="24" name="support-4"/>
          <p:cNvSpPr/>
          <p:nvPr/>
        </p:nvSpPr>
        <p:spPr>
          <a:xfrm>
            <a:off x="548640" y="459028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icon-LuLanguages-bg"/>
          <p:cNvSpPr/>
          <p:nvPr/>
        </p:nvSpPr>
        <p:spPr>
          <a:xfrm>
            <a:off x="777240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6" name="icon-LuLanguages" descr="LuLanguag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847" y="4923495"/>
            <a:ext cx="266273" cy="26627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17320" y="4791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翻譯與 AI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1417320" y="51846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內建翻譯免費、免金鑰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AI 用自己的 Gemini／Claude 金鑰</a:t>
            </a:r>
            <a:endParaRPr lang="en-US" sz="1400" dirty="0"/>
          </a:p>
        </p:txBody>
      </p:sp>
      <p:sp>
        <p:nvSpPr>
          <p:cNvPr id="29" name="support-5"/>
          <p:cNvSpPr/>
          <p:nvPr/>
        </p:nvSpPr>
        <p:spPr>
          <a:xfrm>
            <a:off x="4846320" y="459028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icon-LuShieldCheck-bg"/>
          <p:cNvSpPr/>
          <p:nvPr/>
        </p:nvSpPr>
        <p:spPr>
          <a:xfrm>
            <a:off x="5074920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31" name="icon-LuShieldCheck" descr="LuShieldChec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9527" y="4923495"/>
            <a:ext cx="266273" cy="26627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715000" y="4791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資料留在自己手上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5715000" y="51846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存在自己的瀏覽器，可存幾百篇全文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Google 登入只取一小時有效的權杖</a:t>
            </a:r>
            <a:endParaRPr lang="en-US" sz="1400" dirty="0"/>
          </a:p>
        </p:txBody>
      </p:sp>
      <p:sp>
        <p:nvSpPr>
          <p:cNvPr id="34" name="mobile-frame"/>
          <p:cNvSpPr/>
          <p:nvPr/>
        </p:nvSpPr>
        <p:spPr>
          <a:xfrm>
            <a:off x="9463880" y="1572768"/>
            <a:ext cx="1859136" cy="402336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35" name="mobile" descr="mobi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3880" y="1572768"/>
            <a:ext cx="1859136" cy="40233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098120" y="5669280"/>
            <a:ext cx="259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手機上改成單欄，檢視分頁在上方</a:t>
            </a:r>
            <a:endParaRPr lang="en-US" sz="12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①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顏色只做一件事：標出重點</a:t>
            </a:r>
            <a:endParaRPr lang="en-US" sz="3200" dirty="0"/>
          </a:p>
        </p:txBody>
      </p:sp>
      <p:sp>
        <p:nvSpPr>
          <p:cNvPr id="4" name="swatch-0"/>
          <p:cNvSpPr/>
          <p:nvPr/>
        </p:nvSpPr>
        <p:spPr>
          <a:xfrm>
            <a:off x="548640" y="1600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D1B18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墨色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6002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主要文字、主要按鈕，以及「目前選取」的論文</a:t>
            </a:r>
            <a:endParaRPr lang="en-US" sz="1400" dirty="0"/>
          </a:p>
        </p:txBody>
      </p:sp>
      <p:sp>
        <p:nvSpPr>
          <p:cNvPr id="7" name="swatch-1"/>
          <p:cNvSpPr/>
          <p:nvPr/>
        </p:nvSpPr>
        <p:spPr>
          <a:xfrm>
            <a:off x="548640" y="22402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F9F6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 txBox="1"/>
          <p:nvPr/>
        </p:nvSpPr>
        <p:spPr>
          <a:xfrm>
            <a:off x="1325880" y="22402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紙色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2402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閱讀區底色，降低長時間閱讀的刺眼感</a:t>
            </a:r>
            <a:endParaRPr lang="en-US" sz="1400" dirty="0"/>
          </a:p>
        </p:txBody>
      </p:sp>
      <p:sp>
        <p:nvSpPr>
          <p:cNvPr id="10" name="swatch-2"/>
          <p:cNvSpPr/>
          <p:nvPr/>
        </p:nvSpPr>
        <p:spPr>
          <a:xfrm>
            <a:off x="548640" y="28803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0656B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 txBox="1"/>
          <p:nvPr/>
        </p:nvSpPr>
        <p:spPr>
          <a:xfrm>
            <a:off x="1325880" y="28803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青色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8803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唯一的強調色：AI、出處標籤、串聯、進度與圖表</a:t>
            </a:r>
            <a:endParaRPr lang="en-US" sz="1400" dirty="0"/>
          </a:p>
        </p:txBody>
      </p:sp>
      <p:sp>
        <p:nvSpPr>
          <p:cNvPr id="13" name="swatch-3"/>
          <p:cNvSpPr/>
          <p:nvPr/>
        </p:nvSpPr>
        <p:spPr>
          <a:xfrm>
            <a:off x="548640" y="35204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ECB6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832104" y="3520440"/>
            <a:ext cx="283464" cy="566928"/>
          </a:xfrm>
          <a:prstGeom prst="roundRect">
            <a:avLst>
              <a:gd name="adj" fmla="val 25806"/>
            </a:avLst>
          </a:prstGeom>
          <a:solidFill>
            <a:srgbClr val="C8F0F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 txBox="1"/>
          <p:nvPr/>
        </p:nvSpPr>
        <p:spPr>
          <a:xfrm>
            <a:off x="1325880" y="35204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螢光黃／藍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5204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只代表使用者自己標的重點，不拿來裝飾</a:t>
            </a:r>
            <a:endParaRPr lang="en-US" sz="1400" dirty="0"/>
          </a:p>
        </p:txBody>
      </p:sp>
      <p:sp>
        <p:nvSpPr>
          <p:cNvPr id="17" name="swatch-4"/>
          <p:cNvSpPr/>
          <p:nvPr/>
        </p:nvSpPr>
        <p:spPr>
          <a:xfrm>
            <a:off x="548640" y="41605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A78D6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740664" y="4160520"/>
            <a:ext cx="182880" cy="566928"/>
          </a:xfrm>
          <a:prstGeom prst="rect">
            <a:avLst/>
          </a:prstGeom>
          <a:solidFill>
            <a:srgbClr val="EB683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932688" y="4160520"/>
            <a:ext cx="182880" cy="566928"/>
          </a:xfrm>
          <a:prstGeom prst="rect">
            <a:avLst/>
          </a:prstGeom>
          <a:solidFill>
            <a:srgbClr val="1BAF7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1325880" y="41605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專案色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4160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前 3 個專案各有固定顏色，改名、刪除、篩選都不換色</a:t>
            </a:r>
            <a:endParaRPr lang="en-US" sz="1400" dirty="0"/>
          </a:p>
        </p:txBody>
      </p:sp>
      <p:sp>
        <p:nvSpPr>
          <p:cNvPr id="22" name="swatch-5"/>
          <p:cNvSpPr/>
          <p:nvPr/>
        </p:nvSpPr>
        <p:spPr>
          <a:xfrm>
            <a:off x="548640" y="48006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DC7BB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 txBox="1"/>
          <p:nvPr/>
        </p:nvSpPr>
        <p:spPr>
          <a:xfrm>
            <a:off x="1325880" y="48006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灰色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788920" y="48006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非焦點的背景脈絡：淡化節點、其他論文的關鍵詞</a:t>
            </a:r>
            <a:endParaRPr lang="en-US" sz="1400" dirty="0"/>
          </a:p>
        </p:txBody>
      </p:sp>
      <p:sp>
        <p:nvSpPr>
          <p:cNvPr id="25" name="swatch-6"/>
          <p:cNvSpPr/>
          <p:nvPr/>
        </p:nvSpPr>
        <p:spPr>
          <a:xfrm>
            <a:off x="548640" y="54406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7A2E1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 txBox="1"/>
          <p:nvPr/>
        </p:nvSpPr>
        <p:spPr>
          <a:xfrm>
            <a:off x="1325880" y="5440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紅褐色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只用在警示：出處待查、尚未儲存等要你處理的狀態</a:t>
            </a:r>
            <a:endParaRPr lang="en-US" sz="1400" dirty="0"/>
          </a:p>
        </p:txBody>
      </p:sp>
      <p:sp>
        <p:nvSpPr>
          <p:cNvPr id="28" name="principle"/>
          <p:cNvSpPr/>
          <p:nvPr/>
        </p:nvSpPr>
        <p:spPr>
          <a:xfrm>
            <a:off x="7818120" y="1600200"/>
            <a:ext cx="3824935" cy="2331720"/>
          </a:xfrm>
          <a:prstGeom prst="roundRect">
            <a:avLst>
              <a:gd name="adj" fmla="val 3922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 txBox="1"/>
          <p:nvPr/>
        </p:nvSpPr>
        <p:spPr>
          <a:xfrm>
            <a:off x="8138160" y="1783080"/>
            <a:ext cx="3184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強調色用得越少，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出現時越像重點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278892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整個介面只有一個強調色，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只用在 AI 內容、可以點的連結、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進度與圖表；警示另用紅褐色。</a:t>
            </a:r>
            <a:endParaRPr lang="en-US" sz="1400" dirty="0"/>
          </a:p>
        </p:txBody>
      </p:sp>
      <p:sp>
        <p:nvSpPr>
          <p:cNvPr id="31" name="cvd-stat"/>
          <p:cNvSpPr/>
          <p:nvPr/>
        </p:nvSpPr>
        <p:spPr>
          <a:xfrm>
            <a:off x="7818120" y="4114800"/>
            <a:ext cx="3824935" cy="1709928"/>
          </a:xfrm>
          <a:prstGeom prst="roundRect">
            <a:avLst>
              <a:gd name="adj" fmla="val 53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 txBox="1"/>
          <p:nvPr/>
        </p:nvSpPr>
        <p:spPr>
          <a:xfrm>
            <a:off x="8092440" y="4224528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9.2</a:t>
            </a:r>
            <a:endParaRPr lang="en-US" sz="40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0" y="4297680"/>
            <a:ext cx="2270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色盲模擬下，任兩個專案色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的最小色差（ΔE），門檻 8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5074920"/>
            <a:ext cx="3184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用程式模擬紅綠色盲計算，不靠目測；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對比不足的淺色一律搭配文字標籤。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②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圖譜：每一種視覺變化都對應一種資訊</a:t>
            </a:r>
            <a:endParaRPr lang="en-US" sz="3200" dirty="0"/>
          </a:p>
        </p:txBody>
      </p:sp>
      <p:graphicFrame>
        <p:nvGraphicFramePr>
          <p:cNvPr id="14" name="encodin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583680" cy="384048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視覺變化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代表的資訊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為什麼這樣設計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線型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關係類型（關鍵詞、引用、手動）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不只靠顏色，黑白列印也分得出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線條粗細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共同關鍵詞的數量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重疊越多，線越粗、越先被看到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深色節點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目前選取的論文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唯一的深色塊，視線第一個落點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淡化節點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與選取論文無關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保留全貌，但退到背景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左側色條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所屬專案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與側欄、總覽同一組顏色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連線標籤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引用方向、串聯理由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只標選取論文的連線，減少雜訊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raph-small-frame"/>
          <p:cNvSpPr/>
          <p:nvPr/>
        </p:nvSpPr>
        <p:spPr>
          <a:xfrm>
            <a:off x="8063901" y="1600200"/>
            <a:ext cx="2921894" cy="288036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6" name="graph-small" descr="graph-sma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3901" y="1600200"/>
            <a:ext cx="2921894" cy="2880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46634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三種線型</a:t>
            </a:r>
            <a:endParaRPr lang="en-US" sz="1200" dirty="0"/>
          </a:p>
        </p:txBody>
      </p:sp>
      <p:sp>
        <p:nvSpPr>
          <p:cNvPr id="8" name="legend-line-0"/>
          <p:cNvSpPr/>
          <p:nvPr/>
        </p:nvSpPr>
        <p:spPr>
          <a:xfrm>
            <a:off x="7406640" y="5129784"/>
            <a:ext cx="1005840" cy="0"/>
          </a:xfrm>
          <a:prstGeom prst="line">
            <a:avLst/>
          </a:prstGeom>
          <a:noFill/>
          <a:ln w="38100">
            <a:solidFill>
              <a:srgbClr val="BDB6A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5"/>
          <p:cNvSpPr txBox="1"/>
          <p:nvPr/>
        </p:nvSpPr>
        <p:spPr>
          <a:xfrm>
            <a:off x="8595360" y="4992624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共同關鍵詞</a:t>
            </a:r>
            <a:endParaRPr lang="en-US" sz="1400" dirty="0"/>
          </a:p>
        </p:txBody>
      </p:sp>
      <p:sp>
        <p:nvSpPr>
          <p:cNvPr id="10" name="legend-line-1"/>
          <p:cNvSpPr/>
          <p:nvPr/>
        </p:nvSpPr>
        <p:spPr>
          <a:xfrm>
            <a:off x="7406640" y="5458968"/>
            <a:ext cx="1005840" cy="0"/>
          </a:xfrm>
          <a:prstGeom prst="line">
            <a:avLst/>
          </a:prstGeom>
          <a:noFill/>
          <a:ln w="19050">
            <a:solidFill>
              <a:srgbClr val="1D1B18"/>
            </a:solidFill>
            <a:prstDash val="sysDot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7"/>
          <p:cNvSpPr txBox="1"/>
          <p:nvPr/>
        </p:nvSpPr>
        <p:spPr>
          <a:xfrm>
            <a:off x="8595360" y="532180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引用</a:t>
            </a:r>
            <a:endParaRPr lang="en-US" sz="1400" dirty="0"/>
          </a:p>
        </p:txBody>
      </p:sp>
      <p:sp>
        <p:nvSpPr>
          <p:cNvPr id="12" name="legend-line-2"/>
          <p:cNvSpPr/>
          <p:nvPr/>
        </p:nvSpPr>
        <p:spPr>
          <a:xfrm>
            <a:off x="7406640" y="5788152"/>
            <a:ext cx="1005840" cy="0"/>
          </a:xfrm>
          <a:prstGeom prst="line">
            <a:avLst/>
          </a:prstGeom>
          <a:noFill/>
          <a:ln w="25400">
            <a:solidFill>
              <a:srgbClr val="00656B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9"/>
          <p:cNvSpPr txBox="1"/>
          <p:nvPr/>
        </p:nvSpPr>
        <p:spPr>
          <a:xfrm>
            <a:off x="8595360" y="5650992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手動串聯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③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總覽、矩陣與閱讀器：讓重點自己跳出來</a:t>
            </a:r>
            <a:endParaRPr lang="en-US" sz="3200" dirty="0"/>
          </a:p>
        </p:txBody>
      </p:sp>
      <p:sp>
        <p:nvSpPr>
          <p:cNvPr id="4" name="tip-bg-0"/>
          <p:cNvSpPr/>
          <p:nvPr/>
        </p:nvSpPr>
        <p:spPr>
          <a:xfrm>
            <a:off x="548640" y="1572768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tip-img-0" descr="強調，而不是全彩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976" y="1664208"/>
            <a:ext cx="3744009" cy="1371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強調，而不是全彩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5295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按下「標示」後，只有目前這篇的關鍵詞是青色，其他灰色</a:t>
            </a:r>
            <a:endParaRPr lang="en-US" sz="1400" dirty="0"/>
          </a:p>
        </p:txBody>
      </p:sp>
      <p:sp>
        <p:nvSpPr>
          <p:cNvPr id="8" name="tip-bg-1"/>
          <p:cNvSpPr/>
          <p:nvPr/>
        </p:nvSpPr>
        <p:spPr>
          <a:xfrm>
            <a:off x="6202375" y="1572768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9" name="tip-img-1" descr="排序就是建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862" y="1664208"/>
            <a:ext cx="5097706" cy="1371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02375" y="32004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排序就是建議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202375" y="35295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翻譯最少的論文排最上面，不必自己比較</a:t>
            </a:r>
            <a:endParaRPr lang="en-US" sz="1400" dirty="0"/>
          </a:p>
        </p:txBody>
      </p:sp>
      <p:sp>
        <p:nvSpPr>
          <p:cNvPr id="12" name="tip-bg-2"/>
          <p:cNvSpPr/>
          <p:nvPr/>
        </p:nvSpPr>
        <p:spPr>
          <a:xfrm>
            <a:off x="548640" y="3858768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3" name="tip-img-2" descr="草稿和確認過的，一眼分得出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4263" y="3950208"/>
            <a:ext cx="2329434" cy="1371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" y="54864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草稿和確認過的，一眼分得出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8155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實線＝已確認，虛線＝AI 草稿，紅褐虛線＝出處待查，空白＝未填</a:t>
            </a:r>
            <a:endParaRPr lang="en-US" sz="1400" dirty="0"/>
          </a:p>
        </p:txBody>
      </p:sp>
      <p:sp>
        <p:nvSpPr>
          <p:cNvPr id="16" name="tip-bg-3"/>
          <p:cNvSpPr/>
          <p:nvPr/>
        </p:nvSpPr>
        <p:spPr>
          <a:xfrm>
            <a:off x="6202375" y="3858768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7" name="tip-img-3" descr="字體分工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535" y="4112727"/>
            <a:ext cx="5166360" cy="10465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02375" y="54864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字體分工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02375" y="58155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襯線＝標題與原文，無襯線＝介面與譯文，等寬＝關鍵詞與數據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可用性檢查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用模擬使用者測試找出問題，再逐一改進</a:t>
            </a:r>
            <a:endParaRPr lang="en-US" sz="3200" dirty="0"/>
          </a:p>
        </p:txBody>
      </p:sp>
      <p:sp>
        <p:nvSpPr>
          <p:cNvPr id="4" name="ux-stat-0"/>
          <p:cNvSpPr/>
          <p:nvPr/>
        </p:nvSpPr>
        <p:spPr>
          <a:xfrm>
            <a:off x="548640" y="1572768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682496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0.3 秒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第一次開啟到看到內容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031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之後再開約 0.16 秒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示範資料、一般筆電</a:t>
            </a:r>
            <a:endParaRPr lang="en-US" sz="1200" dirty="0"/>
          </a:p>
        </p:txBody>
      </p:sp>
      <p:sp>
        <p:nvSpPr>
          <p:cNvPr id="8" name="ux-stat-1"/>
          <p:cNvSpPr/>
          <p:nvPr/>
        </p:nvSpPr>
        <p:spPr>
          <a:xfrm>
            <a:off x="548640" y="2779776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 txBox="1"/>
          <p:nvPr/>
        </p:nvSpPr>
        <p:spPr>
          <a:xfrm>
            <a:off x="777240" y="288950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0.06 秒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944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切換檢視到畫面換好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310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最慢是比較矩陣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其他檢視約 0.02 秒</a:t>
            </a:r>
            <a:endParaRPr lang="en-US" sz="1200" dirty="0"/>
          </a:p>
        </p:txBody>
      </p:sp>
      <p:sp>
        <p:nvSpPr>
          <p:cNvPr id="12" name="ux-stat-2"/>
          <p:cNvSpPr/>
          <p:nvPr/>
        </p:nvSpPr>
        <p:spPr>
          <a:xfrm>
            <a:off x="548640" y="3986784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 txBox="1"/>
          <p:nvPr/>
        </p:nvSpPr>
        <p:spPr>
          <a:xfrm>
            <a:off x="777240" y="40965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415137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版面跳動（CLS）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5171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低於 0.1 算良好；手機約 0.001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方法：讓 AI 代理扮演研究生，在真的瀏覽器裡完成閱讀、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整理專案和手機複習等任務並量測效能；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每個問題都經另一個代理重現。這是模擬測試，不是真人受測。</a:t>
            </a:r>
            <a:endParaRPr lang="en-US" sz="1100" dirty="0"/>
          </a:p>
        </p:txBody>
      </p:sp>
      <p:graphicFrame>
        <p:nvGraphicFramePr>
          <p:cNvPr id="17" name="ux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572768"/>
          <a:ext cx="6568136" cy="3840480"/>
        </p:xfrm>
        <a:graphic>
          <a:graphicData uri="http://schemas.openxmlformats.org/drawingml/2006/table">
            <a:tbl>
              <a:tblPr/>
              <a:tblGrid>
                <a:gridCol w="32840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40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發現的問題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改成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鍵盤無法選段落來畫螢光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段落編號改成按鈕，鍵盤可以操作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刪除論文後無法復原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刪除後 8 秒內可以按「復原刪除」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搜尋找不到時沒有任何提示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顯示「找不到」，可以一鍵清除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長論文打字、翻譯時卡頓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減少重繪，翻譯結果分批更新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手機按返回鍵直接離開網站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先關掉側欄或視窗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側欄按鈕分不清目前在哪（自己發現）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左側欄只選範圍，上方分頁切換檢視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074920" y="5532120"/>
            <a:ext cx="6568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tx2"/>
                </a:solidFill>
              </a:rPr>
              <a:t>前 5 列取自三輪檢查（共 81 個問題，已全部修正）；最後一列是自己發現的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期中成果與期末方向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期中完成五種檢視，期末加上 Chrome 插件</a:t>
            </a:r>
            <a:endParaRPr lang="en-US" sz="3200" dirty="0"/>
          </a:p>
        </p:txBody>
      </p:sp>
      <p:sp>
        <p:nvSpPr>
          <p:cNvPr id="4" name="done"/>
          <p:cNvSpPr/>
          <p:nvPr/>
        </p:nvSpPr>
        <p:spPr>
          <a:xfrm>
            <a:off x="548640" y="1572768"/>
            <a:ext cx="4937760" cy="438912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7556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期中已完成</a:t>
            </a:r>
            <a:endParaRPr lang="en-US" sz="1300" dirty="0"/>
          </a:p>
        </p:txBody>
      </p:sp>
      <p:pic>
        <p:nvPicPr>
          <p:cNvPr id="6" name="check-0" descr="d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21284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五種檢視：總覽、閱讀器、關聯圖譜、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比較矩陣、AI 對話</a:t>
            </a:r>
            <a:endParaRPr lang="en-US" sz="1400" dirty="0"/>
          </a:p>
        </p:txBody>
      </p:sp>
      <p:pic>
        <p:nvPicPr>
          <p:cNvPr id="8" name="check-1" descr="d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14553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1089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專案總覽與推薦相關論文；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免金鑰的瀏覽器內建翻譯</a:t>
            </a:r>
            <a:endParaRPr lang="en-US" sz="1400" dirty="0"/>
          </a:p>
        </p:txBody>
      </p:sp>
      <p:pic>
        <p:nvPicPr>
          <p:cNvPr id="10" name="check-2" descr="d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4164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400507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匯入與輸出：PDF、OCR、APA／BibTeX；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登入 Google 各有一份文獻庫，同步雲端硬碟</a:t>
            </a:r>
            <a:endParaRPr lang="en-US" sz="1400" dirty="0"/>
          </a:p>
        </p:txBody>
      </p:sp>
      <p:pic>
        <p:nvPicPr>
          <p:cNvPr id="12" name="check-3" descr="d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93776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9011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三輪檢查修正 81 個問題；文獻庫改存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IndexedDB，可存幾百篇全文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5806440" y="1755648"/>
            <a:ext cx="5836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期末方向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5806440" y="2212848"/>
            <a:ext cx="10058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0"/>
          <p:cNvSpPr txBox="1"/>
          <p:nvPr/>
        </p:nvSpPr>
        <p:spPr>
          <a:xfrm>
            <a:off x="5806440" y="22128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主目標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995160" y="2194560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收集器插件＋可安裝網站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6995160" y="2615184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在任何網頁按一下，就把論文或 PDF 送進論憶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網站可安裝成獨立視窗的 App，離線也能開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47472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4"/>
          <p:cNvSpPr txBox="1"/>
          <p:nvPr/>
        </p:nvSpPr>
        <p:spPr>
          <a:xfrm>
            <a:off x="5806440" y="3474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加強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6995160" y="3456432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視覺化與決策分析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995160" y="3877056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省下改寫的時間，投入圖表與決策輔助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例如主題隨年份的演變、引用網路分析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806440" y="473659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18"/>
          <p:cNvSpPr txBox="1"/>
          <p:nvPr/>
        </p:nvSpPr>
        <p:spPr>
          <a:xfrm>
            <a:off x="5806440" y="47365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延伸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6995160" y="4718304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完整的側邊欄插件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995160" y="5138928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網站改寫成 Vite＋React 後產出側邊欄插件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時間足夠再做，否則留到寒假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謝謝聆聽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bg2"/>
                </a:solidFill>
              </a:rPr>
              <a:t>歡迎現場試用：按「先不登入」就有 4 篇示範論文</a:t>
            </a:r>
            <a:endParaRPr lang="en-US" sz="1800" dirty="0"/>
          </a:p>
        </p:txBody>
      </p:sp>
      <p:sp>
        <p:nvSpPr>
          <p:cNvPr id="4" name="qr-bg"/>
          <p:cNvSpPr/>
          <p:nvPr/>
        </p:nvSpPr>
        <p:spPr>
          <a:xfrm>
            <a:off x="8366760" y="1554480"/>
            <a:ext cx="3108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qr" descr="網站 QR 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600200"/>
            <a:ext cx="3017520" cy="3017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49240" y="48006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bg2"/>
                </a:solidFill>
              </a:rPr>
              <a:t>journal-article-memory-tool.vercel.app/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>
                    <a:alpha val="80000"/>
                  </a:schemeClr>
                </a:solidFill>
              </a:rPr>
              <a:t>設計者　林永欽　·　視覺化分析與決策應用設計（2026 秋）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yi">
  <a:themeElements>
    <a:clrScheme name="Lunyi">
      <a:dk1>
        <a:srgbClr val="1D1B18"/>
      </a:dk1>
      <a:lt1>
        <a:srgbClr val="FFFFFF"/>
      </a:lt1>
      <a:dk2>
        <a:srgbClr val="625D55"/>
      </a:dk2>
      <a:lt2>
        <a:srgbClr val="F4F2ED"/>
      </a:lt2>
      <a:accent1>
        <a:srgbClr val="00656B"/>
      </a:accent1>
      <a:accent2>
        <a:srgbClr val="2A78D6"/>
      </a:accent2>
      <a:accent3>
        <a:srgbClr val="EB6834"/>
      </a:accent3>
      <a:accent4>
        <a:srgbClr val="FAECB6"/>
      </a:accent4>
      <a:accent5>
        <a:srgbClr val="E2DDD3"/>
      </a:accent5>
      <a:accent6>
        <a:srgbClr val="FAF9F6"/>
      </a:accent6>
      <a:hlink>
        <a:srgbClr val="00656B"/>
      </a:hlink>
      <a:folHlink>
        <a:srgbClr val="004A50"/>
      </a:folHlink>
    </a:clrScheme>
    <a:fontScheme name="Lunyi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1637</Words>
  <Application>Microsoft Office PowerPoint</Application>
  <PresentationFormat>寬螢幕</PresentationFormat>
  <Paragraphs>417</Paragraphs>
  <Slides>17</Slides>
  <Notes>17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0" baseType="lpstr">
      <vt:lpstr>Microsoft JhengHei</vt:lpstr>
      <vt:lpstr>Arial</vt:lpstr>
      <vt:lpstr>Lunyi</vt:lpstr>
      <vt:lpstr>論憶｜期刊論文記憶庫</vt:lpstr>
      <vt:lpstr>把「讀論文」變成能累積、能查詢的知識庫</vt:lpstr>
      <vt:lpstr>為研究生與個人研究者設計</vt:lpstr>
      <vt:lpstr>一條資料流，五種檢視</vt:lpstr>
      <vt:lpstr>原文與中文並排，重點直接標在段落上</vt:lpstr>
      <vt:lpstr>誰引用誰、誰和誰同主題，一張圖看清</vt:lpstr>
      <vt:lpstr>問目前範圍的文獻，回答附上出處</vt:lpstr>
      <vt:lpstr>用數字與圖表決定下一步讀什麼</vt:lpstr>
      <vt:lpstr>寫文獻回顧前，先把論文排成一張比較表</vt:lpstr>
      <vt:lpstr>開新的研究方向，就開一個乾淨的專案</vt:lpstr>
      <vt:lpstr>讓平台真的能用在日常研究</vt:lpstr>
      <vt:lpstr>顏色只做一件事：標出重點</vt:lpstr>
      <vt:lpstr>圖譜：每一種視覺變化都對應一種資訊</vt:lpstr>
      <vt:lpstr>總覽、矩陣與閱讀器：讓重點自己跳出來</vt:lpstr>
      <vt:lpstr>用模擬使用者測試找出問題，再逐一改進</vt:lpstr>
      <vt:lpstr>期中完成五種檢視，期末加上 Chrome 插件</vt:lpstr>
      <vt:lpstr>謝謝聆聽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論憶：期刊論文記憶庫 期中報告</dc:title>
  <dc:subject>視覺化分析與決策應用設計（2026 秋）期中報告</dc:subject>
  <dc:creator>林永欽</dc:creator>
  <cp:lastModifiedBy>Charles Lin</cp:lastModifiedBy>
  <cp:revision>2</cp:revision>
  <dcterms:created xsi:type="dcterms:W3CDTF">2026-10-26T17:50:34Z</dcterms:created>
  <dcterms:modified xsi:type="dcterms:W3CDTF">2026-10-27T02:36:45Z</dcterms:modified>
</cp:coreProperties>
</file>