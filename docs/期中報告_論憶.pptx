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e694a145-f001-52a5-5409-1b758a0323ec}">
          <p14:sldIdLst>
            <p14:sldId id="256"/>
          </p14:sldIdLst>
        </p14:section>
        <p14:section name="平台介紹" id="{3d196469-bc10-efb0-6178-12cfdc483fd8}">
          <p14:sldIdLst>
            <p14:sldId id="257"/>
            <p14:sldId id="258"/>
            <p14:sldId id="259"/>
          </p14:sldIdLst>
        </p14:section>
        <p14:section name="功能介紹" id="{6fc6f51f-9d8f-c497-4e92-f68fde81a160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設計說明" id="{03fd7d7b-114d-f02a-4f47-ff332d28bcf9}">
          <p14:sldIdLst>
            <p14:sldId id="267"/>
            <p14:sldId id="268"/>
            <p14:sldId id="269"/>
            <p14:sldId id="270"/>
          </p14:sldIdLst>
        </p14:section>
        <p14:section name="成果與方向" id="{18901130-f514-1527-9f4e-f700d44a8de2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大家好，我是林永欽。我的期中作品叫「論憶」，是一個給研究生用的期刊論文記憶庫。平時作業版本只有閱讀和翻譯，期中這版加上了關聯圖譜、AI 對話和新的文獻庫總覽，共四個工作區。接下來依序說明平台目的、受眾、功能，以及我怎麼用視覺設計強調重點資訊。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研究生讀外文論文常遇到三個斷點：讀不懂、記不住、連不起來。論憶針對這三點分別提供逐段對照翻譯、螢光筆記加 AI 問答，以及自動串聯與關聯圖譜。整體目的是讓時間花在理解與比較，而不是查字典和翻舊檔案。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主要對象是碩博士研究生：每學期要讀大量外文論文、要寫文獻回顧，而且多半在筆電上讀 PDF。右邊是三個典型情境，分別對應到閱讀器、圖譜與總覽、AI 對話。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整個平台是一條資料流：匯入、AI 辨識與翻譯、自動串聯、閱讀標記，最後在查閱階段幫助做決策。介面分成四個工作區，從左側欄切換：1a 閱讀器、1b 圖譜、1c 對話，以及這次新增的 1d 總覽。所有資料存在使用者自己的瀏覽器。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閱讀器是最常用的工作區。上方可以切換對照、原文、中文三種模式。點一下任一段落，就會出現螢光、筆記和重新翻譯的按鈕。右側面板自動列出這篇引用了誰、被誰引用，以及共用關鍵詞的相關論文。上方也能直接複製 APA、BibTeX；登入 Google 後還能匯出成 Google 文件、排入日曆。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圖譜把整個文獻庫畫成節點與連線。上方三個按鈕可以分別開關三種關係，三種關係用不同線型區分，不只靠顏色。現在選取的是 ResNet，所以它變成深色，和它沒有關係的 BERT、GPT-3 自動淡化，這就是焦點加脈絡的設計。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對話會把整個文獻庫，包括我的筆記和螢光重點，一起交給 AI，並要求它只能根據這些內容回答、在句末標出處。出處是可以點的標籤，點了右側就顯示那篇論文的原文，方便查證，避免 AI 亂編。AI 用的是使用者自己的 Gemini 或 Claude 金鑰，論文內容只會送到他選的那一家。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覽是期中新增的工作區，目標是支援決策：下一步該讀什麼。上方五個數字是文獻庫的現況；年份圖看文獻集中在哪個時期；專案組成看各專案的比重；熱門關鍵詞點一下，閱讀器就只列出含這個關鍵詞的論文，篇數和圖上一致；閱讀進度表把翻譯最少的論文排在最上面。所有圖表都跟著選取的專案一起變動，數字彼此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生常會同時有好幾個研究方向。論憶的做法是：所有讀過的論文都放在「全部論文」，要開一個新方向時，就建一個專案，得到一頁乾淨的專案首頁。建立時可以順便填研究方向的關鍵詞，系統會從全部論文裡，依這些關鍵詞、專案裡論文的關鍵詞與引用關係，推薦最相關的論文（最多三篇），並寫出推薦原因，按一下就加進專案；同一篇論文可以同時放在好幾個專案。下面還會建議專案裡可以串聯的論文，以及用這些關鍵詞到 Google 學術找新文獻的連結。選了專案之後，閱讀器、圖譜、AI 對話和總覽都只看這個專案的論文，這就是「乾淨的工作區」。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這一頁是期中整理後的介面。所有操作集中在左側欄：最上面是帳號，可以用 Google 登入，下面是搜尋、設定、新增論文、四個工作區和專案。所有論文都在「全部論文」，專案是從裡面挑出某個研究方向的論文，同一篇可以放進好幾個專案，專案的顏色在側欄、圖譜和總覽都一樣。翻譯預設用瀏覽器內建的翻譯功能，免費、在自己電腦上執行，不用任何帳號或金鑰；用內建翻譯翻好的段落會標「內建翻譯」，有設定 AI 金鑰的話可以改用 AI 重新翻譯。右上角隨時顯示目前用哪一種翻譯、有沒有設定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除了四個工作區，還有幾個讓它能真的拿來用的功能：掃描版 PDF 會自動 OCR；登入 Google 後可以從雲端硬碟匯入、匯出 Google 文件、排入日曆，也能用雲端硬碟或 Gist 在多台電腦同步。翻譯預設用瀏覽器內建翻譯，免費、不用金鑰；AI 問答用自己的 Gemini 或 Claude 金鑰。資料都存在自己的瀏覽器，手機也能用單欄版面閱讀。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第一個設計原則是顏色分工。整個介面以墨色和紙色為基底，只用一個強調色：青色。因為強調色用得很少，所以畫面上一出現青色就代表 AI 內容、可以點的東西或進度。螢光的黃和藍只代表使用者自己標的重點。專案的分類色是用程式模擬色盲計算過的：因為圖譜上任兩個節點都可能相鄰，我只用通過「任兩色比較」的 3 色，最小色差 9.2，高於門檻 8，第 4 個以後的專案歸為灰色「其他」。而且專案的顏色存在文獻庫裡，改名、刪除或篩選都不會換色。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個原則是：圖譜上每一種視覺變化都要對應到一種資訊。三種關係用線型區分，所以就算黑白列印也分得出來；線條粗細代表共同關鍵詞數量；選取的論文是整張圖唯一的深色塊，沒有關係的論文淡化。連線標籤只顯示和選取論文相連的線，避免整張圖都是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個原則用在總覽和閱讀器。第一是強調而不是全彩：按下「標示」後，關鍵詞圖只把目前這篇論文有的關鍵詞上青色，其他灰色。第二是排序就是建議：閱讀進度表把最需要處理的放最上面。第三是數字直接標在圖上，滑鼠提示只是補充。第四是字體分工：襯線字是內容、無襯線是介面、等寬字是數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期中版本完成後，我做了一輪可用性檢查。方法是讓 AI 代理扮演第一次使用的研究生、寫文獻回顧的博士生和用手機複習的人，在真的瀏覽器裡完成任務，同時量測效能；每個找到的問題，都再由另一個代理重現確認，所以這是模擬測試，不是真人受測。效能方面，開啟網站到看到內容大約 0.2 秒，一般操作都在 0.05 秒內，畫面也不會亂跳。可用性方面一共確認了 38 個問題，右邊是幾個例子：例如鍵盤原本沒辦法選段落來畫螢光，現在段落編號是按鈕；刪除論文以前不能復原，現在 8 秒內可以按「復原刪除」；中等寬度的螢幕，側欄原本會擠壓內容，現在改成浮在上面。這些都已經修正。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期中已完成四個工作區、專案工作區與推薦、免金鑰的內建翻譯、匯入輸出與同步，並做了一輪可用性檢查。期末想做成在自己電腦使用、像 Google 生態工具的 Chrome 插件。研究後發現現在的網站不能直接包成插件：執行環境需要 eval，pdf.js、OCR、Google 登入又都是從網路載入，這些在 Chrome 插件裡都被禁止。所以期末的主目標是收集器插件加可安裝網站：在任何網頁按一下就能把論文送進論憶，網站也能安裝成獨立視窗的 App，不必改寫整個網站。省下的時間會投入這門課的重點：視覺化與決策分析。完整的側邊欄插件需要先把網站改寫成 Vite 加 React，列為延伸目標。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以上是論憶的期中成果，謝謝大家。網站用 QR code 就能開，內建四篇示範論文，可以直接試用閱讀器、圖譜和總覽。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D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5852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447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論憶｜期刊論文記憶庫　·　期中報告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al"/>
          <p:cNvSpPr/>
          <p:nvPr/>
        </p:nvSpPr>
        <p:spPr>
          <a:xfrm>
            <a:off x="731520" y="868680"/>
            <a:ext cx="868680" cy="868680"/>
          </a:xfrm>
          <a:prstGeom prst="roundRect">
            <a:avLst>
              <a:gd name="adj" fmla="val 14737"/>
            </a:avLst>
          </a:prstGeom>
          <a:solidFill>
            <a:schemeClr val="accent6"/>
          </a:solidFill>
          <a:ln/>
        </p:spPr>
      </p:sp>
      <p:sp>
        <p:nvSpPr>
          <p:cNvPr id="3" name="seal-text"/>
          <p:cNvSpPr txBox="1"/>
          <p:nvPr/>
        </p:nvSpPr>
        <p:spPr>
          <a:xfrm>
            <a:off x="73152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論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574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論憶｜期刊論文記憶庫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474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讓讀過的外文論文，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AECB6"/>
                </a:highlight>
              </a:rPr>
              <a:t>看得懂、連得起、找得回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>
                    <a:alpha val="75000"/>
                  </a:schemeClr>
                </a:solidFill>
              </a:rPr>
              <a:t>設計者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46177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林永欽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200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>
                    <a:alpha val="75000"/>
                  </a:schemeClr>
                </a:solidFill>
              </a:rPr>
              <a:t>課程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50200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視覺化分析與決策應用設計（2026 秋）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4223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>
                    <a:alpha val="75000"/>
                  </a:schemeClr>
                </a:solidFill>
              </a:rPr>
              <a:t>報告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54223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期中報告</a:t>
            </a:r>
            <a:endParaRPr lang="en-US" sz="1600" dirty="0"/>
          </a:p>
        </p:txBody>
      </p:sp>
      <p:sp>
        <p:nvSpPr>
          <p:cNvPr id="12" name="cover-dashboard-frame"/>
          <p:cNvSpPr/>
          <p:nvPr/>
        </p:nvSpPr>
        <p:spPr>
          <a:xfrm>
            <a:off x="6903720" y="914400"/>
            <a:ext cx="4754880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3" name="cover-dashboard" descr="cover-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14400"/>
            <a:ext cx="4754880" cy="2971800"/>
          </a:xfrm>
          <a:prstGeom prst="rect">
            <a:avLst/>
          </a:prstGeom>
        </p:spPr>
      </p:pic>
      <p:sp>
        <p:nvSpPr>
          <p:cNvPr id="14" name="cover-graph-edge"/>
          <p:cNvSpPr/>
          <p:nvPr/>
        </p:nvSpPr>
        <p:spPr>
          <a:xfrm>
            <a:off x="7589520" y="3337560"/>
            <a:ext cx="4114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cover-graph-frame"/>
          <p:cNvSpPr/>
          <p:nvPr/>
        </p:nvSpPr>
        <p:spPr>
          <a:xfrm>
            <a:off x="7635240" y="3383280"/>
            <a:ext cx="4023360" cy="2514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cover-graph" descr="cover-grap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383280"/>
            <a:ext cx="4023360" cy="2514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0372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>
                    <a:alpha val="70000"/>
                  </a:schemeClr>
                </a:solidFill>
              </a:rPr>
              <a:t>journal-article-memory-tool.vercel.app/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平台目的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把「讀論文」變成能累積、能查詢的知識庫</a:t>
            </a:r>
            <a:endParaRPr lang="en-US" sz="3200" dirty="0"/>
          </a:p>
        </p:txBody>
      </p:sp>
      <p:sp>
        <p:nvSpPr>
          <p:cNvPr id="4" name="pain-0"/>
          <p:cNvSpPr/>
          <p:nvPr/>
        </p:nvSpPr>
        <p:spPr>
          <a:xfrm>
            <a:off x="548640" y="1600200"/>
            <a:ext cx="3547872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5" name="icon-LuLanguages-bg"/>
          <p:cNvSpPr/>
          <p:nvPr/>
        </p:nvSpPr>
        <p:spPr>
          <a:xfrm>
            <a:off x="822960" y="187452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Languages" descr="LuLangu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614" y="1987174"/>
            <a:ext cx="286756" cy="286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74520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讀不懂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外文論文術語密集，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逐句查字典打斷思路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29992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5661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論憶的做法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8620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匯入後逐段翻成繁中，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原文與中文對照閱讀，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專有名詞保留原文</a:t>
            </a:r>
            <a:endParaRPr lang="en-US" sz="1500" dirty="0"/>
          </a:p>
        </p:txBody>
      </p:sp>
      <p:sp>
        <p:nvSpPr>
          <p:cNvPr id="12" name="pain-1"/>
          <p:cNvSpPr/>
          <p:nvPr/>
        </p:nvSpPr>
        <p:spPr>
          <a:xfrm>
            <a:off x="4306824" y="1600200"/>
            <a:ext cx="3547872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13" name="icon-LuHighlighter-bg"/>
          <p:cNvSpPr/>
          <p:nvPr/>
        </p:nvSpPr>
        <p:spPr>
          <a:xfrm>
            <a:off x="4581144" y="187452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LuHighlighter" descr="LuHighligh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798" y="1987174"/>
            <a:ext cx="286756" cy="2867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21224" y="1874520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記不住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581144" y="256032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重點散在 PDF、筆記本和腦袋裡，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寫論文時找不回來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81144" y="3429000"/>
            <a:ext cx="29992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81144" y="35661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論憶的做法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81144" y="388620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螢光與段落筆記存在同一處，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用 AI 問答查整個文獻庫，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回答附上出處</a:t>
            </a:r>
            <a:endParaRPr lang="en-US" sz="1500" dirty="0"/>
          </a:p>
        </p:txBody>
      </p:sp>
      <p:sp>
        <p:nvSpPr>
          <p:cNvPr id="20" name="pain-2"/>
          <p:cNvSpPr/>
          <p:nvPr/>
        </p:nvSpPr>
        <p:spPr>
          <a:xfrm>
            <a:off x="8065008" y="1600200"/>
            <a:ext cx="3547872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21" name="icon-LuWaypoints-bg"/>
          <p:cNvSpPr/>
          <p:nvPr/>
        </p:nvSpPr>
        <p:spPr>
          <a:xfrm>
            <a:off x="8339328" y="187452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LuWaypoints" descr="LuWaypoi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982" y="1987174"/>
            <a:ext cx="286756" cy="28675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979408" y="1874520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連不起來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339328" y="256032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論文之間的引用與主題關係，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只能靠記憶拼湊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339328" y="3429000"/>
            <a:ext cx="29992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339328" y="35661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論憶的做法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339328" y="388620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自動比對共同關鍵詞與引用，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用關聯圖譜一次看清楚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目的：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highlight>
                  <a:srgbClr val="FAECB6"/>
                </a:highlight>
              </a:rPr>
              <a:t>讓研究生把時間花在理解與比較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，而不是查字典、翻舊檔案。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受眾與使用情境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為研究生與個人研究者設計</a:t>
            </a:r>
            <a:endParaRPr lang="en-US" sz="3200" dirty="0"/>
          </a:p>
        </p:txBody>
      </p:sp>
      <p:sp>
        <p:nvSpPr>
          <p:cNvPr id="4" name="persona"/>
          <p:cNvSpPr/>
          <p:nvPr/>
        </p:nvSpPr>
        <p:spPr>
          <a:xfrm>
            <a:off x="548640" y="1600200"/>
            <a:ext cx="4114800" cy="43434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5" name="icon-LuGraduationCap-bg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GraduationCap" descr="LuGraduation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0153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主要對象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碩博士研究生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346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每學期要讀數十篇外文論文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要整理文獻回顧、說清楚研究脈絡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在筆電讀 PDF，通勤時用手機複習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480560"/>
            <a:ext cx="35661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次要對象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個人研究者、跨領域讀者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情境 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1874520"/>
            <a:ext cx="6659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剛進實驗室，要讀懂領域經典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2276856"/>
            <a:ext cx="3962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上傳 PDF 自動翻譯，對照閱讀、邊讀邊畫螢光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500055" y="2313432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00055" y="23134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1a 閱讀器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983480" y="2953512"/>
            <a:ext cx="665957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8348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情境 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3337560"/>
            <a:ext cx="6659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寫文獻回顧，要理清論文脈絡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4983480" y="3739896"/>
            <a:ext cx="3962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從圖譜看誰引用誰、哪些論文用同一種方法，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再用總覽看主題分布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357055" y="3776472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57055" y="37764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1b 圖譜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500055" y="3776472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00055" y="37764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1d 總覽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83480" y="4416552"/>
            <a:ext cx="665957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98348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情境 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983480" y="4800600"/>
            <a:ext cx="6659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口試或報告前，要回想讀過的重點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4983480" y="5202936"/>
            <a:ext cx="3962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直接問文獻庫，回答附出處，點一下就回到原文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500055" y="5239512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500055" y="52395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1c 對話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983480" y="5760720"/>
            <a:ext cx="6659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1a–1d 是平台的四個工作區，下一頁說明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平台架構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一條資料流，四個工作區</a:t>
            </a:r>
            <a:endParaRPr lang="en-US" sz="3200" dirty="0"/>
          </a:p>
        </p:txBody>
      </p:sp>
      <p:sp>
        <p:nvSpPr>
          <p:cNvPr id="4" name="flow-0"/>
          <p:cNvSpPr/>
          <p:nvPr/>
        </p:nvSpPr>
        <p:spPr>
          <a:xfrm>
            <a:off x="548640" y="1572768"/>
            <a:ext cx="1984248" cy="205740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/>
        </p:spPr>
      </p:sp>
      <p:sp>
        <p:nvSpPr>
          <p:cNvPr id="5" name="icon-LuFileUp-bg"/>
          <p:cNvSpPr/>
          <p:nvPr/>
        </p:nvSpPr>
        <p:spPr>
          <a:xfrm>
            <a:off x="749808" y="17739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FileUp" descr="LuFile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745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8488" y="1773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步驟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5000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匯入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734056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PDF、掃描檔 OCR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雲端硬碟、貼上文字</a:t>
            </a:r>
            <a:endParaRPr lang="en-US" sz="1300" dirty="0"/>
          </a:p>
        </p:txBody>
      </p:sp>
      <p:pic>
        <p:nvPicPr>
          <p:cNvPr id="10" name="arrow-0" descr="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2491740"/>
            <a:ext cx="219456" cy="219456"/>
          </a:xfrm>
          <a:prstGeom prst="rect">
            <a:avLst/>
          </a:prstGeom>
        </p:spPr>
      </p:pic>
      <p:sp>
        <p:nvSpPr>
          <p:cNvPr id="11" name="flow-1"/>
          <p:cNvSpPr/>
          <p:nvPr/>
        </p:nvSpPr>
        <p:spPr>
          <a:xfrm>
            <a:off x="2825496" y="1572768"/>
            <a:ext cx="1984248" cy="205740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/>
        </p:spPr>
      </p:sp>
      <p:sp>
        <p:nvSpPr>
          <p:cNvPr id="12" name="icon-LuSparkles-bg"/>
          <p:cNvSpPr/>
          <p:nvPr/>
        </p:nvSpPr>
        <p:spPr>
          <a:xfrm>
            <a:off x="3026664" y="17739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LuSparkles" descr="Lu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87452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95344" y="1773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步驟 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026664" y="235000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辨識與翻譯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026664" y="2734056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辨識標題與關鍵詞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逐段翻成繁體中文</a:t>
            </a:r>
            <a:endParaRPr lang="en-US" sz="1300" dirty="0"/>
          </a:p>
        </p:txBody>
      </p:sp>
      <p:pic>
        <p:nvPicPr>
          <p:cNvPr id="17" name="arrow-1" descr="a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91740"/>
            <a:ext cx="219456" cy="219456"/>
          </a:xfrm>
          <a:prstGeom prst="rect">
            <a:avLst/>
          </a:prstGeom>
        </p:spPr>
      </p:pic>
      <p:sp>
        <p:nvSpPr>
          <p:cNvPr id="18" name="flow-2"/>
          <p:cNvSpPr/>
          <p:nvPr/>
        </p:nvSpPr>
        <p:spPr>
          <a:xfrm>
            <a:off x="5102352" y="1572768"/>
            <a:ext cx="1984248" cy="205740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/>
        </p:spPr>
      </p:sp>
      <p:sp>
        <p:nvSpPr>
          <p:cNvPr id="19" name="icon-LuLink-bg"/>
          <p:cNvSpPr/>
          <p:nvPr/>
        </p:nvSpPr>
        <p:spPr>
          <a:xfrm>
            <a:off x="5303520" y="17739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LuLink" descr="LuLin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8745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172200" y="1773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步驟 3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5303520" y="235000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自動串聯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303520" y="2734056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比對共同關鍵詞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與參考文獻</a:t>
            </a:r>
            <a:endParaRPr lang="en-US" sz="1300" dirty="0"/>
          </a:p>
        </p:txBody>
      </p:sp>
      <p:pic>
        <p:nvPicPr>
          <p:cNvPr id="24" name="arrow-2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2491740"/>
            <a:ext cx="219456" cy="219456"/>
          </a:xfrm>
          <a:prstGeom prst="rect">
            <a:avLst/>
          </a:prstGeom>
        </p:spPr>
      </p:pic>
      <p:sp>
        <p:nvSpPr>
          <p:cNvPr id="25" name="flow-3"/>
          <p:cNvSpPr/>
          <p:nvPr/>
        </p:nvSpPr>
        <p:spPr>
          <a:xfrm>
            <a:off x="7379208" y="1572768"/>
            <a:ext cx="1984248" cy="205740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/>
        </p:spPr>
      </p:sp>
      <p:sp>
        <p:nvSpPr>
          <p:cNvPr id="26" name="icon-LuPenLine-bg"/>
          <p:cNvSpPr/>
          <p:nvPr/>
        </p:nvSpPr>
        <p:spPr>
          <a:xfrm>
            <a:off x="7580376" y="17739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LuPenLine" descr="LuPenLi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87452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49056" y="1773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步驟 4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7580376" y="235000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閱讀與標記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7580376" y="2734056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螢光、段落筆記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手動串聯並寫理由</a:t>
            </a:r>
            <a:endParaRPr lang="en-US" sz="1300" dirty="0"/>
          </a:p>
        </p:txBody>
      </p:sp>
      <p:pic>
        <p:nvPicPr>
          <p:cNvPr id="31" name="arrow-3" descr="arro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2491740"/>
            <a:ext cx="219456" cy="219456"/>
          </a:xfrm>
          <a:prstGeom prst="rect">
            <a:avLst/>
          </a:prstGeom>
        </p:spPr>
      </p:pic>
      <p:sp>
        <p:nvSpPr>
          <p:cNvPr id="32" name="flow-4"/>
          <p:cNvSpPr/>
          <p:nvPr/>
        </p:nvSpPr>
        <p:spPr>
          <a:xfrm>
            <a:off x="9656064" y="1572768"/>
            <a:ext cx="1984248" cy="205740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/>
        </p:spPr>
      </p:sp>
      <p:sp>
        <p:nvSpPr>
          <p:cNvPr id="33" name="icon-LuChartColumn-bg"/>
          <p:cNvSpPr/>
          <p:nvPr/>
        </p:nvSpPr>
        <p:spPr>
          <a:xfrm>
            <a:off x="9857232" y="17739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-LuChartColumn" descr="LuChartColum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7816" y="1874520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725912" y="1773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步驟 5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9857232" y="235000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查閱與決策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9857232" y="2734056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圖譜、問答、總覽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決定下一步讀什麼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548640" y="3675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四個工作區</a:t>
            </a:r>
            <a:endParaRPr lang="en-US" sz="1200" dirty="0"/>
          </a:p>
        </p:txBody>
      </p:sp>
      <p:sp>
        <p:nvSpPr>
          <p:cNvPr id="39" name="thumb-1a-frame"/>
          <p:cNvSpPr/>
          <p:nvPr/>
        </p:nvSpPr>
        <p:spPr>
          <a:xfrm>
            <a:off x="548640" y="4005072"/>
            <a:ext cx="2606040" cy="1628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0" name="thumb-1a" descr="thumb-1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005072"/>
            <a:ext cx="2606040" cy="162877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548640" y="5725287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1a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閱讀器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　對照閱讀與標記</a:t>
            </a:r>
            <a:endParaRPr lang="en-US" sz="1400" dirty="0"/>
          </a:p>
        </p:txBody>
      </p:sp>
      <p:sp>
        <p:nvSpPr>
          <p:cNvPr id="42" name="thumb-1b-frame"/>
          <p:cNvSpPr/>
          <p:nvPr/>
        </p:nvSpPr>
        <p:spPr>
          <a:xfrm>
            <a:off x="3378098" y="4005072"/>
            <a:ext cx="2606040" cy="1628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3" name="thumb-1b" descr="thumb-1b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8098" y="4005072"/>
            <a:ext cx="2606040" cy="1628775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3378098" y="5725287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1b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關聯圖譜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　看論文之間的關係</a:t>
            </a:r>
            <a:endParaRPr lang="en-US" sz="1400" dirty="0"/>
          </a:p>
        </p:txBody>
      </p:sp>
      <p:sp>
        <p:nvSpPr>
          <p:cNvPr id="45" name="thumb-1c-frame"/>
          <p:cNvSpPr/>
          <p:nvPr/>
        </p:nvSpPr>
        <p:spPr>
          <a:xfrm>
            <a:off x="6207557" y="4005072"/>
            <a:ext cx="2606040" cy="1628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6" name="thumb-1c" descr="thumb-1c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7557" y="4005072"/>
            <a:ext cx="2606040" cy="1628775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207557" y="5725287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1c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對話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　問整個文獻庫</a:t>
            </a:r>
            <a:endParaRPr lang="en-US" sz="1400" dirty="0"/>
          </a:p>
        </p:txBody>
      </p:sp>
      <p:sp>
        <p:nvSpPr>
          <p:cNvPr id="48" name="thumb-1d-frame"/>
          <p:cNvSpPr/>
          <p:nvPr/>
        </p:nvSpPr>
        <p:spPr>
          <a:xfrm>
            <a:off x="9037015" y="4005072"/>
            <a:ext cx="2606040" cy="1628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9" name="thumb-1d" descr="thumb-1d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7015" y="4005072"/>
            <a:ext cx="2606040" cy="1628775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9037015" y="5725287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1d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總覽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　數字與圖表看全局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功能 1a　閱讀器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原文與中文並排，重點直接標在段落上</a:t>
            </a:r>
            <a:endParaRPr lang="en-US" sz="3200" dirty="0"/>
          </a:p>
        </p:txBody>
      </p:sp>
      <p:sp>
        <p:nvSpPr>
          <p:cNvPr id="4" name="reader.png-frame"/>
          <p:cNvSpPr/>
          <p:nvPr/>
        </p:nvSpPr>
        <p:spPr>
          <a:xfrm>
            <a:off x="548640" y="1572768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reader.png" descr="r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949440" cy="4343400"/>
          </a:xfrm>
          <a:prstGeom prst="rect">
            <a:avLst/>
          </a:prstGeom>
        </p:spPr>
      </p:pic>
      <p:sp>
        <p:nvSpPr>
          <p:cNvPr id="6" name="marker-1"/>
          <p:cNvSpPr/>
          <p:nvPr/>
        </p:nvSpPr>
        <p:spPr>
          <a:xfrm>
            <a:off x="1630680" y="266001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marker-1-text"/>
          <p:cNvSpPr txBox="1"/>
          <p:nvPr/>
        </p:nvSpPr>
        <p:spPr>
          <a:xfrm>
            <a:off x="1630680" y="26600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marker-2"/>
          <p:cNvSpPr/>
          <p:nvPr/>
        </p:nvSpPr>
        <p:spPr>
          <a:xfrm>
            <a:off x="1790700" y="467389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marker-2-text"/>
          <p:cNvSpPr txBox="1"/>
          <p:nvPr/>
        </p:nvSpPr>
        <p:spPr>
          <a:xfrm>
            <a:off x="1790700" y="4673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marker-3"/>
          <p:cNvSpPr/>
          <p:nvPr/>
        </p:nvSpPr>
        <p:spPr>
          <a:xfrm>
            <a:off x="5583174" y="198437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5583174" y="19843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marker-4"/>
          <p:cNvSpPr/>
          <p:nvPr/>
        </p:nvSpPr>
        <p:spPr>
          <a:xfrm>
            <a:off x="3386669" y="240766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arker-4-text"/>
          <p:cNvSpPr txBox="1"/>
          <p:nvPr/>
        </p:nvSpPr>
        <p:spPr>
          <a:xfrm>
            <a:off x="3386669" y="24076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marker-1"/>
          <p:cNvSpPr/>
          <p:nvPr/>
        </p:nvSpPr>
        <p:spPr>
          <a:xfrm>
            <a:off x="7818120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marker-1-text"/>
          <p:cNvSpPr txBox="1"/>
          <p:nvPr/>
        </p:nvSpPr>
        <p:spPr>
          <a:xfrm>
            <a:off x="781812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57032" y="1572768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三種閱讀模式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57032" y="1938528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對照、原文、中文一鍵切換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原文襯線字、中文無襯線字</a:t>
            </a:r>
            <a:endParaRPr lang="en-US" sz="1400" dirty="0"/>
          </a:p>
        </p:txBody>
      </p:sp>
      <p:sp>
        <p:nvSpPr>
          <p:cNvPr id="18" name="marker-2"/>
          <p:cNvSpPr/>
          <p:nvPr/>
        </p:nvSpPr>
        <p:spPr>
          <a:xfrm>
            <a:off x="7818120" y="275234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marker-2-text"/>
          <p:cNvSpPr txBox="1"/>
          <p:nvPr/>
        </p:nvSpPr>
        <p:spPr>
          <a:xfrm>
            <a:off x="781812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57032" y="2743200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點段落就能標記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57032" y="3108960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黃藍兩色螢光、加筆記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或只重新翻譯這一段</a:t>
            </a:r>
            <a:endParaRPr lang="en-US" sz="1400" dirty="0"/>
          </a:p>
        </p:txBody>
      </p:sp>
      <p:sp>
        <p:nvSpPr>
          <p:cNvPr id="22" name="marker-3"/>
          <p:cNvSpPr/>
          <p:nvPr/>
        </p:nvSpPr>
        <p:spPr>
          <a:xfrm>
            <a:off x="7818120" y="392277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marker-3-text"/>
          <p:cNvSpPr txBox="1"/>
          <p:nvPr/>
        </p:nvSpPr>
        <p:spPr>
          <a:xfrm>
            <a:off x="781812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3913632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右側串聯面板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4279392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列出引用了、被引用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以及共用關鍵詞的相關論文</a:t>
            </a:r>
            <a:endParaRPr lang="en-US" sz="1400" dirty="0"/>
          </a:p>
        </p:txBody>
      </p:sp>
      <p:sp>
        <p:nvSpPr>
          <p:cNvPr id="26" name="marker-4"/>
          <p:cNvSpPr/>
          <p:nvPr/>
        </p:nvSpPr>
        <p:spPr>
          <a:xfrm>
            <a:off x="7818120" y="509320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marker-4-text"/>
          <p:cNvSpPr txBox="1"/>
          <p:nvPr/>
        </p:nvSpPr>
        <p:spPr>
          <a:xfrm>
            <a:off x="781812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57032" y="5084064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引用與匯出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57032" y="5449824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一鍵複製 APA、BibTeX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登入 Google 可匯出文件、排入日曆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功能 1b　關聯圖譜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誰引用誰、誰和誰同主題，一張圖看清</a:t>
            </a:r>
            <a:endParaRPr lang="en-US" sz="3200" dirty="0"/>
          </a:p>
        </p:txBody>
      </p:sp>
      <p:sp>
        <p:nvSpPr>
          <p:cNvPr id="4" name="graph.png-frame"/>
          <p:cNvSpPr/>
          <p:nvPr/>
        </p:nvSpPr>
        <p:spPr>
          <a:xfrm>
            <a:off x="548640" y="1572768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graph.png" descr="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949440" cy="4343400"/>
          </a:xfrm>
          <a:prstGeom prst="rect">
            <a:avLst/>
          </a:prstGeom>
        </p:spPr>
      </p:pic>
      <p:sp>
        <p:nvSpPr>
          <p:cNvPr id="6" name="marker-1"/>
          <p:cNvSpPr/>
          <p:nvPr/>
        </p:nvSpPr>
        <p:spPr>
          <a:xfrm>
            <a:off x="3822446" y="179616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marker-1-text"/>
          <p:cNvSpPr txBox="1"/>
          <p:nvPr/>
        </p:nvSpPr>
        <p:spPr>
          <a:xfrm>
            <a:off x="3822446" y="17961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marker-2"/>
          <p:cNvSpPr/>
          <p:nvPr/>
        </p:nvSpPr>
        <p:spPr>
          <a:xfrm>
            <a:off x="2788920" y="521440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marker-2-text"/>
          <p:cNvSpPr txBox="1"/>
          <p:nvPr/>
        </p:nvSpPr>
        <p:spPr>
          <a:xfrm>
            <a:off x="2788920" y="52144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marker-3"/>
          <p:cNvSpPr/>
          <p:nvPr/>
        </p:nvSpPr>
        <p:spPr>
          <a:xfrm>
            <a:off x="2948178" y="353321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2948178" y="35332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marker-4"/>
          <p:cNvSpPr/>
          <p:nvPr/>
        </p:nvSpPr>
        <p:spPr>
          <a:xfrm>
            <a:off x="4654550" y="204851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arker-4-text"/>
          <p:cNvSpPr txBox="1"/>
          <p:nvPr/>
        </p:nvSpPr>
        <p:spPr>
          <a:xfrm>
            <a:off x="4654550" y="20485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marker-1"/>
          <p:cNvSpPr/>
          <p:nvPr/>
        </p:nvSpPr>
        <p:spPr>
          <a:xfrm>
            <a:off x="7818120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marker-1-text"/>
          <p:cNvSpPr txBox="1"/>
          <p:nvPr/>
        </p:nvSpPr>
        <p:spPr>
          <a:xfrm>
            <a:off x="781812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57032" y="1572768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三種關係可分別開關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57032" y="1938528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共同關鍵詞（實線）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引用（點線）、手動串聯（虛線）</a:t>
            </a:r>
            <a:endParaRPr lang="en-US" sz="1400" dirty="0"/>
          </a:p>
        </p:txBody>
      </p:sp>
      <p:sp>
        <p:nvSpPr>
          <p:cNvPr id="18" name="marker-2"/>
          <p:cNvSpPr/>
          <p:nvPr/>
        </p:nvSpPr>
        <p:spPr>
          <a:xfrm>
            <a:off x="7818120" y="275234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marker-2-text"/>
          <p:cNvSpPr txBox="1"/>
          <p:nvPr/>
        </p:nvSpPr>
        <p:spPr>
          <a:xfrm>
            <a:off x="781812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57032" y="2743200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焦點與脈絡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57032" y="3108960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選取的論文變深色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沒有關係的論文自動淡化</a:t>
            </a:r>
            <a:endParaRPr lang="en-US" sz="1400" dirty="0"/>
          </a:p>
        </p:txBody>
      </p:sp>
      <p:sp>
        <p:nvSpPr>
          <p:cNvPr id="22" name="marker-3"/>
          <p:cNvSpPr/>
          <p:nvPr/>
        </p:nvSpPr>
        <p:spPr>
          <a:xfrm>
            <a:off x="7818120" y="392277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marker-3-text"/>
          <p:cNvSpPr txBox="1"/>
          <p:nvPr/>
        </p:nvSpPr>
        <p:spPr>
          <a:xfrm>
            <a:off x="781812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3913632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連線本身帶資訊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4279392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線越粗，共同關鍵詞越多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連線上標出引用方向與理由</a:t>
            </a:r>
            <a:endParaRPr lang="en-US" sz="1400" dirty="0"/>
          </a:p>
        </p:txBody>
      </p:sp>
      <p:sp>
        <p:nvSpPr>
          <p:cNvPr id="26" name="marker-4"/>
          <p:cNvSpPr/>
          <p:nvPr/>
        </p:nvSpPr>
        <p:spPr>
          <a:xfrm>
            <a:off x="7818120" y="509320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marker-4-text"/>
          <p:cNvSpPr txBox="1"/>
          <p:nvPr/>
        </p:nvSpPr>
        <p:spPr>
          <a:xfrm>
            <a:off x="781812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57032" y="5084064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只看目前的專案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57032" y="5449824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選了專案就只畫這個專案的論文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色條代表專案，和側欄、總覽一致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功能 1c　AI 對話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問整個文獻庫，回答附上出處</a:t>
            </a:r>
            <a:endParaRPr lang="en-US" sz="3200" dirty="0"/>
          </a:p>
        </p:txBody>
      </p:sp>
      <p:sp>
        <p:nvSpPr>
          <p:cNvPr id="4" name="chat.png-frame"/>
          <p:cNvSpPr/>
          <p:nvPr/>
        </p:nvSpPr>
        <p:spPr>
          <a:xfrm>
            <a:off x="548640" y="1572768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chat.png" descr="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949440" cy="4343400"/>
          </a:xfrm>
          <a:prstGeom prst="rect">
            <a:avLst/>
          </a:prstGeom>
        </p:spPr>
      </p:pic>
      <p:sp>
        <p:nvSpPr>
          <p:cNvPr id="6" name="marker-1"/>
          <p:cNvSpPr/>
          <p:nvPr/>
        </p:nvSpPr>
        <p:spPr>
          <a:xfrm>
            <a:off x="3670687" y="212376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marker-1-text"/>
          <p:cNvSpPr txBox="1"/>
          <p:nvPr/>
        </p:nvSpPr>
        <p:spPr>
          <a:xfrm>
            <a:off x="3670687" y="21237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marker-2"/>
          <p:cNvSpPr/>
          <p:nvPr/>
        </p:nvSpPr>
        <p:spPr>
          <a:xfrm>
            <a:off x="5409438" y="177444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marker-2-text"/>
          <p:cNvSpPr txBox="1"/>
          <p:nvPr/>
        </p:nvSpPr>
        <p:spPr>
          <a:xfrm>
            <a:off x="5409438" y="17744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marker-3"/>
          <p:cNvSpPr/>
          <p:nvPr/>
        </p:nvSpPr>
        <p:spPr>
          <a:xfrm>
            <a:off x="5361940" y="248390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5361940" y="248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marker-4"/>
          <p:cNvSpPr/>
          <p:nvPr/>
        </p:nvSpPr>
        <p:spPr>
          <a:xfrm>
            <a:off x="1795526" y="191191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arker-4-text"/>
          <p:cNvSpPr txBox="1"/>
          <p:nvPr/>
        </p:nvSpPr>
        <p:spPr>
          <a:xfrm>
            <a:off x="1795526" y="1911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marker-1"/>
          <p:cNvSpPr/>
          <p:nvPr/>
        </p:nvSpPr>
        <p:spPr>
          <a:xfrm>
            <a:off x="7818120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marker-1-text"/>
          <p:cNvSpPr txBox="1"/>
          <p:nvPr/>
        </p:nvSpPr>
        <p:spPr>
          <a:xfrm>
            <a:off x="781812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57032" y="1572768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出處標籤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57032" y="1938528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句末標出論文（如 He 2016）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點一下，右側就顯示原文</a:t>
            </a:r>
            <a:endParaRPr lang="en-US" sz="1400" dirty="0"/>
          </a:p>
        </p:txBody>
      </p:sp>
      <p:sp>
        <p:nvSpPr>
          <p:cNvPr id="18" name="marker-2"/>
          <p:cNvSpPr/>
          <p:nvPr/>
        </p:nvSpPr>
        <p:spPr>
          <a:xfrm>
            <a:off x="7818120" y="275234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marker-2-text"/>
          <p:cNvSpPr txBox="1"/>
          <p:nvPr/>
        </p:nvSpPr>
        <p:spPr>
          <a:xfrm>
            <a:off x="781812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57032" y="2743200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來源原文面板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57032" y="3108960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中文、原文與你的螢光、筆記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並列在一起，方便查證</a:t>
            </a:r>
            <a:endParaRPr lang="en-US" sz="1400" dirty="0"/>
          </a:p>
        </p:txBody>
      </p:sp>
      <p:sp>
        <p:nvSpPr>
          <p:cNvPr id="22" name="marker-3"/>
          <p:cNvSpPr/>
          <p:nvPr/>
        </p:nvSpPr>
        <p:spPr>
          <a:xfrm>
            <a:off x="7818120" y="392277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marker-3-text"/>
          <p:cNvSpPr txBox="1"/>
          <p:nvPr/>
        </p:nvSpPr>
        <p:spPr>
          <a:xfrm>
            <a:off x="781812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3913632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只根據你的文獻庫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4279392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也參考筆記、螢光與手動串聯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資料不足時會直說</a:t>
            </a:r>
            <a:endParaRPr lang="en-US" sz="1400" dirty="0"/>
          </a:p>
        </p:txBody>
      </p:sp>
      <p:sp>
        <p:nvSpPr>
          <p:cNvPr id="26" name="marker-4"/>
          <p:cNvSpPr/>
          <p:nvPr/>
        </p:nvSpPr>
        <p:spPr>
          <a:xfrm>
            <a:off x="7818120" y="509320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marker-4-text"/>
          <p:cNvSpPr txBox="1"/>
          <p:nvPr/>
        </p:nvSpPr>
        <p:spPr>
          <a:xfrm>
            <a:off x="781812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57032" y="5084064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用自己的 AI 金鑰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57032" y="5449824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「設定 → 進階」貼 Gemini 或 Claude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金鑰只存在自己的瀏覽器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功能 1d　文獻庫總覽（期中新增）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用數字與圖表決定下一步讀什麼</a:t>
            </a:r>
            <a:endParaRPr lang="en-US" sz="3200" dirty="0"/>
          </a:p>
        </p:txBody>
      </p:sp>
      <p:sp>
        <p:nvSpPr>
          <p:cNvPr id="4" name="dash.png-frame"/>
          <p:cNvSpPr/>
          <p:nvPr/>
        </p:nvSpPr>
        <p:spPr>
          <a:xfrm>
            <a:off x="548640" y="1572768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dash.png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949440" cy="4343400"/>
          </a:xfrm>
          <a:prstGeom prst="rect">
            <a:avLst/>
          </a:prstGeom>
        </p:spPr>
      </p:pic>
      <p:sp>
        <p:nvSpPr>
          <p:cNvPr id="6" name="marker-1"/>
          <p:cNvSpPr/>
          <p:nvPr/>
        </p:nvSpPr>
        <p:spPr>
          <a:xfrm>
            <a:off x="1572768" y="224471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marker-1-text"/>
          <p:cNvSpPr txBox="1"/>
          <p:nvPr/>
        </p:nvSpPr>
        <p:spPr>
          <a:xfrm>
            <a:off x="1572768" y="2244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marker-2"/>
          <p:cNvSpPr/>
          <p:nvPr/>
        </p:nvSpPr>
        <p:spPr>
          <a:xfrm>
            <a:off x="1572768" y="280515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marker-2-text"/>
          <p:cNvSpPr txBox="1"/>
          <p:nvPr/>
        </p:nvSpPr>
        <p:spPr>
          <a:xfrm>
            <a:off x="1572768" y="28051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marker-3"/>
          <p:cNvSpPr/>
          <p:nvPr/>
        </p:nvSpPr>
        <p:spPr>
          <a:xfrm>
            <a:off x="4309110" y="280515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4309110" y="28051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marker-4"/>
          <p:cNvSpPr/>
          <p:nvPr/>
        </p:nvSpPr>
        <p:spPr>
          <a:xfrm>
            <a:off x="1572768" y="404543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arker-4-text"/>
          <p:cNvSpPr txBox="1"/>
          <p:nvPr/>
        </p:nvSpPr>
        <p:spPr>
          <a:xfrm>
            <a:off x="1572768" y="40454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marker-5"/>
          <p:cNvSpPr/>
          <p:nvPr/>
        </p:nvSpPr>
        <p:spPr>
          <a:xfrm>
            <a:off x="4309110" y="404543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marker-5-text"/>
          <p:cNvSpPr txBox="1"/>
          <p:nvPr/>
        </p:nvSpPr>
        <p:spPr>
          <a:xfrm>
            <a:off x="4309110" y="40454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marker-1"/>
          <p:cNvSpPr/>
          <p:nvPr/>
        </p:nvSpPr>
        <p:spPr>
          <a:xfrm>
            <a:off x="7818120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marker-1-text"/>
          <p:cNvSpPr txBox="1"/>
          <p:nvPr/>
        </p:nvSpPr>
        <p:spPr>
          <a:xfrm>
            <a:off x="781812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57032" y="1572768"/>
            <a:ext cx="33860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五個關鍵數字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257032" y="1920240"/>
            <a:ext cx="338602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篇數、翻譯進度、螢光、筆記、串聯</a:t>
            </a:r>
            <a:endParaRPr lang="en-US" sz="1400" dirty="0"/>
          </a:p>
        </p:txBody>
      </p:sp>
      <p:sp>
        <p:nvSpPr>
          <p:cNvPr id="20" name="marker-2"/>
          <p:cNvSpPr/>
          <p:nvPr/>
        </p:nvSpPr>
        <p:spPr>
          <a:xfrm>
            <a:off x="7818120" y="235915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marker-2-text"/>
          <p:cNvSpPr txBox="1"/>
          <p:nvPr/>
        </p:nvSpPr>
        <p:spPr>
          <a:xfrm>
            <a:off x="781812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57032" y="2350008"/>
            <a:ext cx="33860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出版年份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57032" y="2697480"/>
            <a:ext cx="338602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文獻集中在哪幾年、缺了哪段時期</a:t>
            </a:r>
            <a:endParaRPr lang="en-US" sz="1400" dirty="0"/>
          </a:p>
        </p:txBody>
      </p:sp>
      <p:sp>
        <p:nvSpPr>
          <p:cNvPr id="24" name="marker-3"/>
          <p:cNvSpPr/>
          <p:nvPr/>
        </p:nvSpPr>
        <p:spPr>
          <a:xfrm>
            <a:off x="7818120" y="3136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marker-3-text"/>
          <p:cNvSpPr txBox="1"/>
          <p:nvPr/>
        </p:nvSpPr>
        <p:spPr>
          <a:xfrm>
            <a:off x="781812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257032" y="3127248"/>
            <a:ext cx="33860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專案組成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257032" y="3474720"/>
            <a:ext cx="33860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各專案占比與翻譯進度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點色塊即可篩選</a:t>
            </a:r>
            <a:endParaRPr lang="en-US" sz="1400" dirty="0"/>
          </a:p>
        </p:txBody>
      </p:sp>
      <p:sp>
        <p:nvSpPr>
          <p:cNvPr id="28" name="marker-4"/>
          <p:cNvSpPr/>
          <p:nvPr/>
        </p:nvSpPr>
        <p:spPr>
          <a:xfrm>
            <a:off x="7818120" y="416052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marker-4-text"/>
          <p:cNvSpPr txBox="1"/>
          <p:nvPr/>
        </p:nvSpPr>
        <p:spPr>
          <a:xfrm>
            <a:off x="781812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257032" y="4151376"/>
            <a:ext cx="33860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熱門關鍵詞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257032" y="4498848"/>
            <a:ext cx="33860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點選只看含這個關鍵詞的論文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可標示目前論文有的關鍵詞</a:t>
            </a:r>
            <a:endParaRPr lang="en-US" sz="1400" dirty="0"/>
          </a:p>
        </p:txBody>
      </p:sp>
      <p:sp>
        <p:nvSpPr>
          <p:cNvPr id="32" name="marker-5"/>
          <p:cNvSpPr/>
          <p:nvPr/>
        </p:nvSpPr>
        <p:spPr>
          <a:xfrm>
            <a:off x="7818120" y="518464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marker-5-text"/>
          <p:cNvSpPr txBox="1"/>
          <p:nvPr/>
        </p:nvSpPr>
        <p:spPr>
          <a:xfrm>
            <a:off x="7818120" y="5184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257032" y="5175504"/>
            <a:ext cx="33860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閱讀進度表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257032" y="5522976"/>
            <a:ext cx="33860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翻譯最少的排最上面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直接看出先處理哪篇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專案工作區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開新的研究方向，就開一個乾淨的專案</a:t>
            </a:r>
            <a:endParaRPr lang="en-US" sz="3200" dirty="0"/>
          </a:p>
        </p:txBody>
      </p:sp>
      <p:sp>
        <p:nvSpPr>
          <p:cNvPr id="4" name="project.png-frame"/>
          <p:cNvSpPr/>
          <p:nvPr/>
        </p:nvSpPr>
        <p:spPr>
          <a:xfrm>
            <a:off x="548640" y="1572768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project.png" descr="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949440" cy="4343400"/>
          </a:xfrm>
          <a:prstGeom prst="rect">
            <a:avLst/>
          </a:prstGeom>
        </p:spPr>
      </p:pic>
      <p:sp>
        <p:nvSpPr>
          <p:cNvPr id="6" name="marker-1"/>
          <p:cNvSpPr/>
          <p:nvPr/>
        </p:nvSpPr>
        <p:spPr>
          <a:xfrm>
            <a:off x="6306227" y="226991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marker-1-text"/>
          <p:cNvSpPr txBox="1"/>
          <p:nvPr/>
        </p:nvSpPr>
        <p:spPr>
          <a:xfrm>
            <a:off x="6306227" y="22699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marker-2"/>
          <p:cNvSpPr/>
          <p:nvPr/>
        </p:nvSpPr>
        <p:spPr>
          <a:xfrm>
            <a:off x="6306227" y="290005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marker-2-text"/>
          <p:cNvSpPr txBox="1"/>
          <p:nvPr/>
        </p:nvSpPr>
        <p:spPr>
          <a:xfrm>
            <a:off x="6306227" y="29000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marker-3"/>
          <p:cNvSpPr/>
          <p:nvPr/>
        </p:nvSpPr>
        <p:spPr>
          <a:xfrm>
            <a:off x="2459143" y="395210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2459143" y="39521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marker-4"/>
          <p:cNvSpPr/>
          <p:nvPr/>
        </p:nvSpPr>
        <p:spPr>
          <a:xfrm>
            <a:off x="2459143" y="469145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arker-4-text"/>
          <p:cNvSpPr txBox="1"/>
          <p:nvPr/>
        </p:nvSpPr>
        <p:spPr>
          <a:xfrm>
            <a:off x="2459143" y="46914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marker-1"/>
          <p:cNvSpPr/>
          <p:nvPr/>
        </p:nvSpPr>
        <p:spPr>
          <a:xfrm>
            <a:off x="7818120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marker-1-text"/>
          <p:cNvSpPr txBox="1"/>
          <p:nvPr/>
        </p:nvSpPr>
        <p:spPr>
          <a:xfrm>
            <a:off x="781812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57032" y="1572768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研究方向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57032" y="1938528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建立專案時順便填幾個關鍵詞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之後隨時可以改</a:t>
            </a:r>
            <a:endParaRPr lang="en-US" sz="1400" dirty="0"/>
          </a:p>
        </p:txBody>
      </p:sp>
      <p:sp>
        <p:nvSpPr>
          <p:cNvPr id="18" name="marker-2"/>
          <p:cNvSpPr/>
          <p:nvPr/>
        </p:nvSpPr>
        <p:spPr>
          <a:xfrm>
            <a:off x="7818120" y="275234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marker-2-text"/>
          <p:cNvSpPr txBox="1"/>
          <p:nvPr/>
        </p:nvSpPr>
        <p:spPr>
          <a:xfrm>
            <a:off x="781812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57032" y="2743200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這個專案的論文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57032" y="3108960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同一篇可以放進好幾個專案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移出不會刪掉論文</a:t>
            </a:r>
            <a:endParaRPr lang="en-US" sz="1400" dirty="0"/>
          </a:p>
        </p:txBody>
      </p:sp>
      <p:sp>
        <p:nvSpPr>
          <p:cNvPr id="22" name="marker-3"/>
          <p:cNvSpPr/>
          <p:nvPr/>
        </p:nvSpPr>
        <p:spPr>
          <a:xfrm>
            <a:off x="7818120" y="392277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marker-3-text"/>
          <p:cNvSpPr txBox="1"/>
          <p:nvPr/>
        </p:nvSpPr>
        <p:spPr>
          <a:xfrm>
            <a:off x="781812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3913632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從全部論文推薦（最多 3 篇）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4279392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依研究方向、關鍵詞與引用排序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每篇都寫出推薦原因</a:t>
            </a:r>
            <a:endParaRPr lang="en-US" sz="1400" dirty="0"/>
          </a:p>
        </p:txBody>
      </p:sp>
      <p:sp>
        <p:nvSpPr>
          <p:cNvPr id="26" name="marker-4"/>
          <p:cNvSpPr/>
          <p:nvPr/>
        </p:nvSpPr>
        <p:spPr>
          <a:xfrm>
            <a:off x="7818120" y="509320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marker-4-text"/>
          <p:cNvSpPr txBox="1"/>
          <p:nvPr/>
        </p:nvSpPr>
        <p:spPr>
          <a:xfrm>
            <a:off x="781812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57032" y="5084064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推薦串聯與找新文獻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57032" y="5449824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建議可以串聯的論文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一鍵到 Google 學術找新文獻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介面與翻譯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所有操作集中在側欄，不用金鑰也能翻譯</a:t>
            </a:r>
            <a:endParaRPr lang="en-US" sz="3200" dirty="0"/>
          </a:p>
        </p:txBody>
      </p:sp>
      <p:sp>
        <p:nvSpPr>
          <p:cNvPr id="4" name="shell.png-frame"/>
          <p:cNvSpPr/>
          <p:nvPr/>
        </p:nvSpPr>
        <p:spPr>
          <a:xfrm>
            <a:off x="548640" y="1572768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shell.png" descr="s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949440" cy="4343400"/>
          </a:xfrm>
          <a:prstGeom prst="rect">
            <a:avLst/>
          </a:prstGeom>
        </p:spPr>
      </p:pic>
      <p:sp>
        <p:nvSpPr>
          <p:cNvPr id="6" name="marker-1"/>
          <p:cNvSpPr/>
          <p:nvPr/>
        </p:nvSpPr>
        <p:spPr>
          <a:xfrm>
            <a:off x="221488" y="165709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marker-1-text"/>
          <p:cNvSpPr txBox="1"/>
          <p:nvPr/>
        </p:nvSpPr>
        <p:spPr>
          <a:xfrm>
            <a:off x="221488" y="165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marker-2"/>
          <p:cNvSpPr/>
          <p:nvPr/>
        </p:nvSpPr>
        <p:spPr>
          <a:xfrm>
            <a:off x="1628501" y="323423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marker-2-text"/>
          <p:cNvSpPr txBox="1"/>
          <p:nvPr/>
        </p:nvSpPr>
        <p:spPr>
          <a:xfrm>
            <a:off x="1628501" y="32342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marker-3"/>
          <p:cNvSpPr/>
          <p:nvPr/>
        </p:nvSpPr>
        <p:spPr>
          <a:xfrm>
            <a:off x="4319524" y="3710877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4319524" y="37108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marker-4"/>
          <p:cNvSpPr/>
          <p:nvPr/>
        </p:nvSpPr>
        <p:spPr>
          <a:xfrm>
            <a:off x="6244463" y="152107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arker-4-text"/>
          <p:cNvSpPr txBox="1"/>
          <p:nvPr/>
        </p:nvSpPr>
        <p:spPr>
          <a:xfrm>
            <a:off x="6244463" y="15210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marker-1"/>
          <p:cNvSpPr/>
          <p:nvPr/>
        </p:nvSpPr>
        <p:spPr>
          <a:xfrm>
            <a:off x="7818120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marker-1-text"/>
          <p:cNvSpPr txBox="1"/>
          <p:nvPr/>
        </p:nvSpPr>
        <p:spPr>
          <a:xfrm>
            <a:off x="781812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57032" y="1572768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帳號與設定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57032" y="1938528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左上頭像登入 Google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設定、新增論文都在側欄</a:t>
            </a:r>
            <a:endParaRPr lang="en-US" sz="1400" dirty="0"/>
          </a:p>
        </p:txBody>
      </p:sp>
      <p:sp>
        <p:nvSpPr>
          <p:cNvPr id="18" name="marker-2"/>
          <p:cNvSpPr/>
          <p:nvPr/>
        </p:nvSpPr>
        <p:spPr>
          <a:xfrm>
            <a:off x="7818120" y="275234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marker-2-text"/>
          <p:cNvSpPr txBox="1"/>
          <p:nvPr/>
        </p:nvSpPr>
        <p:spPr>
          <a:xfrm>
            <a:off x="781812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57032" y="2743200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全部論文與專案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57032" y="3108960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論文都在全部論文，專案從中挑選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同一篇可以放進好幾個專案</a:t>
            </a:r>
            <a:endParaRPr lang="en-US" sz="1400" dirty="0"/>
          </a:p>
        </p:txBody>
      </p:sp>
      <p:sp>
        <p:nvSpPr>
          <p:cNvPr id="22" name="marker-3"/>
          <p:cNvSpPr/>
          <p:nvPr/>
        </p:nvSpPr>
        <p:spPr>
          <a:xfrm>
            <a:off x="7818120" y="392277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marker-3-text"/>
          <p:cNvSpPr txBox="1"/>
          <p:nvPr/>
        </p:nvSpPr>
        <p:spPr>
          <a:xfrm>
            <a:off x="781812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3913632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免金鑰翻譯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4279392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瀏覽器內建翻譯，免費、在本機執行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段落標「內建翻譯」，可改用 AI</a:t>
            </a:r>
            <a:endParaRPr lang="en-US" sz="1400" dirty="0"/>
          </a:p>
        </p:txBody>
      </p:sp>
      <p:sp>
        <p:nvSpPr>
          <p:cNvPr id="26" name="marker-4"/>
          <p:cNvSpPr/>
          <p:nvPr/>
        </p:nvSpPr>
        <p:spPr>
          <a:xfrm>
            <a:off x="7818120" y="509320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marker-4-text"/>
          <p:cNvSpPr txBox="1"/>
          <p:nvPr/>
        </p:nvSpPr>
        <p:spPr>
          <a:xfrm>
            <a:off x="781812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57032" y="5084064"/>
            <a:ext cx="338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狀態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57032" y="5449824"/>
            <a:ext cx="33860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右上角顯示目前的翻譯方式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以及有沒有設定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支援功能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讓平台真的能用在日常研究</a:t>
            </a:r>
            <a:endParaRPr lang="en-US" sz="3200" dirty="0"/>
          </a:p>
        </p:txBody>
      </p:sp>
      <p:sp>
        <p:nvSpPr>
          <p:cNvPr id="4" name="support-0"/>
          <p:cNvSpPr/>
          <p:nvPr/>
        </p:nvSpPr>
        <p:spPr>
          <a:xfrm>
            <a:off x="548640" y="1572768"/>
            <a:ext cx="40690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icon-LuScanText-bg"/>
          <p:cNvSpPr/>
          <p:nvPr/>
        </p:nvSpPr>
        <p:spPr>
          <a:xfrm>
            <a:off x="777240" y="18013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ScanText" descr="LuScan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190597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PDF 與掃描版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671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自動分段並擷取參考文獻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掃描頁用 OCR 辨識英文與繁中</a:t>
            </a:r>
            <a:endParaRPr lang="en-US" sz="1400" dirty="0"/>
          </a:p>
        </p:txBody>
      </p:sp>
      <p:sp>
        <p:nvSpPr>
          <p:cNvPr id="9" name="support-1"/>
          <p:cNvSpPr/>
          <p:nvPr/>
        </p:nvSpPr>
        <p:spPr>
          <a:xfrm>
            <a:off x="4846320" y="1572768"/>
            <a:ext cx="40690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0" name="icon-LuFolderOpen-bg"/>
          <p:cNvSpPr/>
          <p:nvPr/>
        </p:nvSpPr>
        <p:spPr>
          <a:xfrm>
            <a:off x="5074920" y="18013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LuFolderOpen" descr="LuFolder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527" y="190597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 雲端硬碟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1671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登入 Google 後，直接搜尋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並匯入雲端硬碟裡的 PDF</a:t>
            </a:r>
            <a:endParaRPr lang="en-US" sz="1400" dirty="0"/>
          </a:p>
        </p:txBody>
      </p:sp>
      <p:sp>
        <p:nvSpPr>
          <p:cNvPr id="14" name="support-2"/>
          <p:cNvSpPr/>
          <p:nvPr/>
        </p:nvSpPr>
        <p:spPr>
          <a:xfrm>
            <a:off x="548640" y="3081528"/>
            <a:ext cx="40690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5" name="icon-LuQuote-bg"/>
          <p:cNvSpPr/>
          <p:nvPr/>
        </p:nvSpPr>
        <p:spPr>
          <a:xfrm>
            <a:off x="777240" y="331012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LuQuote" descr="LuQuo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47" y="341473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2826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引用與匯出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6758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一鍵複製 APA、BibTeX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登入 Google 可匯出文件、排入日曆</a:t>
            </a:r>
            <a:endParaRPr lang="en-US" sz="1400" dirty="0"/>
          </a:p>
        </p:txBody>
      </p:sp>
      <p:sp>
        <p:nvSpPr>
          <p:cNvPr id="19" name="support-3"/>
          <p:cNvSpPr/>
          <p:nvPr/>
        </p:nvSpPr>
        <p:spPr>
          <a:xfrm>
            <a:off x="4846320" y="3081528"/>
            <a:ext cx="40690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0" name="icon-LuRefreshCw-bg"/>
          <p:cNvSpPr/>
          <p:nvPr/>
        </p:nvSpPr>
        <p:spPr>
          <a:xfrm>
            <a:off x="5074920" y="331012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LuRefreshCw" descr="LuRefreshC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527" y="341473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2826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備份與同步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6758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匯出 JSON 備份；用雲端硬碟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或 GitHub Gist 多裝置同步</a:t>
            </a:r>
            <a:endParaRPr lang="en-US" sz="1400" dirty="0"/>
          </a:p>
        </p:txBody>
      </p:sp>
      <p:sp>
        <p:nvSpPr>
          <p:cNvPr id="24" name="support-4"/>
          <p:cNvSpPr/>
          <p:nvPr/>
        </p:nvSpPr>
        <p:spPr>
          <a:xfrm>
            <a:off x="548640" y="4590288"/>
            <a:ext cx="40690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5" name="icon-LuLanguages-bg"/>
          <p:cNvSpPr/>
          <p:nvPr/>
        </p:nvSpPr>
        <p:spPr>
          <a:xfrm>
            <a:off x="777240" y="48188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LuLanguages" descr="LuLanguag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47" y="4923495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791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翻譯與 AI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51846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內建翻譯免費、免金鑰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AI 用自己的 Gemini／Claude 金鑰</a:t>
            </a:r>
            <a:endParaRPr lang="en-US" sz="1400" dirty="0"/>
          </a:p>
        </p:txBody>
      </p:sp>
      <p:sp>
        <p:nvSpPr>
          <p:cNvPr id="29" name="support-5"/>
          <p:cNvSpPr/>
          <p:nvPr/>
        </p:nvSpPr>
        <p:spPr>
          <a:xfrm>
            <a:off x="4846320" y="4590288"/>
            <a:ext cx="40690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0" name="icon-LuShieldCheck-bg"/>
          <p:cNvSpPr/>
          <p:nvPr/>
        </p:nvSpPr>
        <p:spPr>
          <a:xfrm>
            <a:off x="5074920" y="48188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-LuShieldCheck" descr="LuShiel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527" y="4923495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715000" y="4791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資料留在自己手上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5715000" y="51846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文獻庫存在自己的瀏覽器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Google 登入只取一小時有效的權杖</a:t>
            </a:r>
            <a:endParaRPr lang="en-US" sz="1400" dirty="0"/>
          </a:p>
        </p:txBody>
      </p:sp>
      <p:sp>
        <p:nvSpPr>
          <p:cNvPr id="34" name="mobile-frame"/>
          <p:cNvSpPr/>
          <p:nvPr/>
        </p:nvSpPr>
        <p:spPr>
          <a:xfrm>
            <a:off x="9463880" y="1572768"/>
            <a:ext cx="1859136" cy="402336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5" name="mobile" descr="mobi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3880" y="1572768"/>
            <a:ext cx="1859136" cy="40233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098120" y="5669280"/>
            <a:ext cx="259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手機自動改為直式版面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強調重點資訊的設計 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顏色只做一件事：標出重點</a:t>
            </a:r>
            <a:endParaRPr lang="en-US" sz="3200" dirty="0"/>
          </a:p>
        </p:txBody>
      </p:sp>
      <p:sp>
        <p:nvSpPr>
          <p:cNvPr id="4" name="swatch-0"/>
          <p:cNvSpPr/>
          <p:nvPr/>
        </p:nvSpPr>
        <p:spPr>
          <a:xfrm>
            <a:off x="548640" y="1600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D1B18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6002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墨色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主要文字、主要按鈕，以及「目前選取」的論文</a:t>
            </a:r>
            <a:endParaRPr lang="en-US" sz="1400" dirty="0"/>
          </a:p>
        </p:txBody>
      </p:sp>
      <p:sp>
        <p:nvSpPr>
          <p:cNvPr id="7" name="swatch-1"/>
          <p:cNvSpPr/>
          <p:nvPr/>
        </p:nvSpPr>
        <p:spPr>
          <a:xfrm>
            <a:off x="548640" y="23317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AF9F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331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紙色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閱讀區底色，降低長時間閱讀的刺眼感</a:t>
            </a:r>
            <a:endParaRPr lang="en-US" sz="1400" dirty="0"/>
          </a:p>
        </p:txBody>
      </p:sp>
      <p:sp>
        <p:nvSpPr>
          <p:cNvPr id="10" name="swatch-2"/>
          <p:cNvSpPr/>
          <p:nvPr/>
        </p:nvSpPr>
        <p:spPr>
          <a:xfrm>
            <a:off x="548640" y="30632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656B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3063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青色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0632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唯一的強調色：AI、出處標籤、串聯、進度與圖表</a:t>
            </a:r>
            <a:endParaRPr lang="en-US" sz="1400" dirty="0"/>
          </a:p>
        </p:txBody>
      </p:sp>
      <p:sp>
        <p:nvSpPr>
          <p:cNvPr id="13" name="swatch-3"/>
          <p:cNvSpPr/>
          <p:nvPr/>
        </p:nvSpPr>
        <p:spPr>
          <a:xfrm>
            <a:off x="548640" y="37947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AECB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3794760"/>
            <a:ext cx="283464" cy="566928"/>
          </a:xfrm>
          <a:prstGeom prst="roundRect">
            <a:avLst>
              <a:gd name="adj" fmla="val 25806"/>
            </a:avLst>
          </a:prstGeom>
          <a:solidFill>
            <a:srgbClr val="C8F0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3794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螢光黃／藍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7947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只代表使用者自己標的重點，不拿來裝飾</a:t>
            </a:r>
            <a:endParaRPr lang="en-US" sz="1400" dirty="0"/>
          </a:p>
        </p:txBody>
      </p:sp>
      <p:sp>
        <p:nvSpPr>
          <p:cNvPr id="17" name="swatch-4"/>
          <p:cNvSpPr/>
          <p:nvPr/>
        </p:nvSpPr>
        <p:spPr>
          <a:xfrm>
            <a:off x="548640" y="4526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78D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" y="4526280"/>
            <a:ext cx="182880" cy="566928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" y="4526280"/>
            <a:ext cx="182880" cy="566928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325880" y="45262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專案色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526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前 3 個專案各有固定顏色，改名、刪除、篩選都不換色</a:t>
            </a:r>
            <a:endParaRPr lang="en-US" sz="1400" dirty="0"/>
          </a:p>
        </p:txBody>
      </p:sp>
      <p:sp>
        <p:nvSpPr>
          <p:cNvPr id="22" name="swatch-5"/>
          <p:cNvSpPr/>
          <p:nvPr/>
        </p:nvSpPr>
        <p:spPr>
          <a:xfrm>
            <a:off x="548640" y="5257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DC7BB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25880" y="5257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灰色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非焦點的背景脈絡：淡化節點、其他論文的關鍵詞</a:t>
            </a:r>
            <a:endParaRPr lang="en-US" sz="1400" dirty="0"/>
          </a:p>
        </p:txBody>
      </p:sp>
      <p:sp>
        <p:nvSpPr>
          <p:cNvPr id="25" name="principle"/>
          <p:cNvSpPr/>
          <p:nvPr/>
        </p:nvSpPr>
        <p:spPr>
          <a:xfrm>
            <a:off x="7818120" y="1600200"/>
            <a:ext cx="3824935" cy="2331720"/>
          </a:xfrm>
          <a:prstGeom prst="roundRect">
            <a:avLst>
              <a:gd name="adj" fmla="val 3922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38160" y="1783080"/>
            <a:ext cx="3184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強調色用得越少，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出現時越像重點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78892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整個介面只有一個強調色，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只用在 AI 內容、可以點的連結、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進度與圖表資料。</a:t>
            </a:r>
            <a:endParaRPr lang="en-US" sz="1400" dirty="0"/>
          </a:p>
        </p:txBody>
      </p:sp>
      <p:sp>
        <p:nvSpPr>
          <p:cNvPr id="28" name="cvd-stat"/>
          <p:cNvSpPr/>
          <p:nvPr/>
        </p:nvSpPr>
        <p:spPr>
          <a:xfrm>
            <a:off x="7818120" y="4114800"/>
            <a:ext cx="3824935" cy="1709928"/>
          </a:xfrm>
          <a:prstGeom prst="roundRect">
            <a:avLst>
              <a:gd name="adj" fmla="val 5348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92440" y="4224528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9.2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4297680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色盲模擬下，任兩個專案色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的最小色差（ΔE），門檻 8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5074920"/>
            <a:ext cx="3184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用程式模擬紅綠色盲計算，不靠目測；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對比不足的淺色一律搭配文字標籤。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強調重點資訊的設計 ②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圖譜：每一種視覺變化都對應一種資訊</a:t>
            </a:r>
            <a:endParaRPr lang="en-US" sz="3200" dirty="0"/>
          </a:p>
        </p:txBody>
      </p:sp>
      <p:graphicFrame>
        <p:nvGraphicFramePr>
          <p:cNvPr id="14" name="encodin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743200"/>
                <a:gridCol w="2880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視覺變化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代表的資訊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為什麼這樣設計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線型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關係類型（關鍵詞、引用、手動）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不只靠顏色，黑白列印也分得出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線條粗細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共同關鍵詞的數量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重疊越多，線越粗、越先被看到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深色節點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目前選取的論文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唯一的深色塊，視線第一個落點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淡化節點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與選取論文無關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保留全貌，但退到背景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左側色條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所屬專案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與側欄、總覽同一組顏色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連線標籤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引用方向、串聯理由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只標選取論文的連線，減少雜訊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raph-small-frame"/>
          <p:cNvSpPr/>
          <p:nvPr/>
        </p:nvSpPr>
        <p:spPr>
          <a:xfrm>
            <a:off x="7818120" y="1600200"/>
            <a:ext cx="3824935" cy="239058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6" name="graph-small" descr="graph-sm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00200"/>
            <a:ext cx="3824935" cy="23905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818120" y="4114800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三種線型</a:t>
            </a:r>
            <a:endParaRPr lang="en-US" sz="1200" dirty="0"/>
          </a:p>
        </p:txBody>
      </p:sp>
      <p:sp>
        <p:nvSpPr>
          <p:cNvPr id="8" name="legend-line-0"/>
          <p:cNvSpPr/>
          <p:nvPr/>
        </p:nvSpPr>
        <p:spPr>
          <a:xfrm>
            <a:off x="7818120" y="4617720"/>
            <a:ext cx="1005840" cy="0"/>
          </a:xfrm>
          <a:prstGeom prst="line">
            <a:avLst/>
          </a:prstGeom>
          <a:noFill/>
          <a:ln w="38100">
            <a:solidFill>
              <a:srgbClr val="BDB6A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448056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共同關鍵詞</a:t>
            </a:r>
            <a:endParaRPr lang="en-US" sz="1400" dirty="0"/>
          </a:p>
        </p:txBody>
      </p:sp>
      <p:sp>
        <p:nvSpPr>
          <p:cNvPr id="10" name="legend-line-1"/>
          <p:cNvSpPr/>
          <p:nvPr/>
        </p:nvSpPr>
        <p:spPr>
          <a:xfrm>
            <a:off x="7818120" y="4960620"/>
            <a:ext cx="1005840" cy="0"/>
          </a:xfrm>
          <a:prstGeom prst="line">
            <a:avLst/>
          </a:prstGeom>
          <a:noFill/>
          <a:ln w="19050">
            <a:solidFill>
              <a:srgbClr val="1D1B18"/>
            </a:solidFill>
            <a:prstDash val="sysDot"/>
          </a:ln>
        </p:spPr>
      </p:sp>
      <p:sp>
        <p:nvSpPr>
          <p:cNvPr id="11" name="Text 7"/>
          <p:cNvSpPr txBox="1"/>
          <p:nvPr/>
        </p:nvSpPr>
        <p:spPr>
          <a:xfrm>
            <a:off x="9006840" y="482346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引用</a:t>
            </a:r>
            <a:endParaRPr lang="en-US" sz="1400" dirty="0"/>
          </a:p>
        </p:txBody>
      </p:sp>
      <p:sp>
        <p:nvSpPr>
          <p:cNvPr id="12" name="legend-line-2"/>
          <p:cNvSpPr/>
          <p:nvPr/>
        </p:nvSpPr>
        <p:spPr>
          <a:xfrm>
            <a:off x="7818120" y="5303520"/>
            <a:ext cx="1005840" cy="0"/>
          </a:xfrm>
          <a:prstGeom prst="line">
            <a:avLst/>
          </a:prstGeom>
          <a:noFill/>
          <a:ln w="25400">
            <a:solidFill>
              <a:srgbClr val="00656B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9006840" y="516636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手動串聯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強調重點資訊的設計 ③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總覽與閱讀器：讓重點自己跳出來</a:t>
            </a:r>
            <a:endParaRPr lang="en-US" sz="3200" dirty="0"/>
          </a:p>
        </p:txBody>
      </p:sp>
      <p:sp>
        <p:nvSpPr>
          <p:cNvPr id="4" name="tip-bg-0"/>
          <p:cNvSpPr/>
          <p:nvPr/>
        </p:nvSpPr>
        <p:spPr>
          <a:xfrm>
            <a:off x="548640" y="1572768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5" name="tip-img-0" descr="強調，而不是全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1736" y="1664208"/>
            <a:ext cx="1814488" cy="1280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10896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強調，而不是全彩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3814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按下「標示」後，只有目前這篇的關鍵詞是青色，其他灰色</a:t>
            </a:r>
            <a:endParaRPr lang="en-US" sz="1400" dirty="0"/>
          </a:p>
        </p:txBody>
      </p:sp>
      <p:sp>
        <p:nvSpPr>
          <p:cNvPr id="8" name="tip-bg-1"/>
          <p:cNvSpPr/>
          <p:nvPr/>
        </p:nvSpPr>
        <p:spPr>
          <a:xfrm>
            <a:off x="6202375" y="1572768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9" name="tip-img-1" descr="排序就是建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471" y="1664208"/>
            <a:ext cx="1814488" cy="1280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02375" y="310896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排序就是建議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202375" y="343814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翻譯最少的論文排最上面，不必自己比較</a:t>
            </a:r>
            <a:endParaRPr lang="en-US" sz="1400" dirty="0"/>
          </a:p>
        </p:txBody>
      </p:sp>
      <p:sp>
        <p:nvSpPr>
          <p:cNvPr id="12" name="tip-bg-2"/>
          <p:cNvSpPr/>
          <p:nvPr/>
        </p:nvSpPr>
        <p:spPr>
          <a:xfrm>
            <a:off x="548640" y="3813048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13" name="tip-img-2" descr="數字直接標在圖上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320" y="3904488"/>
            <a:ext cx="2875320" cy="12801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534924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數字直接標在圖上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67842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長條標數值、年份圖有刻度，提示框只補充論文清單</a:t>
            </a:r>
            <a:endParaRPr lang="en-US" sz="1400" dirty="0"/>
          </a:p>
        </p:txBody>
      </p:sp>
      <p:sp>
        <p:nvSpPr>
          <p:cNvPr id="16" name="tip-bg-3"/>
          <p:cNvSpPr/>
          <p:nvPr/>
        </p:nvSpPr>
        <p:spPr>
          <a:xfrm>
            <a:off x="6202375" y="3813048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17" name="tip-img-3" descr="字體分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535" y="4021287"/>
            <a:ext cx="5166360" cy="10465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02375" y="534924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字體分工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02375" y="567842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襯線＝標題與原文，無襯線＝介面與譯文，等寬＝關鍵詞與數據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可用性檢查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用模擬使用者測試找出問題，再逐一改進</a:t>
            </a:r>
            <a:endParaRPr lang="en-US" sz="3200" dirty="0"/>
          </a:p>
        </p:txBody>
      </p:sp>
      <p:sp>
        <p:nvSpPr>
          <p:cNvPr id="4" name="ux-stat-0"/>
          <p:cNvSpPr/>
          <p:nvPr/>
        </p:nvSpPr>
        <p:spPr>
          <a:xfrm>
            <a:off x="548640" y="1572768"/>
            <a:ext cx="4206240" cy="1042416"/>
          </a:xfrm>
          <a:prstGeom prst="roundRect">
            <a:avLst>
              <a:gd name="adj" fmla="val 701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8249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0.2 秒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開啟網站到看到內容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103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示範資料、一般筆電</a:t>
            </a:r>
            <a:endParaRPr lang="en-US" sz="1200" dirty="0"/>
          </a:p>
        </p:txBody>
      </p:sp>
      <p:sp>
        <p:nvSpPr>
          <p:cNvPr id="8" name="ux-stat-1"/>
          <p:cNvSpPr/>
          <p:nvPr/>
        </p:nvSpPr>
        <p:spPr>
          <a:xfrm>
            <a:off x="548640" y="2779776"/>
            <a:ext cx="4206240" cy="1042416"/>
          </a:xfrm>
          <a:prstGeom prst="roundRect">
            <a:avLst>
              <a:gd name="adj" fmla="val 701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88950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0.05 秒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944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點按鈕到畫面更新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3101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最慢的一次；60 篇的大文獻庫也在 0.11 秒內</a:t>
            </a:r>
            <a:endParaRPr lang="en-US" sz="1200" dirty="0"/>
          </a:p>
        </p:txBody>
      </p:sp>
      <p:sp>
        <p:nvSpPr>
          <p:cNvPr id="12" name="ux-stat-2"/>
          <p:cNvSpPr/>
          <p:nvPr/>
        </p:nvSpPr>
        <p:spPr>
          <a:xfrm>
            <a:off x="548640" y="3986784"/>
            <a:ext cx="4206240" cy="1042416"/>
          </a:xfrm>
          <a:prstGeom prst="roundRect">
            <a:avLst>
              <a:gd name="adj" fmla="val 701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965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41513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版面跳動（CLS）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45171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載入與切換畫面時都不會亂跳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方法：讓 AI 代理扮演研究生，在真的瀏覽器裡完成閱讀、整理專案和手機複習等任務，並量測效能；每個問題都經另一個代理重現。這不是真人受測。</a:t>
            </a:r>
            <a:endParaRPr lang="en-US" sz="1100" dirty="0"/>
          </a:p>
        </p:txBody>
      </p:sp>
      <p:graphicFrame>
        <p:nvGraphicFramePr>
          <p:cNvPr id="16" name="ux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572768"/>
          <a:ext cx="6568135" cy="914400"/>
        </p:xfrm>
        <a:graphic>
          <a:graphicData uri="http://schemas.openxmlformats.org/drawingml/2006/table">
            <a:tbl>
              <a:tblPr/>
              <a:tblGrid>
                <a:gridCol w="3284068"/>
                <a:gridCol w="328406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發現的問題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改成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鍵盤無法選段落來畫螢光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段落編號改成按鈕，鍵盤可以操作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刪除論文後無法復原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刪除後 8 秒內可以按「復原刪除」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搜尋找不到時沒有任何提示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顯示「找不到」，可以一鍵清除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中等寬度螢幕，側欄擠壓內容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改成浮在內容上，不擠壓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長論文打字、翻譯時卡頓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減少重繪，翻譯結果分批更新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手機按返回鍵直接離開網站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先關掉側欄或視窗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074920" y="5532120"/>
            <a:ext cx="6568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共確認 38 個問題，已全部修正；表中是其中 6 個例子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期中成果與期末方向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期中完成四個工作區，期末加上 Chrome 插件</a:t>
            </a:r>
            <a:endParaRPr lang="en-US" sz="3200" dirty="0"/>
          </a:p>
        </p:txBody>
      </p:sp>
      <p:sp>
        <p:nvSpPr>
          <p:cNvPr id="4" name="done"/>
          <p:cNvSpPr/>
          <p:nvPr/>
        </p:nvSpPr>
        <p:spPr>
          <a:xfrm>
            <a:off x="548640" y="1572768"/>
            <a:ext cx="4937760" cy="438912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期中已完成</a:t>
            </a:r>
            <a:endParaRPr lang="en-US" sz="1300" dirty="0"/>
          </a:p>
        </p:txBody>
      </p:sp>
      <p:pic>
        <p:nvPicPr>
          <p:cNvPr id="6" name="check-0" descr="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2128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四個工作區：閱讀器、關聯圖譜、AI 對話，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以及新增的文獻庫總覽</a:t>
            </a:r>
            <a:endParaRPr lang="en-US" sz="1400" dirty="0"/>
          </a:p>
        </p:txBody>
      </p:sp>
      <p:pic>
        <p:nvPicPr>
          <p:cNvPr id="8" name="check-1" descr="d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45536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31089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專案工作區：從全部論文推薦相關論文；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不用金鑰的瀏覽器內建翻譯</a:t>
            </a:r>
            <a:endParaRPr lang="en-US" sz="1400" dirty="0"/>
          </a:p>
        </p:txBody>
      </p:sp>
      <p:pic>
        <p:nvPicPr>
          <p:cNvPr id="10" name="check-2" descr="d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416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40050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匯入與輸出：PDF、OCR、APA／BibTeX；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登入 Google 後可用雲端硬碟、文件、日曆</a:t>
            </a:r>
            <a:endParaRPr lang="en-US" sz="1400" dirty="0"/>
          </a:p>
        </p:txBody>
      </p:sp>
      <p:pic>
        <p:nvPicPr>
          <p:cNvPr id="12" name="check-3" descr="d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377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49011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可用性檢查：修正 38 個問題；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手機版面，專案顏色經色盲驗證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5806440" y="1755648"/>
            <a:ext cx="5836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期末方向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806440" y="2212848"/>
            <a:ext cx="10058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806440" y="22128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主目標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995160" y="2194560"/>
            <a:ext cx="4647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收集器插件＋可安裝網站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995160" y="2615184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在任何網頁按一下，就把論文或 PDF 送進論憶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網站可安裝成獨立視窗的 App，離線也能開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806440" y="347472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806440" y="3474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加強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995160" y="3456432"/>
            <a:ext cx="4647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視覺化與決策分析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3877056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省下改寫的時間，投入圖表與決策輔助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例如主題隨年份的演變、引用網路分析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806440" y="473659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806440" y="4736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延伸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4718304"/>
            <a:ext cx="4647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完整的側邊欄插件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995160" y="5138928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網站改寫成 Vite＋React 後產出側邊欄插件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時間足夠再做，否則留到寒假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14476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謝謝聆聽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歡迎現場試用：開啟網站，內建 4 篇示範論文</a:t>
            </a:r>
            <a:endParaRPr lang="en-US" sz="1800" dirty="0"/>
          </a:p>
        </p:txBody>
      </p:sp>
      <p:sp>
        <p:nvSpPr>
          <p:cNvPr id="4" name="qr-bg"/>
          <p:cNvSpPr/>
          <p:nvPr/>
        </p:nvSpPr>
        <p:spPr>
          <a:xfrm>
            <a:off x="8366760" y="155448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pic>
        <p:nvPicPr>
          <p:cNvPr id="5" name="qr" descr="網站 QR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00200"/>
            <a:ext cx="301752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49240" y="48006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journal-article-memory-tool.vercel.app/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>
                    <a:alpha val="80000"/>
                  </a:schemeClr>
                </a:solidFill>
              </a:rPr>
              <a:t>設計者　林永欽　·　視覺化分析與決策應用設計（2026 秋）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nyi">
  <a:themeElements>
    <a:clrScheme name="Lunyi">
      <a:dk1>
        <a:srgbClr val="1D1B18"/>
      </a:dk1>
      <a:lt1>
        <a:srgbClr val="FFFFFF"/>
      </a:lt1>
      <a:dk2>
        <a:srgbClr val="625D55"/>
      </a:dk2>
      <a:lt2>
        <a:srgbClr val="F4F2ED"/>
      </a:lt2>
      <a:accent1>
        <a:srgbClr val="00656B"/>
      </a:accent1>
      <a:accent2>
        <a:srgbClr val="2A78D6"/>
      </a:accent2>
      <a:accent3>
        <a:srgbClr val="EB6834"/>
      </a:accent3>
      <a:accent4>
        <a:srgbClr val="FAECB6"/>
      </a:accent4>
      <a:accent5>
        <a:srgbClr val="E2DDD3"/>
      </a:accent5>
      <a:accent6>
        <a:srgbClr val="FAF9F6"/>
      </a:accent6>
      <a:hlink>
        <a:srgbClr val="00656B"/>
      </a:hlink>
      <a:folHlink>
        <a:srgbClr val="004A50"/>
      </a:folHlink>
    </a:clrScheme>
    <a:fontScheme name="Lunyi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論憶：期刊論文記憶庫 期中報告</dc:title>
  <dc:subject>視覺化分析與決策應用設計（2026 秋）期中報告</dc:subject>
  <dc:creator>林永欽</dc:creator>
  <cp:lastModifiedBy>林永欽</cp:lastModifiedBy>
  <cp:revision>1</cp:revision>
  <dcterms:created xsi:type="dcterms:W3CDTF">2026-10-23T13:13:33Z</dcterms:created>
  <dcterms:modified xsi:type="dcterms:W3CDTF">2026-10-23T13:13:33Z</dcterms:modified>
</cp:coreProperties>
</file>