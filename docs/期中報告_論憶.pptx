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856acda4-3a8a-1d53-9e7b-14aed69d1233}">
          <p14:sldIdLst>
            <p14:sldId id="256"/>
          </p14:sldIdLst>
        </p14:section>
        <p14:section name="平台介紹" id="{934fd061-299c-e031-802c-5ab32daf6383}">
          <p14:sldIdLst>
            <p14:sldId id="257"/>
            <p14:sldId id="258"/>
            <p14:sldId id="259"/>
          </p14:sldIdLst>
        </p14:section>
        <p14:section name="功能介紹" id="{d8a8a675-353f-a7b4-c42d-4f190f75562d}">
          <p14:sldIdLst>
            <p14:sldId id="260"/>
            <p14:sldId id="261"/>
            <p14:sldId id="262"/>
            <p14:sldId id="263"/>
            <p14:sldId id="264"/>
          </p14:sldIdLst>
        </p14:section>
        <p14:section name="設計說明" id="{21a95304-6d39-dc0c-6036-a4e24300cc83}">
          <p14:sldIdLst>
            <p14:sldId id="265"/>
            <p14:sldId id="266"/>
            <p14:sldId id="267"/>
          </p14:sldIdLst>
        </p14:section>
        <p14:section name="成果與方向" id="{fe0102a7-ae40-a93c-2bac-a5897501376a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大家好，我是林永欽。我的期中作品叫「論憶」，是一個給研究生用的期刊論文記憶庫。平時作業版本只有閱讀和翻譯，期中這版加上了關聯圖譜、AI 對話和新的文獻庫總覽，共四個工作區。接下來依序說明平台目的、受眾、功能，以及我怎麼用視覺設計強調重點資訊。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研究生讀外文論文常遇到三個斷點：讀不懂、記不住、連不起來。論憶針對這三點分別提供逐段對照翻譯、螢光筆記加 AI 問答，以及自動串聯與關聯圖譜。整體目的是讓時間花在理解與比較，而不是查字典和翻舊檔案。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主要對象是碩博士研究生：每學期要讀大量外文論文、要寫文獻回顧，而且多半在筆電上讀 PDF。右邊是三個典型情境，分別對應到閱讀器、圖譜與總覽、AI 對話。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整個平台是一條資料流：匯入、AI 辨識與翻譯、自動串聯、閱讀標記，最後在查閱階段幫助做決策。介面分成四個工作區，用頂部分頁切換：1a 閱讀器、1b 圖譜、1c 對話，以及這次新增的 1d 總覽。所有資料存在使用者自己的瀏覽器。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閱讀器是最常用的工作區。上方可以切換對照、原文、中文三種模式。點一下任一段落，就會出現螢光、筆記和重新翻譯的按鈕。右側面板自動列出這篇引用了誰、被誰引用，以及共用關鍵詞的相關論文。上方也能直接複製 APA、BibTeX 或匯出成 Google 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圖譜把整個文獻庫畫成節點與連線。上方三個按鈕可以分別開關三種關係，三種關係用不同線型區分，不只靠顏色。現在選取的是 ResNet，所以它變成深色，和它沒有關係的 BERT、GPT-3 自動淡化，這就是焦點加脈絡的設計。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對話會把整個文獻庫，包括我的筆記和螢光重點，一起交給 AI，並要求它只能根據這些內容回答、在句末標出處。出處是可以點的標籤，點了右側就顯示那篇論文的原文，方便查證，避免 AI 亂編。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覽是期中新增的工作區，目標是支援決策：下一步該讀什麼。上方五個數字是文獻庫的現況；年份圖看文獻集中在哪個時期；資料夾組成看各主題的比重；熱門關鍵詞點一下，閱讀器就只列出含這個關鍵詞的論文，篇數和圖上一致；閱讀進度表把翻譯最少的論文排在最上面。所有圖表都跟著上方的資料夾篩選一起變動，數字彼此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除了四個工作區，還有幾個讓它能真的拿來用的功能：掃描版 PDF 會自動 OCR、可以從 Google 雲端硬碟匯入、匯出引用格式與 Google 文件、用雲端硬碟或 Gist 同步。AI 可以選 Claude 或 Gemini。資料都存在自己的瀏覽器，手機也能用單欄版面閱讀。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第一個設計原則是顏色分工。整個介面以墨色和紙色為基底，只用一個強調色：青色。因為強調色用得很少，所以畫面上一出現青色就代表 AI 內容、可以點的東西或進度。螢光的黃和藍只代表使用者自己標的重點。資料夾的分類色是用程式模擬色盲計算過的：因為圖譜上任兩個節點都可能相鄰，我只用通過「任兩色比較」的 3 色，最小色差 9.2，高於門檻 8，第 4 個以後的資料夾歸為灰色「其他」。而且資料夾的顏色存在文獻庫裡，改名、刪除或篩選都不會換色。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個原則是：圖譜上每一種視覺變化都要對應到一種資訊。三種關係用線型區分，所以就算黑白列印也分得出來；線條粗細代表共同關鍵詞數量；選取的論文是整張圖唯一的深色塊，沒有關係的論文淡化。連線標籤只顯示和選取論文相連的線，避免整張圖都是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個原則用在總覽和閱讀器。第一是強調而不是全彩：按下「標示」後，關鍵詞圖只把目前這篇論文有的關鍵詞上青色，其他灰色。第二是排序就是建議：閱讀進度表把最需要處理的放最上面。第三是數字直接標在圖上，滑鼠提示只是補充。第四是字體分工：襯線字是內容、無襯線是介面、等寬字是數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期中已完成四個工作區與匯入、輸出、同步等功能。期末想做成在自己電腦使用、像 Google 生態工具的 Chrome 插件。研究後發現現在的網站不能直接包成插件：執行環境需要 eval，pdf.js、OCR、Google 登入又都是從網路載入，這些在 Chrome 插件裡都被禁止。所以期末的主目標是收集器插件加可安裝網站：在任何網頁按一下就能把論文送進論憶，網站也能安裝成獨立視窗的 App，不必改寫整個網站。省下的時間會投入這門課的重點：視覺化與決策分析。完整的側邊欄插件需要先把網站改寫成 Vite 加 React，列為延伸目標。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以上是論憶的期中成果，謝謝大家。網站用 QR code 就能開，內建四篇示範論文，可以直接試用閱讀器、圖譜和總覽。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D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5740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58521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1447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論憶｜期刊論文記憶庫　·　期中報告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slideLayout" Target="../slideLayouts/slideLayout3.xml"/><Relationship Id="rId1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al"/>
          <p:cNvSpPr/>
          <p:nvPr/>
        </p:nvSpPr>
        <p:spPr>
          <a:xfrm>
            <a:off x="731520" y="868680"/>
            <a:ext cx="868680" cy="868680"/>
          </a:xfrm>
          <a:prstGeom prst="roundRect">
            <a:avLst>
              <a:gd name="adj" fmla="val 14737"/>
            </a:avLst>
          </a:prstGeom>
          <a:solidFill>
            <a:schemeClr val="accent6"/>
          </a:solidFill>
          <a:ln/>
        </p:spPr>
      </p:sp>
      <p:sp>
        <p:nvSpPr>
          <p:cNvPr id="3" name="seal-text"/>
          <p:cNvSpPr txBox="1"/>
          <p:nvPr/>
        </p:nvSpPr>
        <p:spPr>
          <a:xfrm>
            <a:off x="73152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論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574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論憶｜期刊論文記憶庫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4747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讓讀過的外文論文，</a:t>
            </a:r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highlight>
                  <a:srgbClr val="FAECB6"/>
                </a:highlight>
              </a:rPr>
              <a:t>看得懂、連得起、找得回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177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>
                    <a:alpha val="75000"/>
                  </a:schemeClr>
                </a:solidFill>
              </a:rPr>
              <a:t>設計者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46177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林永欽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0200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>
                    <a:alpha val="75000"/>
                  </a:schemeClr>
                </a:solidFill>
              </a:rPr>
              <a:t>課程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5020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視覺化分析與決策應用設計（2026 秋）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4223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>
                    <a:alpha val="75000"/>
                  </a:schemeClr>
                </a:solidFill>
              </a:rPr>
              <a:t>報告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542239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期中報告</a:t>
            </a:r>
            <a:endParaRPr lang="en-US" sz="1600" dirty="0"/>
          </a:p>
        </p:txBody>
      </p:sp>
      <p:sp>
        <p:nvSpPr>
          <p:cNvPr id="12" name="cover-dashboard-frame"/>
          <p:cNvSpPr/>
          <p:nvPr/>
        </p:nvSpPr>
        <p:spPr>
          <a:xfrm>
            <a:off x="6903720" y="914400"/>
            <a:ext cx="4754880" cy="29718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3" name="cover-dashboard" descr="cover-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914400"/>
            <a:ext cx="4754880" cy="2971800"/>
          </a:xfrm>
          <a:prstGeom prst="rect">
            <a:avLst/>
          </a:prstGeom>
        </p:spPr>
      </p:pic>
      <p:sp>
        <p:nvSpPr>
          <p:cNvPr id="14" name="cover-graph-edge"/>
          <p:cNvSpPr/>
          <p:nvPr/>
        </p:nvSpPr>
        <p:spPr>
          <a:xfrm>
            <a:off x="7589520" y="3337560"/>
            <a:ext cx="4114800" cy="2606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cover-graph-frame"/>
          <p:cNvSpPr/>
          <p:nvPr/>
        </p:nvSpPr>
        <p:spPr>
          <a:xfrm>
            <a:off x="7635240" y="3383280"/>
            <a:ext cx="4023360" cy="25146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cover-graph" descr="cover-grap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383280"/>
            <a:ext cx="4023360" cy="25146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90372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>
                    <a:alpha val="70000"/>
                  </a:schemeClr>
                </a:solidFill>
              </a:rPr>
              <a:t>charleslin2003-prog.github.io/Journal-Article-Memory-Tool/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平台目的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把「讀論文」變成能累積、能查詢的知識庫</a:t>
            </a:r>
            <a:endParaRPr lang="en-US" sz="3200" dirty="0"/>
          </a:p>
        </p:txBody>
      </p:sp>
      <p:sp>
        <p:nvSpPr>
          <p:cNvPr id="4" name="pain-0"/>
          <p:cNvSpPr/>
          <p:nvPr/>
        </p:nvSpPr>
        <p:spPr>
          <a:xfrm>
            <a:off x="548640" y="1600200"/>
            <a:ext cx="3547872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/>
        </p:spPr>
      </p:sp>
      <p:sp>
        <p:nvSpPr>
          <p:cNvPr id="5" name="icon-LuLanguages-bg"/>
          <p:cNvSpPr/>
          <p:nvPr/>
        </p:nvSpPr>
        <p:spPr>
          <a:xfrm>
            <a:off x="822960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Languages" descr="LuLangua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614" y="1987174"/>
            <a:ext cx="286756" cy="2867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74520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讀不懂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外文論文術語密集，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逐句查字典打斷思路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429000"/>
            <a:ext cx="29992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56616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論憶的做法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886200"/>
            <a:ext cx="2999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匯入後逐段翻成繁中，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原文與中文對照閱讀，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專有名詞保留原文</a:t>
            </a:r>
            <a:endParaRPr lang="en-US" sz="1500" dirty="0"/>
          </a:p>
        </p:txBody>
      </p:sp>
      <p:sp>
        <p:nvSpPr>
          <p:cNvPr id="12" name="pain-1"/>
          <p:cNvSpPr/>
          <p:nvPr/>
        </p:nvSpPr>
        <p:spPr>
          <a:xfrm>
            <a:off x="4306824" y="1600200"/>
            <a:ext cx="3547872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/>
        </p:spPr>
      </p:sp>
      <p:sp>
        <p:nvSpPr>
          <p:cNvPr id="13" name="icon-LuHighlighter-bg"/>
          <p:cNvSpPr/>
          <p:nvPr/>
        </p:nvSpPr>
        <p:spPr>
          <a:xfrm>
            <a:off x="4581144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LuHighlighter" descr="LuHighligh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798" y="1987174"/>
            <a:ext cx="286756" cy="28675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21224" y="1874520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記不住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4581144" y="256032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重點散在 PDF、筆記本和腦袋裡，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寫論文時找不回來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581144" y="3429000"/>
            <a:ext cx="29992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81144" y="356616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論憶的做法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581144" y="3886200"/>
            <a:ext cx="2999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螢光與段落筆記存在同一處，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用 AI 問答查整個文獻庫，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回答附上出處</a:t>
            </a:r>
            <a:endParaRPr lang="en-US" sz="1500" dirty="0"/>
          </a:p>
        </p:txBody>
      </p:sp>
      <p:sp>
        <p:nvSpPr>
          <p:cNvPr id="20" name="pain-2"/>
          <p:cNvSpPr/>
          <p:nvPr/>
        </p:nvSpPr>
        <p:spPr>
          <a:xfrm>
            <a:off x="8065008" y="1600200"/>
            <a:ext cx="3547872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/>
        </p:spPr>
      </p:sp>
      <p:sp>
        <p:nvSpPr>
          <p:cNvPr id="21" name="icon-LuWaypoints-bg"/>
          <p:cNvSpPr/>
          <p:nvPr/>
        </p:nvSpPr>
        <p:spPr>
          <a:xfrm>
            <a:off x="8339328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con-LuWaypoints" descr="LuWaypoi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1982" y="1987174"/>
            <a:ext cx="286756" cy="286756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979408" y="1874520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連不起來</a:t>
            </a:r>
            <a:endParaRPr 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8339328" y="256032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論文之間的引用與主題關係，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只能靠記憶拼湊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8339328" y="3429000"/>
            <a:ext cx="29992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339328" y="356616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論憶的做法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339328" y="3886200"/>
            <a:ext cx="2999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自動比對共同關鍵詞與引用，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用關聯圖譜一次看清楚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目的：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highlight>
                  <a:srgbClr val="FAECB6"/>
                </a:highlight>
              </a:rPr>
              <a:t>讓研究生把時間花在理解與比較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，而不是查字典、翻舊檔案。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受眾與使用情境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為研究生與個人研究者設計</a:t>
            </a:r>
            <a:endParaRPr lang="en-US" sz="3200" dirty="0"/>
          </a:p>
        </p:txBody>
      </p:sp>
      <p:sp>
        <p:nvSpPr>
          <p:cNvPr id="4" name="persona"/>
          <p:cNvSpPr/>
          <p:nvPr/>
        </p:nvSpPr>
        <p:spPr>
          <a:xfrm>
            <a:off x="548640" y="1600200"/>
            <a:ext cx="4114800" cy="434340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5" name="icon-LuGraduationCap-bg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GraduationCap" descr="LuGraduationC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201533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主要對象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1488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碩博士研究生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83464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每學期要讀數十篇外文論文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要整理文獻回顧、說清楚研究脈絡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在筆電讀 PDF，通勤時用手機複習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4480560"/>
            <a:ext cx="3566160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4663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次要對象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個人研究者、跨領域讀者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983480" y="1600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情境 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1874520"/>
            <a:ext cx="6659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剛進實驗室，要讀懂領域經典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983480" y="2276856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上傳 PDF 自動翻譯，對照閱讀、邊讀邊畫螢光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500055" y="231343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500055" y="231343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1a 閱讀器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983480" y="2953512"/>
            <a:ext cx="6659575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98348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情境 2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983480" y="3337560"/>
            <a:ext cx="6659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寫文獻回顧，要理清論文脈絡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4983480" y="3739896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從圖譜看誰引用誰、哪些論文用同一種方法，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再用總覽看主題分布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357055" y="377647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357055" y="377647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1b 圖譜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500055" y="377647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00055" y="377647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1d 總覽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83480" y="4416552"/>
            <a:ext cx="6659575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983480" y="4526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情境 3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983480" y="4800600"/>
            <a:ext cx="6659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口試或報告前，要回想讀過的重點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4983480" y="5202936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直接問文獻庫，回答附出處，點一下就回到原文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0500055" y="523951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500055" y="523951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1c 對話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983480" y="5760720"/>
            <a:ext cx="6659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1a–1d 是平台的四個工作區，下一頁說明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平台架構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一條資料流，四個工作區</a:t>
            </a:r>
            <a:endParaRPr lang="en-US" sz="3200" dirty="0"/>
          </a:p>
        </p:txBody>
      </p:sp>
      <p:sp>
        <p:nvSpPr>
          <p:cNvPr id="4" name="flow-0"/>
          <p:cNvSpPr/>
          <p:nvPr/>
        </p:nvSpPr>
        <p:spPr>
          <a:xfrm>
            <a:off x="548640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</p:sp>
      <p:sp>
        <p:nvSpPr>
          <p:cNvPr id="5" name="icon-LuFileUp-bg"/>
          <p:cNvSpPr/>
          <p:nvPr/>
        </p:nvSpPr>
        <p:spPr>
          <a:xfrm>
            <a:off x="749808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FileUp" descr="LuFile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874520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18488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匯入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PDF、掃描檔 OCR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雲端硬碟、貼上文字</a:t>
            </a:r>
            <a:endParaRPr lang="en-US" sz="1300" dirty="0"/>
          </a:p>
        </p:txBody>
      </p:sp>
      <p:pic>
        <p:nvPicPr>
          <p:cNvPr id="10" name="arrow-0" descr="arr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9464" y="2491740"/>
            <a:ext cx="219456" cy="219456"/>
          </a:xfrm>
          <a:prstGeom prst="rect">
            <a:avLst/>
          </a:prstGeom>
        </p:spPr>
      </p:pic>
      <p:sp>
        <p:nvSpPr>
          <p:cNvPr id="11" name="flow-1"/>
          <p:cNvSpPr/>
          <p:nvPr/>
        </p:nvSpPr>
        <p:spPr>
          <a:xfrm>
            <a:off x="2825496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</p:sp>
      <p:sp>
        <p:nvSpPr>
          <p:cNvPr id="12" name="icon-LuSparkles-bg"/>
          <p:cNvSpPr/>
          <p:nvPr/>
        </p:nvSpPr>
        <p:spPr>
          <a:xfrm>
            <a:off x="3026664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-LuSparkles" descr="Lu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7248" y="1874520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895344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2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3026664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辨識與翻譯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26664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辨識標題與關鍵詞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逐段翻成繁體中文</a:t>
            </a:r>
            <a:endParaRPr lang="en-US" sz="1300" dirty="0"/>
          </a:p>
        </p:txBody>
      </p:sp>
      <p:pic>
        <p:nvPicPr>
          <p:cNvPr id="17" name="arrow-1" descr="arr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491740"/>
            <a:ext cx="219456" cy="219456"/>
          </a:xfrm>
          <a:prstGeom prst="rect">
            <a:avLst/>
          </a:prstGeom>
        </p:spPr>
      </p:pic>
      <p:sp>
        <p:nvSpPr>
          <p:cNvPr id="18" name="flow-2"/>
          <p:cNvSpPr/>
          <p:nvPr/>
        </p:nvSpPr>
        <p:spPr>
          <a:xfrm>
            <a:off x="5102352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</p:sp>
      <p:sp>
        <p:nvSpPr>
          <p:cNvPr id="19" name="icon-LuLink-bg"/>
          <p:cNvSpPr/>
          <p:nvPr/>
        </p:nvSpPr>
        <p:spPr>
          <a:xfrm>
            <a:off x="5303520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-LuLink" descr="LuL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4104" y="1874520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172200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3</a:t>
            </a: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5303520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自動串聯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5303520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比對共同關鍵詞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與參考文獻</a:t>
            </a:r>
            <a:endParaRPr lang="en-US" sz="1300" dirty="0"/>
          </a:p>
        </p:txBody>
      </p:sp>
      <p:pic>
        <p:nvPicPr>
          <p:cNvPr id="24" name="arrow-2" descr="arro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176" y="2491740"/>
            <a:ext cx="219456" cy="219456"/>
          </a:xfrm>
          <a:prstGeom prst="rect">
            <a:avLst/>
          </a:prstGeom>
        </p:spPr>
      </p:pic>
      <p:sp>
        <p:nvSpPr>
          <p:cNvPr id="25" name="flow-3"/>
          <p:cNvSpPr/>
          <p:nvPr/>
        </p:nvSpPr>
        <p:spPr>
          <a:xfrm>
            <a:off x="7379208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</p:sp>
      <p:sp>
        <p:nvSpPr>
          <p:cNvPr id="26" name="icon-LuPenLine-bg"/>
          <p:cNvSpPr/>
          <p:nvPr/>
        </p:nvSpPr>
        <p:spPr>
          <a:xfrm>
            <a:off x="7580376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con-LuPenLine" descr="LuPenLin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0" y="1874520"/>
            <a:ext cx="256032" cy="256032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449056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4</a:t>
            </a:r>
            <a:endParaRPr lang="en-US" sz="1200" dirty="0"/>
          </a:p>
        </p:txBody>
      </p:sp>
      <p:sp>
        <p:nvSpPr>
          <p:cNvPr id="29" name="Text 20"/>
          <p:cNvSpPr txBox="1"/>
          <p:nvPr/>
        </p:nvSpPr>
        <p:spPr>
          <a:xfrm>
            <a:off x="7580376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閱讀與標記</a:t>
            </a:r>
            <a:endParaRPr lang="en-US" sz="1600" dirty="0"/>
          </a:p>
        </p:txBody>
      </p:sp>
      <p:sp>
        <p:nvSpPr>
          <p:cNvPr id="30" name="Text 21"/>
          <p:cNvSpPr txBox="1"/>
          <p:nvPr/>
        </p:nvSpPr>
        <p:spPr>
          <a:xfrm>
            <a:off x="7580376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螢光、段落筆記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手動串聯並寫理由</a:t>
            </a:r>
            <a:endParaRPr lang="en-US" sz="1300" dirty="0"/>
          </a:p>
        </p:txBody>
      </p:sp>
      <p:pic>
        <p:nvPicPr>
          <p:cNvPr id="31" name="arrow-3" descr="arr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491740"/>
            <a:ext cx="219456" cy="219456"/>
          </a:xfrm>
          <a:prstGeom prst="rect">
            <a:avLst/>
          </a:prstGeom>
        </p:spPr>
      </p:pic>
      <p:sp>
        <p:nvSpPr>
          <p:cNvPr id="32" name="flow-4"/>
          <p:cNvSpPr/>
          <p:nvPr/>
        </p:nvSpPr>
        <p:spPr>
          <a:xfrm>
            <a:off x="9656064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</p:sp>
      <p:sp>
        <p:nvSpPr>
          <p:cNvPr id="33" name="icon-LuChartColumn-bg"/>
          <p:cNvSpPr/>
          <p:nvPr/>
        </p:nvSpPr>
        <p:spPr>
          <a:xfrm>
            <a:off x="9857232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con-LuChartColumn" descr="LuChartColum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57816" y="1874520"/>
            <a:ext cx="256032" cy="256032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10725912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5</a:t>
            </a:r>
            <a:endParaRPr lang="en-US" sz="1200" dirty="0"/>
          </a:p>
        </p:txBody>
      </p:sp>
      <p:sp>
        <p:nvSpPr>
          <p:cNvPr id="36" name="Text 25"/>
          <p:cNvSpPr txBox="1"/>
          <p:nvPr/>
        </p:nvSpPr>
        <p:spPr>
          <a:xfrm>
            <a:off x="9857232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查閱與決策</a:t>
            </a:r>
            <a:endParaRPr lang="en-US" sz="1600" dirty="0"/>
          </a:p>
        </p:txBody>
      </p:sp>
      <p:sp>
        <p:nvSpPr>
          <p:cNvPr id="37" name="Text 26"/>
          <p:cNvSpPr txBox="1"/>
          <p:nvPr/>
        </p:nvSpPr>
        <p:spPr>
          <a:xfrm>
            <a:off x="9857232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圖譜、問答、總覽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決定下一步讀什麼</a:t>
            </a:r>
            <a:endParaRPr lang="en-US" sz="1300" dirty="0"/>
          </a:p>
        </p:txBody>
      </p:sp>
      <p:sp>
        <p:nvSpPr>
          <p:cNvPr id="38" name="Text 27"/>
          <p:cNvSpPr txBox="1"/>
          <p:nvPr/>
        </p:nvSpPr>
        <p:spPr>
          <a:xfrm>
            <a:off x="548640" y="36758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四個工作區</a:t>
            </a:r>
            <a:endParaRPr lang="en-US" sz="1200" dirty="0"/>
          </a:p>
        </p:txBody>
      </p:sp>
      <p:sp>
        <p:nvSpPr>
          <p:cNvPr id="39" name="thumb-1a-frame"/>
          <p:cNvSpPr/>
          <p:nvPr/>
        </p:nvSpPr>
        <p:spPr>
          <a:xfrm>
            <a:off x="548640" y="4005072"/>
            <a:ext cx="2606040" cy="1628775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0" name="thumb-1a" descr="thumb-1a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4005072"/>
            <a:ext cx="2606040" cy="1628775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548640" y="5725287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1a 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閱讀器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　對照閱讀與標記</a:t>
            </a:r>
            <a:endParaRPr lang="en-US" sz="1400" dirty="0"/>
          </a:p>
        </p:txBody>
      </p:sp>
      <p:sp>
        <p:nvSpPr>
          <p:cNvPr id="42" name="thumb-1b-frame"/>
          <p:cNvSpPr/>
          <p:nvPr/>
        </p:nvSpPr>
        <p:spPr>
          <a:xfrm>
            <a:off x="3378098" y="4005072"/>
            <a:ext cx="2606040" cy="1628775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3" name="thumb-1b" descr="thumb-1b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78098" y="4005072"/>
            <a:ext cx="2606040" cy="1628775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3378098" y="5725287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1b 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關聯圖譜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　看論文之間的關係</a:t>
            </a:r>
            <a:endParaRPr lang="en-US" sz="1400" dirty="0"/>
          </a:p>
        </p:txBody>
      </p:sp>
      <p:sp>
        <p:nvSpPr>
          <p:cNvPr id="45" name="thumb-1c-frame"/>
          <p:cNvSpPr/>
          <p:nvPr/>
        </p:nvSpPr>
        <p:spPr>
          <a:xfrm>
            <a:off x="6207557" y="4005072"/>
            <a:ext cx="2606040" cy="1628775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6" name="thumb-1c" descr="thumb-1c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07557" y="4005072"/>
            <a:ext cx="2606040" cy="1628775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6207557" y="5725287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1c 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對話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　問整個文獻庫</a:t>
            </a:r>
            <a:endParaRPr lang="en-US" sz="1400" dirty="0"/>
          </a:p>
        </p:txBody>
      </p:sp>
      <p:sp>
        <p:nvSpPr>
          <p:cNvPr id="48" name="thumb-1d-frame"/>
          <p:cNvSpPr/>
          <p:nvPr/>
        </p:nvSpPr>
        <p:spPr>
          <a:xfrm>
            <a:off x="9037015" y="4005072"/>
            <a:ext cx="2606040" cy="1628775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9" name="thumb-1d" descr="thumb-1d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37015" y="4005072"/>
            <a:ext cx="2606040" cy="1628775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037015" y="5725287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1d 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總覽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　數字與圖表看全局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 1a　閱讀器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原文與中文並排，重點直接標在段落上</a:t>
            </a:r>
            <a:endParaRPr lang="en-US" sz="3200" dirty="0"/>
          </a:p>
        </p:txBody>
      </p:sp>
      <p:sp>
        <p:nvSpPr>
          <p:cNvPr id="4" name="reader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reader.png" descr="r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2852420" y="2717927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2852420" y="27179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1848612" y="473180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1848612" y="47318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5583174" y="2042287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5583174" y="204228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3386669" y="29702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3386669" y="29702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三種閱讀模式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對照、原文、中文一鍵切換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原文襯線字、中文無襯線字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點段落就能標記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黃藍兩色螢光、加筆記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或只重新翻譯這一段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右側串聯面板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列出引用了、被引用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以及共用關鍵詞的相關論文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引用與匯出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一鍵複製 APA、BibTeX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匯出 Google 文件、排入日曆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 1b　關聯圖譜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誰引用誰、誰和誰同主題，一張圖看清</a:t>
            </a:r>
            <a:endParaRPr lang="en-US" sz="3200" dirty="0"/>
          </a:p>
        </p:txBody>
      </p:sp>
      <p:sp>
        <p:nvSpPr>
          <p:cNvPr id="4" name="graph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graph.png" descr="gra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2586990" y="1854073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2586990" y="18540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2171192" y="521900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2171192" y="52190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2233930" y="3566097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2233930" y="356609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3918204" y="1854073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3918204" y="18540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三種關係可分別開關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共同關鍵詞（實線）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引用（點線）、手動串聯（虛線）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焦點與脈絡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選取的論文變深色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沒有關係的論文自動淡化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連線本身帶資訊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線越粗，共同關鍵詞越多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連線上標出引用方向與理由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依資料夾篩選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節點左側色條代表資料夾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顏色和總覽一致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 1c　AI 對話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問整個文獻庫，回答附上出處</a:t>
            </a:r>
            <a:endParaRPr lang="en-US" sz="3200" dirty="0"/>
          </a:p>
        </p:txBody>
      </p:sp>
      <p:sp>
        <p:nvSpPr>
          <p:cNvPr id="4" name="chat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chat.png" descr="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3651383" y="2181673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3651383" y="21816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5409438" y="183235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5409438" y="18323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1747266" y="1825117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1747266" y="182511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6418755" y="127355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6418755" y="12735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出處標籤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句末標出論文（如 He 2016）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點一下，右側就顯示原文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來源原文面板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中文、原文與你的螢光、筆記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並列在一起，方便查證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只根據你的文獻庫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也參考筆記、螢光與手動串聯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資料不足時會直說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可選 AI 服務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在「設定與備份」選 Claude 或 Gemini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自備的金鑰只存在自己的瀏覽器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 1d　文獻庫總覽（期中新增）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用數字與圖表決定下一步讀什麼</a:t>
            </a:r>
            <a:endParaRPr lang="en-US" sz="3200" dirty="0"/>
          </a:p>
        </p:txBody>
      </p:sp>
      <p:sp>
        <p:nvSpPr>
          <p:cNvPr id="4" name="dash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dash.png" descr="d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665480" y="2302627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665480" y="23026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665480" y="286306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665480" y="28630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3691382" y="286306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3691382" y="28630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665480" y="410335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665480" y="41033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5"/>
          <p:cNvSpPr/>
          <p:nvPr/>
        </p:nvSpPr>
        <p:spPr>
          <a:xfrm>
            <a:off x="3691382" y="410335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5-text"/>
          <p:cNvSpPr txBox="1"/>
          <p:nvPr/>
        </p:nvSpPr>
        <p:spPr>
          <a:xfrm>
            <a:off x="3691382" y="41033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6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257032" y="1572768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五個關鍵數字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257032" y="1920240"/>
            <a:ext cx="338602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篇數、翻譯進度、螢光、筆記、串聯</a:t>
            </a:r>
            <a:endParaRPr lang="en-US" sz="1400" dirty="0"/>
          </a:p>
        </p:txBody>
      </p:sp>
      <p:sp>
        <p:nvSpPr>
          <p:cNvPr id="20" name="marker-2"/>
          <p:cNvSpPr/>
          <p:nvPr/>
        </p:nvSpPr>
        <p:spPr>
          <a:xfrm>
            <a:off x="7818120" y="235915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marker-2-text"/>
          <p:cNvSpPr txBox="1"/>
          <p:nvPr/>
        </p:nvSpPr>
        <p:spPr>
          <a:xfrm>
            <a:off x="7818120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57032" y="2350008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出版年份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8257032" y="2697480"/>
            <a:ext cx="338602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文獻集中在哪幾年、缺了哪段時期</a:t>
            </a:r>
            <a:endParaRPr lang="en-US" sz="1400" dirty="0"/>
          </a:p>
        </p:txBody>
      </p:sp>
      <p:sp>
        <p:nvSpPr>
          <p:cNvPr id="24" name="marker-3"/>
          <p:cNvSpPr/>
          <p:nvPr/>
        </p:nvSpPr>
        <p:spPr>
          <a:xfrm>
            <a:off x="7818120" y="313639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marker-3-text"/>
          <p:cNvSpPr txBox="1"/>
          <p:nvPr/>
        </p:nvSpPr>
        <p:spPr>
          <a:xfrm>
            <a:off x="7818120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57032" y="3127248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資料夾組成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8257032" y="3474720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各主題占比與翻譯進度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點色塊即可篩選</a:t>
            </a:r>
            <a:endParaRPr lang="en-US" sz="1400" dirty="0"/>
          </a:p>
        </p:txBody>
      </p:sp>
      <p:sp>
        <p:nvSpPr>
          <p:cNvPr id="28" name="marker-4"/>
          <p:cNvSpPr/>
          <p:nvPr/>
        </p:nvSpPr>
        <p:spPr>
          <a:xfrm>
            <a:off x="7818120" y="416052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marker-4-text"/>
          <p:cNvSpPr txBox="1"/>
          <p:nvPr/>
        </p:nvSpPr>
        <p:spPr>
          <a:xfrm>
            <a:off x="781812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257032" y="4151376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熱門關鍵詞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257032" y="4498848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點選只看含這個關鍵詞的論文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可標示目前論文有的關鍵詞</a:t>
            </a:r>
            <a:endParaRPr lang="en-US" sz="1400" dirty="0"/>
          </a:p>
        </p:txBody>
      </p:sp>
      <p:sp>
        <p:nvSpPr>
          <p:cNvPr id="32" name="marker-5"/>
          <p:cNvSpPr/>
          <p:nvPr/>
        </p:nvSpPr>
        <p:spPr>
          <a:xfrm>
            <a:off x="7818120" y="518464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marker-5-text"/>
          <p:cNvSpPr txBox="1"/>
          <p:nvPr/>
        </p:nvSpPr>
        <p:spPr>
          <a:xfrm>
            <a:off x="7818120" y="5184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257032" y="5175504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閱讀進度表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8257032" y="5522976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翻譯最少的排最上面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直接看出先處理哪篇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支援功能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讓平台真的能用在日常研究</a:t>
            </a:r>
            <a:endParaRPr lang="en-US" sz="3200" dirty="0"/>
          </a:p>
        </p:txBody>
      </p:sp>
      <p:sp>
        <p:nvSpPr>
          <p:cNvPr id="4" name="support-0"/>
          <p:cNvSpPr/>
          <p:nvPr/>
        </p:nvSpPr>
        <p:spPr>
          <a:xfrm>
            <a:off x="548640" y="157276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5" name="icon-LuScanText-bg"/>
          <p:cNvSpPr/>
          <p:nvPr/>
        </p:nvSpPr>
        <p:spPr>
          <a:xfrm>
            <a:off x="777240" y="18013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ScanText" descr="LuScan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847" y="1905975"/>
            <a:ext cx="266273" cy="26627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7393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PDF 與掃描版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16712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自動分段並擷取參考文獻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掃描頁用 OCR 辨識英文與繁中</a:t>
            </a:r>
            <a:endParaRPr lang="en-US" sz="1400" dirty="0"/>
          </a:p>
        </p:txBody>
      </p:sp>
      <p:sp>
        <p:nvSpPr>
          <p:cNvPr id="9" name="support-1"/>
          <p:cNvSpPr/>
          <p:nvPr/>
        </p:nvSpPr>
        <p:spPr>
          <a:xfrm>
            <a:off x="4846320" y="157276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0" name="icon-LuFolderOpen-bg"/>
          <p:cNvSpPr/>
          <p:nvPr/>
        </p:nvSpPr>
        <p:spPr>
          <a:xfrm>
            <a:off x="5074920" y="18013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-LuFolderOpen" descr="LuFolde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527" y="1905975"/>
            <a:ext cx="266273" cy="26627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15000" y="177393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Google 雲端硬碟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715000" y="216712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直接搜尋並匯入雲端硬碟裡的 PDF</a:t>
            </a:r>
            <a:endParaRPr lang="en-US" sz="1400" dirty="0"/>
          </a:p>
        </p:txBody>
      </p:sp>
      <p:sp>
        <p:nvSpPr>
          <p:cNvPr id="14" name="support-2"/>
          <p:cNvSpPr/>
          <p:nvPr/>
        </p:nvSpPr>
        <p:spPr>
          <a:xfrm>
            <a:off x="548640" y="308152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5" name="icon-LuQuote-bg"/>
          <p:cNvSpPr/>
          <p:nvPr/>
        </p:nvSpPr>
        <p:spPr>
          <a:xfrm>
            <a:off x="777240" y="331012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-LuQuote" descr="LuQu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847" y="3414735"/>
            <a:ext cx="266273" cy="26627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32826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引用與匯出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417320" y="367588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APA、BibTeX、Google 日曆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Google 文件（含螢光與筆記）</a:t>
            </a:r>
            <a:endParaRPr lang="en-US" sz="1400" dirty="0"/>
          </a:p>
        </p:txBody>
      </p:sp>
      <p:sp>
        <p:nvSpPr>
          <p:cNvPr id="19" name="support-3"/>
          <p:cNvSpPr/>
          <p:nvPr/>
        </p:nvSpPr>
        <p:spPr>
          <a:xfrm>
            <a:off x="4846320" y="308152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0" name="icon-LuRefreshCw-bg"/>
          <p:cNvSpPr/>
          <p:nvPr/>
        </p:nvSpPr>
        <p:spPr>
          <a:xfrm>
            <a:off x="5074920" y="331012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-LuRefreshCw" descr="LuRefreshC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9527" y="3414735"/>
            <a:ext cx="266273" cy="26627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15000" y="32826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備份與同步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715000" y="367588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匯出 JSON 備份；用雲端硬碟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或 GitHub Gist 多裝置同步</a:t>
            </a:r>
            <a:endParaRPr lang="en-US" sz="1400" dirty="0"/>
          </a:p>
        </p:txBody>
      </p:sp>
      <p:sp>
        <p:nvSpPr>
          <p:cNvPr id="24" name="support-4"/>
          <p:cNvSpPr/>
          <p:nvPr/>
        </p:nvSpPr>
        <p:spPr>
          <a:xfrm>
            <a:off x="548640" y="459028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5" name="icon-LuBot-bg"/>
          <p:cNvSpPr/>
          <p:nvPr/>
        </p:nvSpPr>
        <p:spPr>
          <a:xfrm>
            <a:off x="777240" y="4818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-LuBot" descr="Lu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847" y="4923495"/>
            <a:ext cx="266273" cy="26627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417320" y="47914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服務可選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1417320" y="51846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Claude 或 Gemini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自備金鑰，或部署 Vercel 後端</a:t>
            </a:r>
            <a:endParaRPr lang="en-US" sz="1400" dirty="0"/>
          </a:p>
        </p:txBody>
      </p:sp>
      <p:sp>
        <p:nvSpPr>
          <p:cNvPr id="29" name="support-5"/>
          <p:cNvSpPr/>
          <p:nvPr/>
        </p:nvSpPr>
        <p:spPr>
          <a:xfrm>
            <a:off x="4846320" y="459028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30" name="icon-LuShieldCheck-bg"/>
          <p:cNvSpPr/>
          <p:nvPr/>
        </p:nvSpPr>
        <p:spPr>
          <a:xfrm>
            <a:off x="5074920" y="4818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con-LuShieldCheck" descr="LuShield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9527" y="4923495"/>
            <a:ext cx="266273" cy="26627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715000" y="47914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資料留在自己手上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5715000" y="51846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文獻庫存在自己的瀏覽器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Google 登入只取一小時有效的權杖</a:t>
            </a:r>
            <a:endParaRPr lang="en-US" sz="1400" dirty="0"/>
          </a:p>
        </p:txBody>
      </p:sp>
      <p:sp>
        <p:nvSpPr>
          <p:cNvPr id="34" name="mobile-frame"/>
          <p:cNvSpPr/>
          <p:nvPr/>
        </p:nvSpPr>
        <p:spPr>
          <a:xfrm>
            <a:off x="9463880" y="1572768"/>
            <a:ext cx="1859136" cy="402336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5" name="mobile" descr="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3880" y="1572768"/>
            <a:ext cx="1859136" cy="402336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098120" y="5669280"/>
            <a:ext cx="259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手機自動改為直式版面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強調重點資訊的設計 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顏色只做一件事：標出重點</a:t>
            </a:r>
            <a:endParaRPr lang="en-US" sz="3200" dirty="0"/>
          </a:p>
        </p:txBody>
      </p:sp>
      <p:sp>
        <p:nvSpPr>
          <p:cNvPr id="4" name="swatch-0"/>
          <p:cNvSpPr/>
          <p:nvPr/>
        </p:nvSpPr>
        <p:spPr>
          <a:xfrm>
            <a:off x="548640" y="1600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D1B18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5880" y="16002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墨色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788920" y="16002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主要文字、主要按鈕，以及「目前選取」的論文</a:t>
            </a:r>
            <a:endParaRPr lang="en-US" sz="1400" dirty="0"/>
          </a:p>
        </p:txBody>
      </p:sp>
      <p:sp>
        <p:nvSpPr>
          <p:cNvPr id="7" name="swatch-1"/>
          <p:cNvSpPr/>
          <p:nvPr/>
        </p:nvSpPr>
        <p:spPr>
          <a:xfrm>
            <a:off x="548640" y="23317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AF9F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25880" y="23317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紙色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3317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閱讀區底色，降低長時間閱讀的刺眼感</a:t>
            </a:r>
            <a:endParaRPr lang="en-US" sz="1400" dirty="0"/>
          </a:p>
        </p:txBody>
      </p:sp>
      <p:sp>
        <p:nvSpPr>
          <p:cNvPr id="10" name="swatch-2"/>
          <p:cNvSpPr/>
          <p:nvPr/>
        </p:nvSpPr>
        <p:spPr>
          <a:xfrm>
            <a:off x="548640" y="30632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0656B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25880" y="306324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青色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306324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唯一的強調色：AI、出處標籤、串聯、進度與圖表</a:t>
            </a:r>
            <a:endParaRPr lang="en-US" sz="1400" dirty="0"/>
          </a:p>
        </p:txBody>
      </p:sp>
      <p:sp>
        <p:nvSpPr>
          <p:cNvPr id="13" name="swatch-3"/>
          <p:cNvSpPr/>
          <p:nvPr/>
        </p:nvSpPr>
        <p:spPr>
          <a:xfrm>
            <a:off x="548640" y="379476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AECB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104" y="3794760"/>
            <a:ext cx="283464" cy="566928"/>
          </a:xfrm>
          <a:prstGeom prst="roundRect">
            <a:avLst>
              <a:gd name="adj" fmla="val 25806"/>
            </a:avLst>
          </a:prstGeom>
          <a:solidFill>
            <a:srgbClr val="C8F0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25880" y="37947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螢光黃／藍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788920" y="379476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只代表使用者自己標的重點，不拿來裝飾</a:t>
            </a:r>
            <a:endParaRPr lang="en-US" sz="1400" dirty="0"/>
          </a:p>
        </p:txBody>
      </p:sp>
      <p:sp>
        <p:nvSpPr>
          <p:cNvPr id="17" name="swatch-4"/>
          <p:cNvSpPr/>
          <p:nvPr/>
        </p:nvSpPr>
        <p:spPr>
          <a:xfrm>
            <a:off x="548640" y="452628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2A78D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0664" y="4526280"/>
            <a:ext cx="182880" cy="566928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" y="4526280"/>
            <a:ext cx="182880" cy="5669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325880" y="45262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資料夾色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2788920" y="45262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前 3 個資料夾各有固定顏色，改名、刪除、篩選都不換色</a:t>
            </a:r>
            <a:endParaRPr lang="en-US" sz="1400" dirty="0"/>
          </a:p>
        </p:txBody>
      </p:sp>
      <p:sp>
        <p:nvSpPr>
          <p:cNvPr id="22" name="swatch-5"/>
          <p:cNvSpPr/>
          <p:nvPr/>
        </p:nvSpPr>
        <p:spPr>
          <a:xfrm>
            <a:off x="548640" y="52578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CDC7BB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25880" y="5257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灰色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2788920" y="52578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非焦點的背景脈絡：淡化節點、其他論文的關鍵詞</a:t>
            </a:r>
            <a:endParaRPr lang="en-US" sz="1400" dirty="0"/>
          </a:p>
        </p:txBody>
      </p:sp>
      <p:sp>
        <p:nvSpPr>
          <p:cNvPr id="25" name="principle"/>
          <p:cNvSpPr/>
          <p:nvPr/>
        </p:nvSpPr>
        <p:spPr>
          <a:xfrm>
            <a:off x="7818120" y="1600200"/>
            <a:ext cx="3824935" cy="2331720"/>
          </a:xfrm>
          <a:prstGeom prst="roundRect">
            <a:avLst>
              <a:gd name="adj" fmla="val 3922"/>
            </a:avLst>
          </a:prstGeom>
          <a:solidFill>
            <a:schemeClr val="tx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138160" y="1783080"/>
            <a:ext cx="3184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強調色用得越少，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出現時越像重點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138160" y="278892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bg2"/>
                </a:solidFill>
              </a:rPr>
              <a:t>整個介面只有一個強調色，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bg2"/>
                </a:solidFill>
              </a:rPr>
              <a:t>只用在 AI 內容、可以點的連結、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bg2"/>
                </a:solidFill>
              </a:rPr>
              <a:t>進度與圖表資料。</a:t>
            </a:r>
            <a:endParaRPr lang="en-US" sz="1400" dirty="0"/>
          </a:p>
        </p:txBody>
      </p:sp>
      <p:sp>
        <p:nvSpPr>
          <p:cNvPr id="28" name="cvd-stat"/>
          <p:cNvSpPr/>
          <p:nvPr/>
        </p:nvSpPr>
        <p:spPr>
          <a:xfrm>
            <a:off x="7818120" y="4114800"/>
            <a:ext cx="3824935" cy="1709928"/>
          </a:xfrm>
          <a:prstGeom prst="roundRect">
            <a:avLst>
              <a:gd name="adj" fmla="val 5348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92440" y="4224528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9.2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0" y="4297680"/>
            <a:ext cx="2270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色盲模擬下，任兩個資料夾色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的最小色差（ΔE），門檻 8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138160" y="5074920"/>
            <a:ext cx="3184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用程式模擬紅綠色盲計算，不靠目測；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對比不足的淺色一律搭配文字標籤。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強調重點資訊的設計 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圖譜：每一種視覺變化都對應一種資訊</a:t>
            </a:r>
            <a:endParaRPr lang="en-US" sz="3200" dirty="0"/>
          </a:p>
        </p:txBody>
      </p:sp>
      <p:graphicFrame>
        <p:nvGraphicFramePr>
          <p:cNvPr id="12" name="encodin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9494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743200"/>
                <a:gridCol w="28803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視覺變化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代表的資訊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為什麼這樣設計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線型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關係類型（關鍵詞、引用、手動）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不只靠顏色，黑白列印也分得出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線條粗細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共同關鍵詞的數量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重疊越多，線越粗、越先被看到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深色節點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目前選取的論文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唯一的深色塊，視線第一個落點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淡化節點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與選取論文無關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保留全貌，但退到背景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左側色條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所屬資料夾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與總覽使用同一組顏色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連線標籤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引用方向、串聯理由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只標選取論文的連線，減少雜訊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graph-small-frame"/>
          <p:cNvSpPr/>
          <p:nvPr/>
        </p:nvSpPr>
        <p:spPr>
          <a:xfrm>
            <a:off x="7818120" y="1600200"/>
            <a:ext cx="3824935" cy="2390585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6" name="graph-small" descr="graph-sm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600200"/>
            <a:ext cx="3824935" cy="239058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818120" y="4114800"/>
            <a:ext cx="3824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三種線型</a:t>
            </a:r>
            <a:endParaRPr lang="en-US" sz="1200" dirty="0"/>
          </a:p>
        </p:txBody>
      </p:sp>
      <p:sp>
        <p:nvSpPr>
          <p:cNvPr id="8" name="legend-line-0"/>
          <p:cNvSpPr/>
          <p:nvPr/>
        </p:nvSpPr>
        <p:spPr>
          <a:xfrm>
            <a:off x="7818120" y="4617720"/>
            <a:ext cx="1005840" cy="0"/>
          </a:xfrm>
          <a:prstGeom prst="line">
            <a:avLst/>
          </a:prstGeom>
          <a:noFill/>
          <a:ln w="38100">
            <a:solidFill>
              <a:srgbClr val="BDB6A9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006840" y="448056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共同關鍵詞</a:t>
            </a:r>
            <a:endParaRPr lang="en-US" sz="1400" dirty="0"/>
          </a:p>
        </p:txBody>
      </p:sp>
      <p:sp>
        <p:nvSpPr>
          <p:cNvPr id="10" name="legend-line-1"/>
          <p:cNvSpPr/>
          <p:nvPr/>
        </p:nvSpPr>
        <p:spPr>
          <a:xfrm>
            <a:off x="7818120" y="4960620"/>
            <a:ext cx="1005840" cy="0"/>
          </a:xfrm>
          <a:prstGeom prst="line">
            <a:avLst/>
          </a:prstGeom>
          <a:noFill/>
          <a:ln w="19050">
            <a:solidFill>
              <a:srgbClr val="1D1B18"/>
            </a:solidFill>
            <a:prstDash val="sysDot"/>
          </a:ln>
        </p:spPr>
      </p:sp>
      <p:sp>
        <p:nvSpPr>
          <p:cNvPr id="11" name="Text 7"/>
          <p:cNvSpPr txBox="1"/>
          <p:nvPr/>
        </p:nvSpPr>
        <p:spPr>
          <a:xfrm>
            <a:off x="9006840" y="482346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引用</a:t>
            </a:r>
            <a:endParaRPr lang="en-US" sz="1400" dirty="0"/>
          </a:p>
        </p:txBody>
      </p:sp>
      <p:sp>
        <p:nvSpPr>
          <p:cNvPr id="12" name="legend-line-2"/>
          <p:cNvSpPr/>
          <p:nvPr/>
        </p:nvSpPr>
        <p:spPr>
          <a:xfrm>
            <a:off x="7818120" y="5303520"/>
            <a:ext cx="1005840" cy="0"/>
          </a:xfrm>
          <a:prstGeom prst="line">
            <a:avLst/>
          </a:prstGeom>
          <a:noFill/>
          <a:ln w="25400">
            <a:solidFill>
              <a:srgbClr val="00656B"/>
            </a:solidFill>
            <a:prstDash val="dash"/>
          </a:ln>
        </p:spPr>
      </p:sp>
      <p:sp>
        <p:nvSpPr>
          <p:cNvPr id="13" name="Text 9"/>
          <p:cNvSpPr txBox="1"/>
          <p:nvPr/>
        </p:nvSpPr>
        <p:spPr>
          <a:xfrm>
            <a:off x="9006840" y="516636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手動串聯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強調重點資訊的設計 ③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總覽與閱讀器：讓重點自己跳出來</a:t>
            </a:r>
            <a:endParaRPr lang="en-US" sz="3200" dirty="0"/>
          </a:p>
        </p:txBody>
      </p:sp>
      <p:sp>
        <p:nvSpPr>
          <p:cNvPr id="4" name="tip-bg-0"/>
          <p:cNvSpPr/>
          <p:nvPr/>
        </p:nvSpPr>
        <p:spPr>
          <a:xfrm>
            <a:off x="548640" y="1572768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pic>
        <p:nvPicPr>
          <p:cNvPr id="5" name="tip-img-0" descr="強調，而不是全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5509" y="1664208"/>
            <a:ext cx="2066942" cy="1280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10896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強調，而不是全彩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43814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按下「標示」後，只有目前這篇的關鍵詞是青色，其他灰色</a:t>
            </a:r>
            <a:endParaRPr lang="en-US" sz="1400" dirty="0"/>
          </a:p>
        </p:txBody>
      </p:sp>
      <p:sp>
        <p:nvSpPr>
          <p:cNvPr id="8" name="tip-bg-1"/>
          <p:cNvSpPr/>
          <p:nvPr/>
        </p:nvSpPr>
        <p:spPr>
          <a:xfrm>
            <a:off x="6202375" y="1572768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pic>
        <p:nvPicPr>
          <p:cNvPr id="9" name="tip-img-1" descr="排序就是建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9244" y="1664208"/>
            <a:ext cx="2066942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202375" y="310896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排序就是建議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202375" y="343814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翻譯最少的論文排最上面，不必自己比較</a:t>
            </a:r>
            <a:endParaRPr lang="en-US" sz="1400" dirty="0"/>
          </a:p>
        </p:txBody>
      </p:sp>
      <p:sp>
        <p:nvSpPr>
          <p:cNvPr id="12" name="tip-bg-2"/>
          <p:cNvSpPr/>
          <p:nvPr/>
        </p:nvSpPr>
        <p:spPr>
          <a:xfrm>
            <a:off x="548640" y="3813048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pic>
        <p:nvPicPr>
          <p:cNvPr id="13" name="tip-img-2" descr="數字直接標在圖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120" y="3904488"/>
            <a:ext cx="3177720" cy="12801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" y="53492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數字直接標在圖上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67842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長條標數值、年份圖有刻度，提示框只補充論文清單</a:t>
            </a:r>
            <a:endParaRPr lang="en-US" sz="1400" dirty="0"/>
          </a:p>
        </p:txBody>
      </p:sp>
      <p:sp>
        <p:nvSpPr>
          <p:cNvPr id="16" name="tip-bg-3"/>
          <p:cNvSpPr/>
          <p:nvPr/>
        </p:nvSpPr>
        <p:spPr>
          <a:xfrm>
            <a:off x="6202375" y="3813048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pic>
        <p:nvPicPr>
          <p:cNvPr id="17" name="tip-img-3" descr="字體分工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0773" y="3904488"/>
            <a:ext cx="3823885" cy="12801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202375" y="53492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字體分工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202375" y="567842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襯線＝標題與原文，無襯線＝介面與譯文，等寬＝關鍵詞與數據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期中成果與期末方向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期中完成四個工作區，期末加上 Chrome 插件</a:t>
            </a:r>
            <a:endParaRPr lang="en-US" sz="3200" dirty="0"/>
          </a:p>
        </p:txBody>
      </p:sp>
      <p:sp>
        <p:nvSpPr>
          <p:cNvPr id="4" name="done"/>
          <p:cNvSpPr/>
          <p:nvPr/>
        </p:nvSpPr>
        <p:spPr>
          <a:xfrm>
            <a:off x="548640" y="1572768"/>
            <a:ext cx="4937760" cy="438912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556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期中已完成</a:t>
            </a:r>
            <a:endParaRPr lang="en-US" sz="1300" dirty="0"/>
          </a:p>
        </p:txBody>
      </p:sp>
      <p:pic>
        <p:nvPicPr>
          <p:cNvPr id="6" name="check-0" descr="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494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212848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四個工作區：閱讀器、關聯圖譜、AI 對話，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以及新增的文獻庫總覽</a:t>
            </a:r>
            <a:endParaRPr lang="en-US" sz="1400" dirty="0"/>
          </a:p>
        </p:txBody>
      </p:sp>
      <p:pic>
        <p:nvPicPr>
          <p:cNvPr id="8" name="check-1" descr="d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4553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310896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匯入：PDF、掃描版 OCR、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Google 雲端硬碟、貼上文字</a:t>
            </a:r>
            <a:endParaRPr lang="en-US" sz="1400" dirty="0"/>
          </a:p>
        </p:txBody>
      </p:sp>
      <p:pic>
        <p:nvPicPr>
          <p:cNvPr id="10" name="check-2" descr="d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4164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400507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輸出與同步：APA／BibTeX、Google 文件、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雲端硬碟或 Gist 同步</a:t>
            </a:r>
            <a:endParaRPr lang="en-US" sz="1400" dirty="0"/>
          </a:p>
        </p:txBody>
      </p:sp>
      <p:pic>
        <p:nvPicPr>
          <p:cNvPr id="12" name="check-3" descr="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93776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34440" y="4901184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手機單欄版面；資料夾顏色經色盲驗證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5806440" y="1755648"/>
            <a:ext cx="5836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期末方向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5806440" y="2212848"/>
            <a:ext cx="100584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806440" y="221284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主目標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995160" y="2194560"/>
            <a:ext cx="4647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收集器插件＋可安裝網站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6995160" y="2615184"/>
            <a:ext cx="4647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在任何網頁按一下，就把論文或 PDF 送進論憶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網站可安裝成獨立視窗的 App，離線也能開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806440" y="347472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806440" y="3474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加強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6995160" y="3456432"/>
            <a:ext cx="4647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視覺化與決策分析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995160" y="3877056"/>
            <a:ext cx="4647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省下改寫的時間，投入圖表與決策輔助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例如主題隨年份的演變、引用網路分析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806440" y="473659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806440" y="473659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延伸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6995160" y="4718304"/>
            <a:ext cx="4647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完整的側邊欄插件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995160" y="5138928"/>
            <a:ext cx="4647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網站改寫成 Vite＋React 後產出側邊欄插件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時間足夠再做，否則留到寒假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574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謝謝聆聽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歡迎現場試用：開啟網站，內建 4 篇示範論文</a:t>
            </a:r>
            <a:endParaRPr lang="en-US" sz="1800" dirty="0"/>
          </a:p>
        </p:txBody>
      </p:sp>
      <p:sp>
        <p:nvSpPr>
          <p:cNvPr id="4" name="qr-bg"/>
          <p:cNvSpPr/>
          <p:nvPr/>
        </p:nvSpPr>
        <p:spPr>
          <a:xfrm>
            <a:off x="8366760" y="1554480"/>
            <a:ext cx="31089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pic>
        <p:nvPicPr>
          <p:cNvPr id="5" name="qr" descr="網站 QR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600200"/>
            <a:ext cx="3017520" cy="3017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49240" y="48006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charleslin2003-prog.github.io/Journal-Article-Memory-Tool/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>
                    <a:alpha val="80000"/>
                  </a:schemeClr>
                </a:solidFill>
              </a:rPr>
              <a:t>設計者　林永欽　·　視覺化分析與決策應用設計（2026 秋）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nyi">
  <a:themeElements>
    <a:clrScheme name="Lunyi">
      <a:dk1>
        <a:srgbClr val="1D1B18"/>
      </a:dk1>
      <a:lt1>
        <a:srgbClr val="FFFFFF"/>
      </a:lt1>
      <a:dk2>
        <a:srgbClr val="625D55"/>
      </a:dk2>
      <a:lt2>
        <a:srgbClr val="F4F2ED"/>
      </a:lt2>
      <a:accent1>
        <a:srgbClr val="00656B"/>
      </a:accent1>
      <a:accent2>
        <a:srgbClr val="2A78D6"/>
      </a:accent2>
      <a:accent3>
        <a:srgbClr val="EB6834"/>
      </a:accent3>
      <a:accent4>
        <a:srgbClr val="FAECB6"/>
      </a:accent4>
      <a:accent5>
        <a:srgbClr val="E2DDD3"/>
      </a:accent5>
      <a:accent6>
        <a:srgbClr val="FAF9F6"/>
      </a:accent6>
      <a:hlink>
        <a:srgbClr val="00656B"/>
      </a:hlink>
      <a:folHlink>
        <a:srgbClr val="004A50"/>
      </a:folHlink>
    </a:clrScheme>
    <a:fontScheme name="Lunyi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論憶：期刊論文記憶庫 期中報告</dc:title>
  <dc:subject>視覺化分析與決策應用設計（2026 秋）期中報告</dc:subject>
  <dc:creator>林永欽</dc:creator>
  <cp:lastModifiedBy>林永欽</cp:lastModifiedBy>
  <cp:revision>1</cp:revision>
  <dcterms:created xsi:type="dcterms:W3CDTF">2026-10-22T03:46:30Z</dcterms:created>
  <dcterms:modified xsi:type="dcterms:W3CDTF">2026-10-22T03:46:30Z</dcterms:modified>
</cp:coreProperties>
</file>