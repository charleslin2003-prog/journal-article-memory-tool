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89aa473a-a67b-9de2-9b24-55b80794a701}">
          <p14:sldIdLst>
            <p14:sldId id="256"/>
          </p14:sldIdLst>
        </p14:section>
        <p14:section name="開始之前" id="{0eeeff49-739e-5423-adb5-b232ea8db829}">
          <p14:sldIdLst>
            <p14:sldId id="257"/>
            <p14:sldId id="258"/>
          </p14:sldIdLst>
        </p14:section>
        <p14:section name="A. 開放 Google 登入" id="{f49d12d5-efff-5d0f-e3dc-f93070e5cc8a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B. 用 Claude（Max 額度）" id="{7bf938ab-7e01-da63-90cb-c23d6336ee75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. 改用免費的 Gemini" id="{2093870d-b8d3-1d53-a884-f2bf2f208255}">
          <p14:sldIdLst>
            <p14:sldId id="275"/>
          </p14:sldIdLst>
        </p14:section>
        <p14:section name="問題與檢查" id="{e83d7e26-85cd-9f19-4b1a-e40309cd8f65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這份手冊給論憶的網站管理者，說明開放 Google 登入與提供 AI 給所有使用者時，每一步要到哪個網站、貼上什麼、按哪個按鈕。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管理者要做的事分成三件。A 開放 Google 登入是必做；B 用 Claude AI 是建議，費用由 Claude Max 方案附送的 API 額度支付，不用另外付錢；C 是不用 Claude 時改用免費 Gemini 的替代方案。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開始前準備好 Google 帳號、測試名單和 Claude Max 方案，不用信用卡；用接法 2 的話，再準備 Vercel 權限和自訂的存取碼。Google 的用戶端密鑰與 Anthropic 金鑰都不能外流：Anthropic 金鑰只貼進自己電腦上的論憶（接法 1）或 Vercel（接法 2）；用戶端 ID 可以公開。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先在 Google Cloud 建立一個專案，再到 API 程式庫啟用 Google Drive API 和 Google Calendar API。雲端硬碟同步、匯入 PDF、匯出文件和排入日曆都靠這兩個 API。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以前叫「OAuth 同意畫面」的設定，現在搬到「Google Auth Platform」。第一次進去按「開始使用」，依序填應用程式名稱、支援信箱、目標對象選外部、聯絡信箱，最後同意使用者資料政策並建立。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登入在測試中時，只有測試使用者名單上的人能登入，最多 100 位。把自己、老師和要展示的同學加進去。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建立用戶端時，類型選網頁應用程式，JavaScript 來源貼上 Vercel 網址和 GitHub Pages 的網域，不要加路徑和結尾斜線；重新導向 URI 留空。建立後複製用戶端 ID。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先在自己的瀏覽器試用：在登入視窗按灰色的繼續使用 Google，出現紅色提示後點「我是網站管理者」，會打開設定的進階頁，把用戶端 ID 貼進 Google OAuth 用戶端 ID 欄位並儲存。這只影響這台瀏覽器。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A5 的同一個瀏覽器確認登入成功後，把用戶端 ID 寫進 src/app.html 的 GOOGLE_CLIENT_ID 並發布；發布後用無痕視窗再測一次，確認所有人的登入按鈕都開放了。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課堂展示建議維持測試中，把老師和同學加進測試名單即可。要公開給所有人才按發布；只用基本權限不必送審，但匯入 PDF 與排入日曆屬於受限與敏感權限，通過驗證前會跳出警告。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部分有兩種接法。只有自己用的話選接法 1：建好金鑰後直接貼進論憶，不用設定 Vercel。要讓老師同學也用你的額度，才做接法 2 的網站後端。兩種都從 Max 方案附送的 API 額度扣，用完只會暫停，不會額外收費。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 20x 方案每月附 200 美元的 API 額度。到 claude.ai 的 Settings、Billing，在 API credits 按 Link organization 綁定一個 Claude Console 組織，額度就會出現在 Console 的 Billing 頁。建議綁定時建立新組織；之後用和 claude.ai 同一個 Email 登入 Console，確認 Billing 看得到 Promotional credits 再建立工作區和金鑰。不用綁信用卡；不加購、確認 auto-reload 是關的，用完只會暫停，不會扣款。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API keys 建立金鑰，工作區一定要選 lunyi，否則會被拒絕。期限建議選 Never。金鑰只顯示一次，複製後接法 1 貼進論憶，接法 2 貼到 Vercel。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只有自己用的話，把 B2 建好的金鑰貼進論憶設定與備份的進階頁，Anthropic Claude 金鑰欄位，按儲存並使用 Claude。看到已驗證就完成，不用設定 Vercel。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Vercel 專案的 Environment Variables 新增兩個變數：ANTHROPIC_API_KEY 放 Claude 金鑰，LUNYI_ACCESS_CODE 放自己訂的存取碼。類型選 Secret，環境選 Production。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加了環境變數之後要重新部署：到 Deployments 找最新一筆 Production，按三個點選 Redeploy。完成後打開 /api/claude，看到 POST only 就代表後端已經開啟。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在論憶的設定與備份、進階頁，Anthropic Claude 金鑰卡片裡金鑰欄留空，只在網站存取碼填入存取碼，按儲存並使用 Claude。看到已儲存存取碼就完成了。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確認方式：右上角顯示網站後端 AI；新增論文視窗會寫由 AI 自動辨識；關鍵詞欄留空儲存後，到編輯資訊看關鍵詞是否已自動填好；最後用無痕視窗確認不輸入存取碼時會被擋下。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這一頁可以直接發給使用者：打開 Vercel 網址，到設定與備份的進階頁，金鑰欄留空，填入管理者給的存取碼，按儲存並使用 Claude。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只想自己用的話，到 Google AI Studio 免費取得 Gemini 金鑰，貼到論憶進階頁的 Gemini 卡片，模型名稱留空，按儲存並使用 Gemini。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常見問題：登入按鈕灰色、origin_mismatch、帳號不在測試名單、後端沒生效、金鑰建錯組織、附送額度用完或到達每月上限、金鑰沒選工作區、存取碼錯誤、用了 GitHub Pages 網址或瀏覽器存了個人金鑰、Gemini 模型名稱過時。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最後用這張檢查表確認每一步都完成。之後每個月看一次用量；金鑰外流就停用並換新。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D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035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論憶｜管理者操作手冊</a:t>
            </a:r>
            <a:endParaRPr lang="zh-TW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al"/>
          <p:cNvSpPr/>
          <p:nvPr/>
        </p:nvSpPr>
        <p:spPr>
          <a:xfrm>
            <a:off x="731520" y="868680"/>
            <a:ext cx="868680" cy="868680"/>
          </a:xfrm>
          <a:prstGeom prst="roundRect">
            <a:avLst>
              <a:gd name="adj" fmla="val 14737"/>
            </a:avLst>
          </a:prstGeom>
          <a:solidFill>
            <a:schemeClr val="accent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4000" b="1" dirty="0">
                <a:solidFill>
                  <a:schemeClr val="tx1"/>
                </a:solidFill>
              </a:rPr>
              <a:t>論</a:t>
            </a:r>
            <a:endParaRPr lang="zh-TW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4000" b="1" dirty="0">
                <a:solidFill>
                  <a:schemeClr val="bg1"/>
                </a:solidFill>
              </a:rPr>
              <a:t>論憶 管理者操作手冊</a:t>
            </a:r>
            <a:endParaRPr lang="zh-TW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429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開放 Google 登入、讓 AI 自動建立關聯圖譜：要貼什麼、貼到哪裡、要按什麼</a:t>
            </a:r>
            <a:endParaRPr lang="zh-TW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bg2">
                    <a:alpha val="75000"/>
                  </a:schemeClr>
                </a:solidFill>
              </a:rPr>
              <a:t>網站</a:t>
            </a:r>
            <a:endParaRPr lang="zh-TW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46177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journal-article-memory-tool.vercel.app</a:t>
            </a:r>
            <a:endParaRPr lang="zh-TW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200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bg2">
                    <a:alpha val="75000"/>
                  </a:schemeClr>
                </a:solidFill>
              </a:rPr>
              <a:t>對象</a:t>
            </a:r>
            <a:endParaRPr lang="zh-TW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50200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網站管理者（林永欽）</a:t>
            </a:r>
            <a:endParaRPr lang="zh-TW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4223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bg2">
                    <a:alpha val="75000"/>
                  </a:schemeClr>
                </a:solidFill>
              </a:rPr>
              <a:t>更新</a:t>
            </a:r>
            <a:endParaRPr lang="zh-TW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54223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2026-10-25</a:t>
            </a:r>
            <a:endParaRPr lang="zh-TW" sz="1600" dirty="0"/>
          </a:p>
        </p:txBody>
      </p:sp>
      <p:sp>
        <p:nvSpPr>
          <p:cNvPr id="12" name="cover-login-frame"/>
          <p:cNvSpPr/>
          <p:nvPr/>
        </p:nvSpPr>
        <p:spPr>
          <a:xfrm>
            <a:off x="7498080" y="822960"/>
            <a:ext cx="4023360" cy="4310743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3" name="cover-login" descr="cover-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822960"/>
            <a:ext cx="4023360" cy="43107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總覽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管理者要做的三件事，照 A → B 的順序做</a:t>
            </a:r>
            <a:endParaRPr lang="zh-TW" sz="2800" dirty="0"/>
          </a:p>
        </p:txBody>
      </p:sp>
      <p:sp>
        <p:nvSpPr>
          <p:cNvPr id="4" name="card-A"/>
          <p:cNvSpPr/>
          <p:nvPr/>
        </p:nvSpPr>
        <p:spPr>
          <a:xfrm>
            <a:off x="548640" y="1508760"/>
            <a:ext cx="35204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5" name="icon-LuLogIn-bg"/>
          <p:cNvSpPr/>
          <p:nvPr/>
        </p:nvSpPr>
        <p:spPr>
          <a:xfrm>
            <a:off x="804672" y="17647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LogIn" descr="Lu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885493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78308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A. 開放 Google 登入</a:t>
            </a:r>
            <a:endParaRPr lang="zh-TW" sz="1800" dirty="0"/>
          </a:p>
        </p:txBody>
      </p:sp>
      <p:sp>
        <p:nvSpPr>
          <p:cNvPr id="8" name="Shape 5"/>
          <p:cNvSpPr/>
          <p:nvPr/>
        </p:nvSpPr>
        <p:spPr>
          <a:xfrm>
            <a:off x="3291840" y="1618488"/>
            <a:ext cx="621792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61848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bg1"/>
                </a:solidFill>
              </a:rPr>
              <a:t>必做</a:t>
            </a:r>
            <a:endParaRPr lang="zh-TW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146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要做什麼</a:t>
            </a:r>
            <a:endParaRPr lang="zh-TW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788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Google Cloud 建立用戶端 ID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→ 在論憶先試用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→ 寫進程式並發布</a:t>
            </a:r>
            <a:endParaRPr lang="zh-TW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840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完成後</a:t>
            </a:r>
            <a:endParaRPr lang="zh-TW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114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測試名單上的人都能用「繼續使用 Google」登入，同步雲端硬碟、匯出文件（開放給所有人見 A7）。</a:t>
            </a:r>
            <a:endParaRPr lang="zh-TW" sz="1300" dirty="0"/>
          </a:p>
        </p:txBody>
      </p:sp>
      <p:sp>
        <p:nvSpPr>
          <p:cNvPr id="14" name="card-B"/>
          <p:cNvSpPr/>
          <p:nvPr/>
        </p:nvSpPr>
        <p:spPr>
          <a:xfrm>
            <a:off x="4261104" y="1508760"/>
            <a:ext cx="35204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5" name="icon-LuSparkles-bg"/>
          <p:cNvSpPr/>
          <p:nvPr/>
        </p:nvSpPr>
        <p:spPr>
          <a:xfrm>
            <a:off x="4517136" y="17647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LuSparkles" descr="Lu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837" y="1885493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93792" y="178308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B. 用 Claude AI</a:t>
            </a:r>
            <a:endParaRPr lang="zh-TW" sz="1800" dirty="0"/>
          </a:p>
        </p:txBody>
      </p:sp>
      <p:sp>
        <p:nvSpPr>
          <p:cNvPr id="18" name="Shape 14"/>
          <p:cNvSpPr/>
          <p:nvPr/>
        </p:nvSpPr>
        <p:spPr>
          <a:xfrm>
            <a:off x="7004304" y="1618488"/>
            <a:ext cx="621792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004304" y="161848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bg1"/>
                </a:solidFill>
              </a:rPr>
              <a:t>建議</a:t>
            </a:r>
            <a:endParaRPr lang="zh-TW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4535424" y="25146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要做什麼</a:t>
            </a:r>
            <a:endParaRPr lang="zh-TW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35424" y="2788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claude.ai 綁定 Max 附送的 API 額度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→ Claude Console 建立金鑰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→ 貼進論憶（只有自己用）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　或設定 Vercel 後端（給別人用）</a:t>
            </a:r>
            <a:endParaRPr lang="zh-TW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535424" y="3840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完成後</a:t>
            </a:r>
            <a:endParaRPr lang="zh-TW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535424" y="4114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新增論文時 AI 自動產生關鍵詞，關聯圖譜自動連線；不用另外付費。</a:t>
            </a:r>
            <a:endParaRPr lang="zh-TW" sz="1300" dirty="0"/>
          </a:p>
        </p:txBody>
      </p:sp>
      <p:sp>
        <p:nvSpPr>
          <p:cNvPr id="24" name="card-C"/>
          <p:cNvSpPr/>
          <p:nvPr/>
        </p:nvSpPr>
        <p:spPr>
          <a:xfrm>
            <a:off x="7973568" y="1508760"/>
            <a:ext cx="35204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25" name="icon-LuKeyRound-bg"/>
          <p:cNvSpPr/>
          <p:nvPr/>
        </p:nvSpPr>
        <p:spPr>
          <a:xfrm>
            <a:off x="8229600" y="17647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LuKeyRound" descr="LuKeyRou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301" y="1885493"/>
            <a:ext cx="307238" cy="30723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906256" y="178308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C. 改用免費的 Gemini</a:t>
            </a:r>
            <a:endParaRPr lang="zh-TW" sz="1800" dirty="0"/>
          </a:p>
        </p:txBody>
      </p:sp>
      <p:sp>
        <p:nvSpPr>
          <p:cNvPr id="28" name="Shape 23"/>
          <p:cNvSpPr/>
          <p:nvPr/>
        </p:nvSpPr>
        <p:spPr>
          <a:xfrm>
            <a:off x="10716768" y="1618488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8A19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0716768" y="161848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tx2"/>
                </a:solidFill>
              </a:rPr>
              <a:t>選用</a:t>
            </a:r>
            <a:endParaRPr lang="zh-TW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8247888" y="25146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要做什麼</a:t>
            </a:r>
            <a:endParaRPr lang="zh-TW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247888" y="2788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Google AI Studio 取得免費金鑰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→ 貼到論憶的「進階」</a:t>
            </a:r>
            <a:endParaRPr lang="zh-TW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8247888" y="3840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完成後</a:t>
            </a:r>
            <a:endParaRPr lang="zh-TW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247888" y="4114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不用 Claude 時的替代方案；免費版的內容可能被 Google 用來改進產品。</a:t>
            </a:r>
            <a:endParaRPr lang="zh-TW" sz="1300" dirty="0"/>
          </a:p>
        </p:txBody>
      </p:sp>
      <p:sp>
        <p:nvSpPr>
          <p:cNvPr id="34" name="Shape 29"/>
          <p:cNvSpPr/>
          <p:nvPr/>
        </p:nvSpPr>
        <p:spPr>
          <a:xfrm>
            <a:off x="548640" y="5102352"/>
            <a:ext cx="548640" cy="292608"/>
          </a:xfrm>
          <a:prstGeom prst="roundRect">
            <a:avLst>
              <a:gd name="adj" fmla="val 15625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207008" y="51023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橘框＝要點或要填的地方</a:t>
            </a:r>
            <a:endParaRPr lang="zh-TW" sz="1200" dirty="0"/>
          </a:p>
        </p:txBody>
      </p:sp>
      <p:sp>
        <p:nvSpPr>
          <p:cNvPr id="36" name="Shape 31"/>
          <p:cNvSpPr/>
          <p:nvPr/>
        </p:nvSpPr>
        <p:spPr>
          <a:xfrm>
            <a:off x="3749040" y="5102352"/>
            <a:ext cx="548640" cy="292608"/>
          </a:xfrm>
          <a:prstGeom prst="roundRect">
            <a:avLst>
              <a:gd name="adj" fmla="val 15625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4407408" y="51023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黃底＝要填的內容：標「貼上」的照原樣貼，標「</a:t>
            </a:r>
            <a:pPr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換成你的</a:t>
            </a:r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」的是範例，改成自己的值</a:t>
            </a:r>
            <a:endParaRPr lang="zh-TW" sz="1200" dirty="0"/>
          </a:p>
        </p:txBody>
      </p:sp>
      <p:sp>
        <p:nvSpPr>
          <p:cNvPr id="38" name="tag-real"/>
          <p:cNvSpPr/>
          <p:nvPr/>
        </p:nvSpPr>
        <p:spPr>
          <a:xfrm>
            <a:off x="548640" y="5550408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48640" y="55504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實際畫面</a:t>
            </a:r>
            <a:endParaRPr lang="zh-TW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1508760" y="5532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論憶的截圖</a:t>
            </a:r>
            <a:endParaRPr lang="zh-TW" sz="1200" dirty="0"/>
          </a:p>
        </p:txBody>
      </p:sp>
      <p:sp>
        <p:nvSpPr>
          <p:cNvPr id="41" name="tag-mock"/>
          <p:cNvSpPr/>
          <p:nvPr/>
        </p:nvSpPr>
        <p:spPr>
          <a:xfrm>
            <a:off x="2514600" y="5550408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2514600" y="55504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3"/>
                </a:solidFill>
              </a:rPr>
              <a:t>示意圖・依官方文件整理</a:t>
            </a:r>
            <a:endParaRPr lang="zh-TW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4434840" y="5495544"/>
            <a:ext cx="7208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tx2"/>
                </a:solidFill>
              </a:rPr>
              <a:t>外部網站要登入才看得到，所以畫成示意圖。Google Cloud 可能是中文或英文介面，兩種名稱都列出；Claude Console、Vercel、AI Studio 是英文介面。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事前準備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開始前先準備好這些</a:t>
            </a:r>
            <a:endParaRPr lang="zh-TW" sz="2800" dirty="0"/>
          </a:p>
        </p:txBody>
      </p:sp>
      <p:sp>
        <p:nvSpPr>
          <p:cNvPr id="4" name="icon-LuMail-bg"/>
          <p:cNvSpPr/>
          <p:nvPr/>
        </p:nvSpPr>
        <p:spPr>
          <a:xfrm>
            <a:off x="548640" y="14630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LuMail" descr="LuM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294" y="1575694"/>
            <a:ext cx="286756" cy="2867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44475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一個 Google 帳號（建議個人 Gmail）</a:t>
            </a:r>
            <a:endParaRPr lang="zh-TW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73936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用來建立 Google Cloud 專案。學校帳號可能被學校的管理員限制。</a:t>
            </a:r>
            <a:endParaRPr lang="zh-TW" sz="1250" dirty="0"/>
          </a:p>
        </p:txBody>
      </p:sp>
      <p:sp>
        <p:nvSpPr>
          <p:cNvPr id="8" name="icon-LuUsers-bg"/>
          <p:cNvSpPr/>
          <p:nvPr/>
        </p:nvSpPr>
        <p:spPr>
          <a:xfrm>
            <a:off x="548640" y="233172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LuUsers" descr="Lu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" y="2444374"/>
            <a:ext cx="286756" cy="2867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61872" y="231343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要測試登入的人的 Gmail 名單</a:t>
            </a:r>
            <a:endParaRPr lang="zh-TW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61872" y="2642616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Google 登入在「測試中」時，只有名單上的人能登入，最多 100 人。</a:t>
            </a:r>
            <a:endParaRPr lang="zh-TW" sz="1250" dirty="0"/>
          </a:p>
        </p:txBody>
      </p:sp>
      <p:sp>
        <p:nvSpPr>
          <p:cNvPr id="12" name="icon-LuBadgeCheck-bg"/>
          <p:cNvSpPr/>
          <p:nvPr/>
        </p:nvSpPr>
        <p:spPr>
          <a:xfrm>
            <a:off x="548640" y="320040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LuBadgeCheck" descr="LuBadg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" y="3313054"/>
            <a:ext cx="286756" cy="2867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3182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Claude Max 方案（做 B 用）</a:t>
            </a:r>
            <a:endParaRPr lang="zh-TW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61872" y="3511296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每月附 API 額度（Max 20x 為 200 美元），不用綁信用卡、不用儲值。Team 方案也有附；Pro、Enterprise 和免費版沒有。</a:t>
            </a:r>
            <a:endParaRPr lang="zh-TW" sz="1250" dirty="0"/>
          </a:p>
        </p:txBody>
      </p:sp>
      <p:sp>
        <p:nvSpPr>
          <p:cNvPr id="16" name="icon-LuServer-bg"/>
          <p:cNvSpPr/>
          <p:nvPr/>
        </p:nvSpPr>
        <p:spPr>
          <a:xfrm>
            <a:off x="548640" y="406908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LuServer" descr="LuSer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" y="4181734"/>
            <a:ext cx="286756" cy="2867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61872" y="40507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能登入 Vercel 專案（接法 2 才需要）</a:t>
            </a:r>
            <a:endParaRPr lang="zh-TW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261872" y="4379976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專案名稱 journal-article-memory-tool；免費的 Hobby 方案就可以。</a:t>
            </a:r>
            <a:endParaRPr lang="zh-TW" sz="1250" dirty="0"/>
          </a:p>
        </p:txBody>
      </p:sp>
      <p:sp>
        <p:nvSpPr>
          <p:cNvPr id="20" name="icon-LuLockKeyhole-bg"/>
          <p:cNvSpPr/>
          <p:nvPr/>
        </p:nvSpPr>
        <p:spPr>
          <a:xfrm>
            <a:off x="548640" y="493776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LuLockKeyhole" descr="LuLockKeyho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94" y="5050414"/>
            <a:ext cx="286756" cy="2867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61872" y="491947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自己訂一組「網站存取碼」（接法 2 才需要）</a:t>
            </a:r>
            <a:endParaRPr lang="zh-TW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261872" y="5248656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例如 lunyi-2026。只能用半形英文字母、數字和符號（不要用中文或空白）。只發給使用者，避免陌生人用掉你的 AI 額度。</a:t>
            </a:r>
            <a:endParaRPr lang="zh-TW" sz="1250" dirty="0"/>
          </a:p>
        </p:txBody>
      </p:sp>
      <p:sp>
        <p:nvSpPr>
          <p:cNvPr id="24" name="secret-card"/>
          <p:cNvSpPr/>
          <p:nvPr/>
        </p:nvSpPr>
        <p:spPr>
          <a:xfrm>
            <a:off x="7635240" y="1463040"/>
            <a:ext cx="4007815" cy="4160520"/>
          </a:xfrm>
          <a:prstGeom prst="roundRect">
            <a:avLst>
              <a:gd name="adj" fmla="val 1825"/>
            </a:avLst>
          </a:prstGeom>
          <a:solidFill>
            <a:schemeClr val="tx1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909560" y="1691640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bg1"/>
                </a:solidFill>
              </a:rPr>
              <a:t>這兩樣絕對不要給別人</a:t>
            </a:r>
            <a:endParaRPr lang="zh-TW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7909560" y="2148840"/>
            <a:ext cx="345917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Google 的「用戶端密鑰」（client secret）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這個網站用不到，建立後也不用下載。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 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Anthropic 金鑰（sk-ant- 開頭）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只貼進自己電腦上論憶的「進階」頁（接法 1）或 Vercel（接法 2）；不要貼進別人的電腦、程式、GitHub、聊天訊息或投影片。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 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可以公開的</a:t>
            </a:r>
            <a:endParaRPr lang="zh-TW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Google 用戶端 ID（….apps.googleusercontent.com 結尾）本來就會出現在網頁裡，可以交給 Claude 寫進程式。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A1　Google Cloud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建立 Google Cloud 專案，並啟用兩個 API</a:t>
            </a:r>
            <a:endParaRPr lang="zh-TW" sz="2800" dirty="0"/>
          </a:p>
        </p:txBody>
      </p:sp>
      <p:sp>
        <p:nvSpPr>
          <p:cNvPr id="4" name="mock-window"/>
          <p:cNvSpPr/>
          <p:nvPr/>
        </p:nvSpPr>
        <p:spPr>
          <a:xfrm>
            <a:off x="548640" y="146304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9C3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ock-bar"/>
          <p:cNvSpPr/>
          <p:nvPr/>
        </p:nvSpPr>
        <p:spPr>
          <a:xfrm>
            <a:off x="557784" y="1472184"/>
            <a:ext cx="6565392" cy="38404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00200"/>
            <a:ext cx="109728" cy="109728"/>
          </a:xfrm>
          <a:prstGeom prst="ellipse">
            <a:avLst/>
          </a:prstGeom>
          <a:solidFill>
            <a:srgbClr val="E0685A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00200"/>
            <a:ext cx="109728" cy="109728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600200"/>
            <a:ext cx="109728" cy="109728"/>
          </a:xfrm>
          <a:prstGeom prst="ellipse">
            <a:avLst/>
          </a:prstGeom>
          <a:solidFill>
            <a:srgbClr val="6BB86B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536192"/>
            <a:ext cx="56692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153619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console.cloud.google.com/apis/library</a:t>
            </a:r>
            <a:endParaRPr lang="zh-TW" sz="1000" dirty="0"/>
          </a:p>
        </p:txBody>
      </p:sp>
      <p:sp>
        <p:nvSpPr>
          <p:cNvPr id="11" name="Shape 9"/>
          <p:cNvSpPr/>
          <p:nvPr/>
        </p:nvSpPr>
        <p:spPr>
          <a:xfrm>
            <a:off x="557784" y="1856232"/>
            <a:ext cx="1783080" cy="4078224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19842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IAM 與管理</a:t>
            </a:r>
            <a:endParaRPr lang="zh-TW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31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API 和服務</a:t>
            </a:r>
            <a:endParaRPr lang="zh-TW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679192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4F0F0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2679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　程式庫 Library</a:t>
            </a:r>
            <a:endParaRPr lang="zh-TW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026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　憑證</a:t>
            </a:r>
            <a:endParaRPr lang="zh-TW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37413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Google Auth Platform</a:t>
            </a:r>
            <a:endParaRPr lang="zh-TW" sz="1000" dirty="0"/>
          </a:p>
        </p:txBody>
      </p:sp>
      <p:sp>
        <p:nvSpPr>
          <p:cNvPr id="18" name="tag-mock"/>
          <p:cNvSpPr/>
          <p:nvPr/>
        </p:nvSpPr>
        <p:spPr>
          <a:xfrm>
            <a:off x="5212080" y="5559552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55595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3"/>
                </a:solidFill>
              </a:rPr>
              <a:t>示意圖・依官方文件整理</a:t>
            </a:r>
            <a:endParaRPr lang="zh-TW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011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API 程式庫（Library）</a:t>
            </a:r>
            <a:endParaRPr lang="zh-TW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24140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搜尋 API 和服務</a:t>
            </a:r>
            <a:endParaRPr lang="zh-TW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633472"/>
            <a:ext cx="384048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26334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Drive API</a:t>
            </a:r>
            <a:endParaRPr lang="zh-TW" sz="1050" dirty="0"/>
          </a:p>
        </p:txBody>
      </p:sp>
      <p:sp>
        <p:nvSpPr>
          <p:cNvPr id="24" name="marker-2"/>
          <p:cNvSpPr/>
          <p:nvPr/>
        </p:nvSpPr>
        <p:spPr>
          <a:xfrm>
            <a:off x="6455664" y="265176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marker-2-text"/>
          <p:cNvSpPr txBox="1"/>
          <p:nvPr/>
        </p:nvSpPr>
        <p:spPr>
          <a:xfrm>
            <a:off x="6455664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305409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Google Drive API</a:t>
            </a:r>
            <a:endParaRPr lang="zh-TW" sz="1000" dirty="0"/>
          </a:p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Google Workspace</a:t>
            </a:r>
            <a:endParaRPr lang="zh-TW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3547872"/>
            <a:ext cx="137160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60320" y="35478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bg1"/>
                </a:solidFill>
              </a:rPr>
              <a:t>啟用 Enable</a:t>
            </a:r>
            <a:endParaRPr lang="zh-TW" sz="1050" dirty="0"/>
          </a:p>
        </p:txBody>
      </p:sp>
      <p:sp>
        <p:nvSpPr>
          <p:cNvPr id="29" name="marker-2"/>
          <p:cNvSpPr/>
          <p:nvPr/>
        </p:nvSpPr>
        <p:spPr>
          <a:xfrm>
            <a:off x="3986784" y="356616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marker-2-text"/>
          <p:cNvSpPr txBox="1"/>
          <p:nvPr/>
        </p:nvSpPr>
        <p:spPr>
          <a:xfrm>
            <a:off x="3986784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560320" y="4050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再搜尋一次</a:t>
            </a:r>
            <a:endParaRPr lang="zh-TW" sz="1000" dirty="0"/>
          </a:p>
        </p:txBody>
      </p:sp>
      <p:sp>
        <p:nvSpPr>
          <p:cNvPr id="32" name="Shape 30"/>
          <p:cNvSpPr/>
          <p:nvPr/>
        </p:nvSpPr>
        <p:spPr>
          <a:xfrm>
            <a:off x="2560320" y="4270248"/>
            <a:ext cx="384048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51760" y="42702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Calendar API</a:t>
            </a:r>
            <a:endParaRPr lang="zh-TW" sz="1050" dirty="0"/>
          </a:p>
        </p:txBody>
      </p:sp>
      <p:sp>
        <p:nvSpPr>
          <p:cNvPr id="34" name="marker-3"/>
          <p:cNvSpPr/>
          <p:nvPr/>
        </p:nvSpPr>
        <p:spPr>
          <a:xfrm>
            <a:off x="6455664" y="4288536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marker-3-text"/>
          <p:cNvSpPr txBox="1"/>
          <p:nvPr/>
        </p:nvSpPr>
        <p:spPr>
          <a:xfrm>
            <a:off x="6455664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36" name="Shape 34"/>
          <p:cNvSpPr/>
          <p:nvPr/>
        </p:nvSpPr>
        <p:spPr>
          <a:xfrm>
            <a:off x="2560320" y="4690872"/>
            <a:ext cx="137160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60320" y="46908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bg1"/>
                </a:solidFill>
              </a:rPr>
              <a:t>啟用 Enable</a:t>
            </a:r>
            <a:endParaRPr lang="zh-TW" sz="1050" dirty="0"/>
          </a:p>
        </p:txBody>
      </p:sp>
      <p:sp>
        <p:nvSpPr>
          <p:cNvPr id="38" name="marker-3"/>
          <p:cNvSpPr/>
          <p:nvPr/>
        </p:nvSpPr>
        <p:spPr>
          <a:xfrm>
            <a:off x="3986784" y="470916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marker-3-text"/>
          <p:cNvSpPr txBox="1"/>
          <p:nvPr/>
        </p:nvSpPr>
        <p:spPr>
          <a:xfrm>
            <a:off x="3986784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40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854696" y="146304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建立專案</a:t>
            </a:r>
            <a:endParaRPr lang="zh-TW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7854696" y="1779270"/>
            <a:ext cx="3788359" cy="1694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到 console.cloud.google.com，選單 →「IAM 與管理」→「建立專案」（Create a Project）。名稱填「論憶」，位置選「無機構」（No organization），按「建立」。找不到時，按最上方的專案選單 →「新增專案」（New project）；位置也可能叫「上層資源」（Parent resource）。第一次進來先同意服務條款；不用開「免費試用」，這部分不需要信用卡。</a:t>
            </a:r>
            <a:endParaRPr lang="zh-TW" sz="1250" dirty="0"/>
          </a:p>
        </p:txBody>
      </p:sp>
      <p:sp>
        <p:nvSpPr>
          <p:cNvPr id="44" name="marker-2"/>
          <p:cNvSpPr/>
          <p:nvPr/>
        </p:nvSpPr>
        <p:spPr>
          <a:xfrm>
            <a:off x="7452360" y="3702558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marker-2-text"/>
          <p:cNvSpPr txBox="1"/>
          <p:nvPr/>
        </p:nvSpPr>
        <p:spPr>
          <a:xfrm>
            <a:off x="7452360" y="37025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854696" y="3693414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啟用 Google Drive API</a:t>
            </a:r>
            <a:endParaRPr lang="zh-TW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7854696" y="4009644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選單 →「API 和服務」→「程式庫」，搜尋並點進去，按「啟用」（Enable）。</a:t>
            </a:r>
            <a:endParaRPr lang="zh-TW" sz="1250" dirty="0"/>
          </a:p>
        </p:txBody>
      </p:sp>
      <p:sp>
        <p:nvSpPr>
          <p:cNvPr id="48" name="paste"/>
          <p:cNvSpPr/>
          <p:nvPr/>
        </p:nvSpPr>
        <p:spPr>
          <a:xfrm>
            <a:off x="7854696" y="4483608"/>
            <a:ext cx="378835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946136" y="4483608"/>
            <a:ext cx="3184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Drive API</a:t>
            </a:r>
            <a:endParaRPr lang="zh-TW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11167567" y="448360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b="1" dirty="0">
                <a:solidFill>
                  <a:schemeClr val="tx2"/>
                </a:solidFill>
              </a:rPr>
              <a:t>貼上</a:t>
            </a:r>
            <a:endParaRPr lang="zh-TW" sz="950" dirty="0"/>
          </a:p>
        </p:txBody>
      </p:sp>
      <p:sp>
        <p:nvSpPr>
          <p:cNvPr id="51" name="marker-3"/>
          <p:cNvSpPr/>
          <p:nvPr/>
        </p:nvSpPr>
        <p:spPr>
          <a:xfrm>
            <a:off x="7452360" y="5041392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marker-3-text"/>
          <p:cNvSpPr txBox="1"/>
          <p:nvPr/>
        </p:nvSpPr>
        <p:spPr>
          <a:xfrm>
            <a:off x="7452360" y="5041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854696" y="5032248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啟用 Google Calendar API</a:t>
            </a:r>
            <a:endParaRPr lang="zh-TW" sz="1450" dirty="0"/>
          </a:p>
        </p:txBody>
      </p:sp>
      <p:sp>
        <p:nvSpPr>
          <p:cNvPr id="54" name="Text 52"/>
          <p:cNvSpPr txBox="1"/>
          <p:nvPr/>
        </p:nvSpPr>
        <p:spPr>
          <a:xfrm>
            <a:off x="7854696" y="5348478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用同樣的方法再啟用一次。</a:t>
            </a:r>
            <a:endParaRPr lang="zh-TW" sz="1250" dirty="0"/>
          </a:p>
        </p:txBody>
      </p:sp>
      <p:sp>
        <p:nvSpPr>
          <p:cNvPr id="55" name="paste"/>
          <p:cNvSpPr/>
          <p:nvPr/>
        </p:nvSpPr>
        <p:spPr>
          <a:xfrm>
            <a:off x="7854696" y="5612892"/>
            <a:ext cx="378835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946136" y="5612892"/>
            <a:ext cx="3184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Calendar API</a:t>
            </a:r>
            <a:endParaRPr lang="zh-TW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11167567" y="561289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b="1" dirty="0">
                <a:solidFill>
                  <a:schemeClr val="tx2"/>
                </a:solidFill>
              </a:rPr>
              <a:t>貼上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A2　Google Auth Platform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設定應用程式資訊、目標對象與聯絡資訊</a:t>
            </a:r>
            <a:endParaRPr lang="zh-TW" sz="2800" dirty="0"/>
          </a:p>
        </p:txBody>
      </p:sp>
      <p:sp>
        <p:nvSpPr>
          <p:cNvPr id="4" name="mock-window"/>
          <p:cNvSpPr/>
          <p:nvPr/>
        </p:nvSpPr>
        <p:spPr>
          <a:xfrm>
            <a:off x="548640" y="146304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9C3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ock-bar"/>
          <p:cNvSpPr/>
          <p:nvPr/>
        </p:nvSpPr>
        <p:spPr>
          <a:xfrm>
            <a:off x="557784" y="1472184"/>
            <a:ext cx="6565392" cy="38404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00200"/>
            <a:ext cx="109728" cy="109728"/>
          </a:xfrm>
          <a:prstGeom prst="ellipse">
            <a:avLst/>
          </a:prstGeom>
          <a:solidFill>
            <a:srgbClr val="E0685A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00200"/>
            <a:ext cx="109728" cy="109728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600200"/>
            <a:ext cx="109728" cy="109728"/>
          </a:xfrm>
          <a:prstGeom prst="ellipse">
            <a:avLst/>
          </a:prstGeom>
          <a:solidFill>
            <a:srgbClr val="6BB86B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536192"/>
            <a:ext cx="56692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153619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console.cloud.google.com/auth/overview</a:t>
            </a:r>
            <a:endParaRPr lang="zh-TW" sz="1000" dirty="0"/>
          </a:p>
        </p:txBody>
      </p:sp>
      <p:sp>
        <p:nvSpPr>
          <p:cNvPr id="11" name="Shape 9"/>
          <p:cNvSpPr/>
          <p:nvPr/>
        </p:nvSpPr>
        <p:spPr>
          <a:xfrm>
            <a:off x="557784" y="1856232"/>
            <a:ext cx="1783080" cy="4078224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984248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4F0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19842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總覽 Overview</a:t>
            </a:r>
            <a:endParaRPr lang="zh-TW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331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品牌 Branding</a:t>
            </a:r>
            <a:endParaRPr lang="zh-TW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2679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目標對象 Audience</a:t>
            </a:r>
            <a:endParaRPr lang="zh-TW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026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用戶端 Clients</a:t>
            </a:r>
            <a:endParaRPr lang="zh-TW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37413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資料存取 Data Access</a:t>
            </a:r>
            <a:endParaRPr lang="zh-TW" sz="1000" dirty="0"/>
          </a:p>
        </p:txBody>
      </p:sp>
      <p:sp>
        <p:nvSpPr>
          <p:cNvPr id="18" name="tag-mock"/>
          <p:cNvSpPr/>
          <p:nvPr/>
        </p:nvSpPr>
        <p:spPr>
          <a:xfrm>
            <a:off x="5212080" y="5559552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55595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3"/>
                </a:solidFill>
              </a:rPr>
              <a:t>示意圖・依官方文件整理</a:t>
            </a:r>
            <a:endParaRPr lang="zh-TW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011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開始使用（Get started）</a:t>
            </a:r>
            <a:endParaRPr lang="zh-TW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24140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應用程式名稱 App name</a:t>
            </a:r>
            <a:endParaRPr lang="zh-TW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633472"/>
            <a:ext cx="384048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26334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論憶</a:t>
            </a:r>
            <a:endParaRPr lang="zh-TW" sz="1050" dirty="0"/>
          </a:p>
        </p:txBody>
      </p:sp>
      <p:sp>
        <p:nvSpPr>
          <p:cNvPr id="24" name="marker-2"/>
          <p:cNvSpPr/>
          <p:nvPr/>
        </p:nvSpPr>
        <p:spPr>
          <a:xfrm>
            <a:off x="6455664" y="265176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marker-2-text"/>
          <p:cNvSpPr txBox="1"/>
          <p:nvPr/>
        </p:nvSpPr>
        <p:spPr>
          <a:xfrm>
            <a:off x="6455664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3054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使用者支援電子郵件 User support email</a:t>
            </a:r>
            <a:endParaRPr lang="zh-TW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3273552"/>
            <a:ext cx="384048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51760" y="3273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你的 Gmail（從下拉選單選）</a:t>
            </a:r>
            <a:endParaRPr lang="zh-TW" sz="1050" dirty="0"/>
          </a:p>
        </p:txBody>
      </p:sp>
      <p:sp>
        <p:nvSpPr>
          <p:cNvPr id="29" name="marker-2"/>
          <p:cNvSpPr/>
          <p:nvPr/>
        </p:nvSpPr>
        <p:spPr>
          <a:xfrm>
            <a:off x="6455664" y="329184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marker-2-text"/>
          <p:cNvSpPr txBox="1"/>
          <p:nvPr/>
        </p:nvSpPr>
        <p:spPr>
          <a:xfrm>
            <a:off x="6455664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560320" y="36941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目標對象 Audience</a:t>
            </a:r>
            <a:endParaRPr lang="zh-TW" sz="1000" dirty="0"/>
          </a:p>
        </p:txBody>
      </p:sp>
      <p:sp>
        <p:nvSpPr>
          <p:cNvPr id="32" name="Shape 30"/>
          <p:cNvSpPr/>
          <p:nvPr/>
        </p:nvSpPr>
        <p:spPr>
          <a:xfrm>
            <a:off x="2560320" y="400507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A1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98064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內部 Internal</a:t>
            </a:r>
            <a:endParaRPr lang="zh-TW" sz="1050" dirty="0"/>
          </a:p>
        </p:txBody>
      </p:sp>
      <p:sp>
        <p:nvSpPr>
          <p:cNvPr id="34" name="Shape 32"/>
          <p:cNvSpPr/>
          <p:nvPr/>
        </p:nvSpPr>
        <p:spPr>
          <a:xfrm>
            <a:off x="4297680" y="4005072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35424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b="1" dirty="0">
                <a:solidFill>
                  <a:schemeClr val="tx1"/>
                </a:solidFill>
              </a:rPr>
              <a:t>外部 External</a:t>
            </a:r>
            <a:endParaRPr lang="zh-TW" sz="1050" dirty="0"/>
          </a:p>
        </p:txBody>
      </p:sp>
      <p:sp>
        <p:nvSpPr>
          <p:cNvPr id="36" name="Shape 34"/>
          <p:cNvSpPr/>
          <p:nvPr/>
        </p:nvSpPr>
        <p:spPr>
          <a:xfrm>
            <a:off x="4242816" y="3913632"/>
            <a:ext cx="1645920" cy="347472"/>
          </a:xfrm>
          <a:prstGeom prst="roundRect">
            <a:avLst>
              <a:gd name="adj" fmla="val 13158"/>
            </a:avLst>
          </a:prstGeom>
          <a:ln w="25400">
            <a:solidFill>
              <a:schemeClr val="accent3"/>
            </a:solidFill>
            <a:prstDash val="solid"/>
          </a:ln>
        </p:spPr>
      </p:sp>
      <p:sp>
        <p:nvSpPr>
          <p:cNvPr id="37" name="marker-3"/>
          <p:cNvSpPr/>
          <p:nvPr/>
        </p:nvSpPr>
        <p:spPr>
          <a:xfrm>
            <a:off x="6035040" y="395020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marker-3-text"/>
          <p:cNvSpPr txBox="1"/>
          <p:nvPr/>
        </p:nvSpPr>
        <p:spPr>
          <a:xfrm>
            <a:off x="603504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560320" y="435254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聯絡資訊 Email addresses</a:t>
            </a:r>
            <a:endParaRPr lang="zh-TW" sz="1000" dirty="0"/>
          </a:p>
        </p:txBody>
      </p:sp>
      <p:sp>
        <p:nvSpPr>
          <p:cNvPr id="40" name="Shape 38"/>
          <p:cNvSpPr/>
          <p:nvPr/>
        </p:nvSpPr>
        <p:spPr>
          <a:xfrm>
            <a:off x="2560320" y="4572000"/>
            <a:ext cx="384048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51760" y="45720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你的 Gmail</a:t>
            </a:r>
            <a:endParaRPr lang="zh-TW" sz="1050" dirty="0"/>
          </a:p>
        </p:txBody>
      </p:sp>
      <p:sp>
        <p:nvSpPr>
          <p:cNvPr id="42" name="marker-4"/>
          <p:cNvSpPr/>
          <p:nvPr/>
        </p:nvSpPr>
        <p:spPr>
          <a:xfrm>
            <a:off x="6455664" y="459028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marker-4-text"/>
          <p:cNvSpPr txBox="1"/>
          <p:nvPr/>
        </p:nvSpPr>
        <p:spPr>
          <a:xfrm>
            <a:off x="6455664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44" name="Shape 42"/>
          <p:cNvSpPr/>
          <p:nvPr/>
        </p:nvSpPr>
        <p:spPr>
          <a:xfrm>
            <a:off x="2560320" y="5047488"/>
            <a:ext cx="1645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560320" y="502005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✓</a:t>
            </a:r>
            <a:endParaRPr lang="zh-TW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2816352" y="49926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我同意《Google API 服務：使用者資料政策》</a:t>
            </a:r>
            <a:endParaRPr lang="zh-TW" sz="1050" dirty="0"/>
          </a:p>
        </p:txBody>
      </p:sp>
      <p:sp>
        <p:nvSpPr>
          <p:cNvPr id="47" name="Shape 45"/>
          <p:cNvSpPr/>
          <p:nvPr/>
        </p:nvSpPr>
        <p:spPr>
          <a:xfrm>
            <a:off x="2505456" y="4956048"/>
            <a:ext cx="3931920" cy="347472"/>
          </a:xfrm>
          <a:prstGeom prst="roundRect">
            <a:avLst>
              <a:gd name="adj" fmla="val 13158"/>
            </a:avLst>
          </a:prstGeom>
          <a:ln w="25400">
            <a:solidFill>
              <a:schemeClr val="accent3"/>
            </a:solidFill>
            <a:prstDash val="solid"/>
          </a:ln>
        </p:spPr>
      </p:sp>
      <p:sp>
        <p:nvSpPr>
          <p:cNvPr id="48" name="marker-5"/>
          <p:cNvSpPr/>
          <p:nvPr/>
        </p:nvSpPr>
        <p:spPr>
          <a:xfrm>
            <a:off x="6510528" y="4992624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marker-5-text"/>
          <p:cNvSpPr txBox="1"/>
          <p:nvPr/>
        </p:nvSpPr>
        <p:spPr>
          <a:xfrm>
            <a:off x="6510528" y="4992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5</a:t>
            </a:r>
            <a:endParaRPr lang="zh-TW" sz="1200" dirty="0"/>
          </a:p>
        </p:txBody>
      </p:sp>
      <p:sp>
        <p:nvSpPr>
          <p:cNvPr id="50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854696" y="146304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打開 Google Auth Platform</a:t>
            </a:r>
            <a:endParaRPr lang="zh-TW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7854696" y="1779270"/>
            <a:ext cx="3788359" cy="85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選單 →「Google Auth Platform」，或直接打開 console.cloud.google.com/auth/overview。畫面寫著還沒設定時，按「開始使用」（Get started）。</a:t>
            </a:r>
            <a:endParaRPr lang="zh-TW" sz="1250" dirty="0"/>
          </a:p>
        </p:txBody>
      </p:sp>
      <p:sp>
        <p:nvSpPr>
          <p:cNvPr id="54" name="marker-2"/>
          <p:cNvSpPr/>
          <p:nvPr/>
        </p:nvSpPr>
        <p:spPr>
          <a:xfrm>
            <a:off x="7452360" y="280949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marker-2-text"/>
          <p:cNvSpPr txBox="1"/>
          <p:nvPr/>
        </p:nvSpPr>
        <p:spPr>
          <a:xfrm>
            <a:off x="7452360" y="28094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7854696" y="280035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應用程式資訊</a:t>
            </a:r>
            <a:endParaRPr lang="zh-TW" sz="1450" dirty="0"/>
          </a:p>
        </p:txBody>
      </p:sp>
      <p:sp>
        <p:nvSpPr>
          <p:cNvPr id="57" name="Text 55"/>
          <p:cNvSpPr txBox="1"/>
          <p:nvPr/>
        </p:nvSpPr>
        <p:spPr>
          <a:xfrm>
            <a:off x="7854696" y="3116580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名稱填「論憶」，使用者支援電子郵件選自己的 Gmail，按「下一步」（Next）。</a:t>
            </a:r>
            <a:endParaRPr lang="zh-TW" sz="1250" dirty="0"/>
          </a:p>
        </p:txBody>
      </p:sp>
      <p:sp>
        <p:nvSpPr>
          <p:cNvPr id="58" name="marker-3"/>
          <p:cNvSpPr/>
          <p:nvPr/>
        </p:nvSpPr>
        <p:spPr>
          <a:xfrm>
            <a:off x="7452360" y="372770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marker-3-text"/>
          <p:cNvSpPr txBox="1"/>
          <p:nvPr/>
        </p:nvSpPr>
        <p:spPr>
          <a:xfrm>
            <a:off x="7452360" y="3727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7854696" y="371856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目標對象選「外部」（External）</a:t>
            </a:r>
            <a:endParaRPr lang="zh-TW" sz="1450" dirty="0"/>
          </a:p>
        </p:txBody>
      </p:sp>
      <p:sp>
        <p:nvSpPr>
          <p:cNvPr id="61" name="Text 59"/>
          <p:cNvSpPr txBox="1"/>
          <p:nvPr/>
        </p:nvSpPr>
        <p:spPr>
          <a:xfrm>
            <a:off x="7854696" y="4034790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個人 Gmail 只能選外部，按「下一步」。</a:t>
            </a:r>
            <a:endParaRPr lang="zh-TW" sz="1250" dirty="0"/>
          </a:p>
        </p:txBody>
      </p:sp>
      <p:sp>
        <p:nvSpPr>
          <p:cNvPr id="62" name="marker-4"/>
          <p:cNvSpPr/>
          <p:nvPr/>
        </p:nvSpPr>
        <p:spPr>
          <a:xfrm>
            <a:off x="7452360" y="443636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marker-4-text"/>
          <p:cNvSpPr txBox="1"/>
          <p:nvPr/>
        </p:nvSpPr>
        <p:spPr>
          <a:xfrm>
            <a:off x="7452360" y="44363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7854696" y="442722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聯絡資訊填自己的 Gmail</a:t>
            </a:r>
            <a:endParaRPr lang="zh-TW" sz="1450" dirty="0"/>
          </a:p>
        </p:txBody>
      </p:sp>
      <p:sp>
        <p:nvSpPr>
          <p:cNvPr id="65" name="Text 63"/>
          <p:cNvSpPr txBox="1"/>
          <p:nvPr/>
        </p:nvSpPr>
        <p:spPr>
          <a:xfrm>
            <a:off x="7854696" y="4743450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Google 會把專案通知寄到這裡，按「下一步」。</a:t>
            </a:r>
            <a:endParaRPr lang="zh-TW" sz="1250" dirty="0"/>
          </a:p>
        </p:txBody>
      </p:sp>
      <p:sp>
        <p:nvSpPr>
          <p:cNvPr id="66" name="marker-5"/>
          <p:cNvSpPr/>
          <p:nvPr/>
        </p:nvSpPr>
        <p:spPr>
          <a:xfrm>
            <a:off x="7452360" y="514502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marker-5-text"/>
          <p:cNvSpPr txBox="1"/>
          <p:nvPr/>
        </p:nvSpPr>
        <p:spPr>
          <a:xfrm>
            <a:off x="7452360" y="514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5</a:t>
            </a:r>
            <a:endParaRPr lang="zh-TW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7854696" y="513588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勾選同意，按「繼續」再按「建立」</a:t>
            </a:r>
            <a:endParaRPr lang="zh-TW" sz="1450" dirty="0"/>
          </a:p>
        </p:txBody>
      </p:sp>
      <p:sp>
        <p:nvSpPr>
          <p:cNvPr id="69" name="Text 67"/>
          <p:cNvSpPr txBox="1"/>
          <p:nvPr/>
        </p:nvSpPr>
        <p:spPr>
          <a:xfrm>
            <a:off x="7854696" y="5452110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勾選《Google API 服務：使用者資料政策》，按「繼續」（Continue）→「建立」（Create）。</a:t>
            </a:r>
            <a:endParaRPr lang="zh-TW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A3　Google Auth Platform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把要登入的人加進「測試使用者」</a:t>
            </a:r>
            <a:endParaRPr lang="zh-TW" sz="2800" dirty="0"/>
          </a:p>
        </p:txBody>
      </p:sp>
      <p:sp>
        <p:nvSpPr>
          <p:cNvPr id="4" name="mock-window"/>
          <p:cNvSpPr/>
          <p:nvPr/>
        </p:nvSpPr>
        <p:spPr>
          <a:xfrm>
            <a:off x="548640" y="146304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9C3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ock-bar"/>
          <p:cNvSpPr/>
          <p:nvPr/>
        </p:nvSpPr>
        <p:spPr>
          <a:xfrm>
            <a:off x="557784" y="1472184"/>
            <a:ext cx="6565392" cy="38404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00200"/>
            <a:ext cx="109728" cy="109728"/>
          </a:xfrm>
          <a:prstGeom prst="ellipse">
            <a:avLst/>
          </a:prstGeom>
          <a:solidFill>
            <a:srgbClr val="E0685A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00200"/>
            <a:ext cx="109728" cy="109728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600200"/>
            <a:ext cx="109728" cy="109728"/>
          </a:xfrm>
          <a:prstGeom prst="ellipse">
            <a:avLst/>
          </a:prstGeom>
          <a:solidFill>
            <a:srgbClr val="6BB86B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536192"/>
            <a:ext cx="56692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153619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console.cloud.google.com/auth/audience</a:t>
            </a:r>
            <a:endParaRPr lang="zh-TW" sz="1000" dirty="0"/>
          </a:p>
        </p:txBody>
      </p:sp>
      <p:sp>
        <p:nvSpPr>
          <p:cNvPr id="11" name="Shape 9"/>
          <p:cNvSpPr/>
          <p:nvPr/>
        </p:nvSpPr>
        <p:spPr>
          <a:xfrm>
            <a:off x="557784" y="1856232"/>
            <a:ext cx="1783080" cy="4078224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19842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總覽 Overview</a:t>
            </a:r>
            <a:endParaRPr lang="zh-TW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31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品牌 Branding</a:t>
            </a:r>
            <a:endParaRPr lang="zh-TW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679192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4F0F0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2679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目標對象 Audience</a:t>
            </a:r>
            <a:endParaRPr lang="zh-TW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026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用戶端 Clients</a:t>
            </a:r>
            <a:endParaRPr lang="zh-TW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37413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資料存取 Data Access</a:t>
            </a:r>
            <a:endParaRPr lang="zh-TW" sz="1000" dirty="0"/>
          </a:p>
        </p:txBody>
      </p:sp>
      <p:sp>
        <p:nvSpPr>
          <p:cNvPr id="18" name="tag-mock"/>
          <p:cNvSpPr/>
          <p:nvPr/>
        </p:nvSpPr>
        <p:spPr>
          <a:xfrm>
            <a:off x="5212080" y="5559552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55595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3"/>
                </a:solidFill>
              </a:rPr>
              <a:t>示意圖・依官方文件整理</a:t>
            </a:r>
            <a:endParaRPr lang="zh-TW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011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目標對象（Audience）</a:t>
            </a:r>
            <a:endParaRPr lang="zh-TW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241401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發布狀態（Publishing status）：測試中（Testing）</a:t>
            </a:r>
            <a:endParaRPr lang="zh-TW" sz="1000" dirty="0"/>
          </a:p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使用者類型：外部</a:t>
            </a:r>
            <a:endParaRPr lang="zh-TW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299923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測試使用者（Test users）</a:t>
            </a:r>
            <a:endParaRPr lang="zh-TW" sz="1500" dirty="0"/>
          </a:p>
        </p:txBody>
      </p:sp>
      <p:sp>
        <p:nvSpPr>
          <p:cNvPr id="23" name="Shape 21"/>
          <p:cNvSpPr/>
          <p:nvPr/>
        </p:nvSpPr>
        <p:spPr>
          <a:xfrm>
            <a:off x="2560320" y="3401568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60320" y="34015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1"/>
                </a:solidFill>
              </a:rPr>
              <a:t>+ 新增使用者 Add users</a:t>
            </a:r>
            <a:endParaRPr lang="zh-TW" sz="1050" dirty="0"/>
          </a:p>
        </p:txBody>
      </p:sp>
      <p:sp>
        <p:nvSpPr>
          <p:cNvPr id="25" name="marker-2"/>
          <p:cNvSpPr/>
          <p:nvPr/>
        </p:nvSpPr>
        <p:spPr>
          <a:xfrm>
            <a:off x="4718304" y="3419856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marker-2-text"/>
          <p:cNvSpPr txBox="1"/>
          <p:nvPr/>
        </p:nvSpPr>
        <p:spPr>
          <a:xfrm>
            <a:off x="4718304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3858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輸入電子郵件</a:t>
            </a:r>
            <a:endParaRPr lang="zh-TW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4078224"/>
            <a:ext cx="384048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51760" y="40782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teacher@gmail.com, classmate@gmail.com</a:t>
            </a:r>
            <a:endParaRPr lang="zh-TW" sz="1050" dirty="0"/>
          </a:p>
        </p:txBody>
      </p:sp>
      <p:sp>
        <p:nvSpPr>
          <p:cNvPr id="30" name="marker-3"/>
          <p:cNvSpPr/>
          <p:nvPr/>
        </p:nvSpPr>
        <p:spPr>
          <a:xfrm>
            <a:off x="6455664" y="4096512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marker-3-text"/>
          <p:cNvSpPr txBox="1"/>
          <p:nvPr/>
        </p:nvSpPr>
        <p:spPr>
          <a:xfrm>
            <a:off x="6455664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32" name="Shape 30"/>
          <p:cNvSpPr/>
          <p:nvPr/>
        </p:nvSpPr>
        <p:spPr>
          <a:xfrm>
            <a:off x="2560320" y="4498848"/>
            <a:ext cx="11887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60320" y="4498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bg1"/>
                </a:solidFill>
              </a:rPr>
              <a:t>儲存 Save</a:t>
            </a:r>
            <a:endParaRPr lang="zh-TW" sz="1050" dirty="0"/>
          </a:p>
        </p:txBody>
      </p:sp>
      <p:sp>
        <p:nvSpPr>
          <p:cNvPr id="34" name="marker-3"/>
          <p:cNvSpPr/>
          <p:nvPr/>
        </p:nvSpPr>
        <p:spPr>
          <a:xfrm>
            <a:off x="3803904" y="4517136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marker-3-text"/>
          <p:cNvSpPr txBox="1"/>
          <p:nvPr/>
        </p:nvSpPr>
        <p:spPr>
          <a:xfrm>
            <a:off x="3803904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36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854696" y="146304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左側點「目標對象」（Audience）</a:t>
            </a:r>
            <a:endParaRPr lang="zh-TW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7854696" y="1779270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「發布狀態」維持「測試中」（Testing），先不要按「發布應用程式」（Publish app）。</a:t>
            </a:r>
            <a:endParaRPr lang="zh-TW" sz="1250" dirty="0"/>
          </a:p>
        </p:txBody>
      </p:sp>
      <p:sp>
        <p:nvSpPr>
          <p:cNvPr id="40" name="marker-2"/>
          <p:cNvSpPr/>
          <p:nvPr/>
        </p:nvSpPr>
        <p:spPr>
          <a:xfrm>
            <a:off x="7452360" y="2445258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marker-2-text"/>
          <p:cNvSpPr txBox="1"/>
          <p:nvPr/>
        </p:nvSpPr>
        <p:spPr>
          <a:xfrm>
            <a:off x="7452360" y="24452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854696" y="2436114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按「新增使用者」（Add users）</a:t>
            </a:r>
            <a:endParaRPr lang="zh-TW" sz="1450" dirty="0"/>
          </a:p>
        </p:txBody>
      </p:sp>
      <p:sp>
        <p:nvSpPr>
          <p:cNvPr id="43" name="marker-3"/>
          <p:cNvSpPr/>
          <p:nvPr/>
        </p:nvSpPr>
        <p:spPr>
          <a:xfrm>
            <a:off x="7452360" y="2944368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marker-3-text"/>
          <p:cNvSpPr txBox="1"/>
          <p:nvPr/>
        </p:nvSpPr>
        <p:spPr>
          <a:xfrm>
            <a:off x="745236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854696" y="2935224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貼上 Gmail 名單，按「儲存」（Save）</a:t>
            </a:r>
            <a:endParaRPr lang="zh-TW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7854696" y="3251454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記得也加上你自己，最多 100 人。</a:t>
            </a:r>
            <a:endParaRPr lang="zh-TW" sz="1250" dirty="0"/>
          </a:p>
        </p:txBody>
      </p:sp>
      <p:sp>
        <p:nvSpPr>
          <p:cNvPr id="47" name="paste"/>
          <p:cNvSpPr/>
          <p:nvPr/>
        </p:nvSpPr>
        <p:spPr>
          <a:xfrm>
            <a:off x="7854696" y="3515868"/>
            <a:ext cx="378835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946136" y="3515868"/>
            <a:ext cx="28922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你的Gmail, 老師的Gmail, 同學的Gmail</a:t>
            </a:r>
            <a:endParaRPr lang="zh-TW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10874959" y="351586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b="1" dirty="0">
                <a:solidFill>
                  <a:schemeClr val="accent3"/>
                </a:solidFill>
              </a:rPr>
              <a:t>換成你的</a:t>
            </a:r>
            <a:endParaRPr lang="zh-TW" sz="950" dirty="0"/>
          </a:p>
        </p:txBody>
      </p:sp>
      <p:sp>
        <p:nvSpPr>
          <p:cNvPr id="50" name="note"/>
          <p:cNvSpPr/>
          <p:nvPr/>
        </p:nvSpPr>
        <p:spPr>
          <a:xfrm>
            <a:off x="7452360" y="4110228"/>
            <a:ext cx="4190695" cy="816102"/>
          </a:xfrm>
          <a:prstGeom prst="roundRect">
            <a:avLst>
              <a:gd name="adj" fmla="val 6723"/>
            </a:avLst>
          </a:prstGeom>
          <a:solidFill>
            <a:srgbClr val="EEF4F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598664" y="4201668"/>
            <a:ext cx="3898087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rgbClr val="1D3B3D"/>
                </a:solidFill>
              </a:rPr>
              <a:t>測試中的限制：只有名單上的人能登入。登入時會看到「Google 尚未驗證這個應用程式」，按「繼續」即可。同意 7 天後要再按一次同意。要開放給所有人見 A7。</a:t>
            </a:r>
            <a:endParaRPr lang="zh-TW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A4　Google Auth Platform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建立 OAuth 用戶端，複製「用戶端 ID」</a:t>
            </a:r>
            <a:endParaRPr lang="zh-TW" sz="2800" dirty="0"/>
          </a:p>
        </p:txBody>
      </p:sp>
      <p:sp>
        <p:nvSpPr>
          <p:cNvPr id="4" name="mock-window"/>
          <p:cNvSpPr/>
          <p:nvPr/>
        </p:nvSpPr>
        <p:spPr>
          <a:xfrm>
            <a:off x="548640" y="1463040"/>
            <a:ext cx="65836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9C3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ock-bar"/>
          <p:cNvSpPr/>
          <p:nvPr/>
        </p:nvSpPr>
        <p:spPr>
          <a:xfrm>
            <a:off x="557784" y="1472184"/>
            <a:ext cx="6565392" cy="38404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00200"/>
            <a:ext cx="109728" cy="109728"/>
          </a:xfrm>
          <a:prstGeom prst="ellipse">
            <a:avLst/>
          </a:prstGeom>
          <a:solidFill>
            <a:srgbClr val="E0685A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00200"/>
            <a:ext cx="109728" cy="109728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600200"/>
            <a:ext cx="109728" cy="109728"/>
          </a:xfrm>
          <a:prstGeom prst="ellipse">
            <a:avLst/>
          </a:prstGeom>
          <a:solidFill>
            <a:srgbClr val="6BB86B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536192"/>
            <a:ext cx="56692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153619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console.cloud.google.com/auth/clients/create</a:t>
            </a:r>
            <a:endParaRPr lang="zh-TW" sz="1000" dirty="0"/>
          </a:p>
        </p:txBody>
      </p:sp>
      <p:sp>
        <p:nvSpPr>
          <p:cNvPr id="11" name="Shape 9"/>
          <p:cNvSpPr/>
          <p:nvPr/>
        </p:nvSpPr>
        <p:spPr>
          <a:xfrm>
            <a:off x="557784" y="1856232"/>
            <a:ext cx="1783080" cy="4306824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19842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總覽 Overview</a:t>
            </a:r>
            <a:endParaRPr lang="zh-TW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31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品牌 Branding</a:t>
            </a:r>
            <a:endParaRPr lang="zh-TW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679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目標對象 Audience</a:t>
            </a:r>
            <a:endParaRPr lang="zh-TW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4F0F0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26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用戶端 Clients</a:t>
            </a:r>
            <a:endParaRPr lang="zh-TW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37413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資料存取 Data Access</a:t>
            </a:r>
            <a:endParaRPr lang="zh-TW" sz="1000" dirty="0"/>
          </a:p>
        </p:txBody>
      </p:sp>
      <p:sp>
        <p:nvSpPr>
          <p:cNvPr id="18" name="tag-mock"/>
          <p:cNvSpPr/>
          <p:nvPr/>
        </p:nvSpPr>
        <p:spPr>
          <a:xfrm>
            <a:off x="5212080" y="5788152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57881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3"/>
                </a:solidFill>
              </a:rPr>
              <a:t>示意圖・依官方文件整理</a:t>
            </a:r>
            <a:endParaRPr lang="zh-TW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0116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應用程式類型 Application type</a:t>
            </a:r>
            <a:endParaRPr lang="zh-TW" sz="1000" dirty="0"/>
          </a:p>
        </p:txBody>
      </p:sp>
      <p:sp>
        <p:nvSpPr>
          <p:cNvPr id="21" name="Shape 19"/>
          <p:cNvSpPr/>
          <p:nvPr/>
        </p:nvSpPr>
        <p:spPr>
          <a:xfrm>
            <a:off x="2560320" y="2231136"/>
            <a:ext cx="384048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51760" y="22311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網頁應用程式 Web application</a:t>
            </a:r>
            <a:endParaRPr lang="zh-TW" sz="1050" dirty="0"/>
          </a:p>
        </p:txBody>
      </p:sp>
      <p:sp>
        <p:nvSpPr>
          <p:cNvPr id="23" name="marker-2"/>
          <p:cNvSpPr/>
          <p:nvPr/>
        </p:nvSpPr>
        <p:spPr>
          <a:xfrm>
            <a:off x="6455664" y="2249424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marker-2-text"/>
          <p:cNvSpPr txBox="1"/>
          <p:nvPr/>
        </p:nvSpPr>
        <p:spPr>
          <a:xfrm>
            <a:off x="6455664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26517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已授權的 JavaScript 來源 Authorized JavaScript origins</a:t>
            </a:r>
            <a:endParaRPr lang="zh-TW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2871216"/>
            <a:ext cx="384048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51760" y="28712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https://journal-article-memory-tool.vercel.app</a:t>
            </a:r>
            <a:endParaRPr lang="zh-TW" sz="1050" dirty="0"/>
          </a:p>
        </p:txBody>
      </p:sp>
      <p:sp>
        <p:nvSpPr>
          <p:cNvPr id="28" name="marker-3"/>
          <p:cNvSpPr/>
          <p:nvPr/>
        </p:nvSpPr>
        <p:spPr>
          <a:xfrm>
            <a:off x="6455664" y="2889504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marker-3-text"/>
          <p:cNvSpPr txBox="1"/>
          <p:nvPr/>
        </p:nvSpPr>
        <p:spPr>
          <a:xfrm>
            <a:off x="6455664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30" name="Shape 28"/>
          <p:cNvSpPr/>
          <p:nvPr/>
        </p:nvSpPr>
        <p:spPr>
          <a:xfrm>
            <a:off x="2560320" y="3291840"/>
            <a:ext cx="384048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51760" y="3291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https://charleslin2003-prog.github.io</a:t>
            </a:r>
            <a:endParaRPr lang="zh-TW" sz="1050" dirty="0"/>
          </a:p>
        </p:txBody>
      </p:sp>
      <p:sp>
        <p:nvSpPr>
          <p:cNvPr id="32" name="Shape 30"/>
          <p:cNvSpPr/>
          <p:nvPr/>
        </p:nvSpPr>
        <p:spPr>
          <a:xfrm>
            <a:off x="2560320" y="3712464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60320" y="37124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1"/>
                </a:solidFill>
              </a:rPr>
              <a:t>+ 新增 URI（Add URI）</a:t>
            </a:r>
            <a:endParaRPr lang="zh-TW" sz="1050" dirty="0"/>
          </a:p>
        </p:txBody>
      </p:sp>
      <p:sp>
        <p:nvSpPr>
          <p:cNvPr id="34" name="marker-3"/>
          <p:cNvSpPr/>
          <p:nvPr/>
        </p:nvSpPr>
        <p:spPr>
          <a:xfrm>
            <a:off x="4535424" y="3730752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marker-3-text"/>
          <p:cNvSpPr txBox="1"/>
          <p:nvPr/>
        </p:nvSpPr>
        <p:spPr>
          <a:xfrm>
            <a:off x="4535424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416966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已授權的重新導向 URI Authorized redirect URIs</a:t>
            </a:r>
            <a:endParaRPr lang="zh-TW" sz="1000" dirty="0"/>
          </a:p>
        </p:txBody>
      </p:sp>
      <p:sp>
        <p:nvSpPr>
          <p:cNvPr id="37" name="Shape 35"/>
          <p:cNvSpPr/>
          <p:nvPr/>
        </p:nvSpPr>
        <p:spPr>
          <a:xfrm>
            <a:off x="2560320" y="4389120"/>
            <a:ext cx="384048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3891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rgbClr val="A8A196"/>
                </a:solidFill>
              </a:rPr>
              <a:t>（留空）</a:t>
            </a:r>
            <a:endParaRPr lang="zh-TW" sz="1050" dirty="0"/>
          </a:p>
        </p:txBody>
      </p:sp>
      <p:sp>
        <p:nvSpPr>
          <p:cNvPr id="39" name="marker-4"/>
          <p:cNvSpPr/>
          <p:nvPr/>
        </p:nvSpPr>
        <p:spPr>
          <a:xfrm>
            <a:off x="6455664" y="440740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marker-4-text"/>
          <p:cNvSpPr txBox="1"/>
          <p:nvPr/>
        </p:nvSpPr>
        <p:spPr>
          <a:xfrm>
            <a:off x="6455664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41" name="Shape 39"/>
          <p:cNvSpPr/>
          <p:nvPr/>
        </p:nvSpPr>
        <p:spPr>
          <a:xfrm>
            <a:off x="2560320" y="486460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19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816352" y="480974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Use this client for an AI-powered agent（不要勾）</a:t>
            </a:r>
            <a:endParaRPr lang="zh-TW" sz="1050" dirty="0"/>
          </a:p>
        </p:txBody>
      </p:sp>
      <p:sp>
        <p:nvSpPr>
          <p:cNvPr id="43" name="Shape 41"/>
          <p:cNvSpPr/>
          <p:nvPr/>
        </p:nvSpPr>
        <p:spPr>
          <a:xfrm>
            <a:off x="2505456" y="4773168"/>
            <a:ext cx="3931920" cy="347472"/>
          </a:xfrm>
          <a:prstGeom prst="roundRect">
            <a:avLst>
              <a:gd name="adj" fmla="val 13158"/>
            </a:avLst>
          </a:prstGeom>
          <a:ln w="25400">
            <a:solidFill>
              <a:schemeClr val="accent3"/>
            </a:solidFill>
            <a:prstDash val="solid"/>
          </a:ln>
        </p:spPr>
      </p:sp>
      <p:sp>
        <p:nvSpPr>
          <p:cNvPr id="44" name="marker-4"/>
          <p:cNvSpPr/>
          <p:nvPr/>
        </p:nvSpPr>
        <p:spPr>
          <a:xfrm>
            <a:off x="6510528" y="4809744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marker-4-text"/>
          <p:cNvSpPr txBox="1"/>
          <p:nvPr/>
        </p:nvSpPr>
        <p:spPr>
          <a:xfrm>
            <a:off x="6510528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46" name="Shape 44"/>
          <p:cNvSpPr/>
          <p:nvPr/>
        </p:nvSpPr>
        <p:spPr>
          <a:xfrm>
            <a:off x="2560320" y="5193792"/>
            <a:ext cx="11887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560320" y="51937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bg1"/>
                </a:solidFill>
              </a:rPr>
              <a:t>建立 Create</a:t>
            </a:r>
            <a:endParaRPr lang="zh-TW" sz="1050" dirty="0"/>
          </a:p>
        </p:txBody>
      </p:sp>
      <p:sp>
        <p:nvSpPr>
          <p:cNvPr id="48" name="marker-5"/>
          <p:cNvSpPr/>
          <p:nvPr/>
        </p:nvSpPr>
        <p:spPr>
          <a:xfrm>
            <a:off x="3803904" y="521208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marker-5-text"/>
          <p:cNvSpPr txBox="1"/>
          <p:nvPr/>
        </p:nvSpPr>
        <p:spPr>
          <a:xfrm>
            <a:off x="3803904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5</a:t>
            </a:r>
            <a:endParaRPr lang="zh-TW" sz="1200" dirty="0"/>
          </a:p>
        </p:txBody>
      </p:sp>
      <p:sp>
        <p:nvSpPr>
          <p:cNvPr id="50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854696" y="1463040"/>
            <a:ext cx="3788359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左側點「用戶端」→「建立用戶端」</a:t>
            </a:r>
            <a:endParaRPr lang="zh-TW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7854696" y="1770888"/>
            <a:ext cx="3788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（Clients → Create client）</a:t>
            </a:r>
            <a:endParaRPr lang="zh-TW" sz="1200" dirty="0"/>
          </a:p>
        </p:txBody>
      </p:sp>
      <p:sp>
        <p:nvSpPr>
          <p:cNvPr id="54" name="marker-2"/>
          <p:cNvSpPr/>
          <p:nvPr/>
        </p:nvSpPr>
        <p:spPr>
          <a:xfrm>
            <a:off x="7452360" y="2118360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marker-2-text"/>
          <p:cNvSpPr txBox="1"/>
          <p:nvPr/>
        </p:nvSpPr>
        <p:spPr>
          <a:xfrm>
            <a:off x="7452360" y="2118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7854696" y="2109216"/>
            <a:ext cx="3788359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類型選「網頁應用程式」</a:t>
            </a:r>
            <a:endParaRPr lang="zh-TW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7854696" y="2417064"/>
            <a:ext cx="3788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名稱隨意，例如「論憶 Web」。</a:t>
            </a:r>
            <a:endParaRPr lang="zh-TW" sz="1200" dirty="0"/>
          </a:p>
        </p:txBody>
      </p:sp>
      <p:sp>
        <p:nvSpPr>
          <p:cNvPr id="58" name="marker-3"/>
          <p:cNvSpPr/>
          <p:nvPr/>
        </p:nvSpPr>
        <p:spPr>
          <a:xfrm>
            <a:off x="7452360" y="276453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marker-3-text"/>
          <p:cNvSpPr txBox="1"/>
          <p:nvPr/>
        </p:nvSpPr>
        <p:spPr>
          <a:xfrm>
            <a:off x="7452360" y="2764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7854696" y="2755392"/>
            <a:ext cx="378835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「已授權的 JavaScript 來源」按兩次「新增 URI」（Add URI）</a:t>
            </a:r>
            <a:endParaRPr lang="zh-TW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7854696" y="3297936"/>
            <a:ext cx="3788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各貼一個。只有網域，最後不要加「/」。</a:t>
            </a:r>
            <a:endParaRPr lang="zh-TW" sz="1200" dirty="0"/>
          </a:p>
        </p:txBody>
      </p:sp>
      <p:sp>
        <p:nvSpPr>
          <p:cNvPr id="62" name="paste"/>
          <p:cNvSpPr/>
          <p:nvPr/>
        </p:nvSpPr>
        <p:spPr>
          <a:xfrm>
            <a:off x="7854696" y="3553968"/>
            <a:ext cx="378835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946136" y="3553968"/>
            <a:ext cx="3184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https://journal-article-memory-tool.vercel.app</a:t>
            </a:r>
            <a:endParaRPr lang="zh-TW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11167567" y="355396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b="1" dirty="0">
                <a:solidFill>
                  <a:schemeClr val="tx2"/>
                </a:solidFill>
              </a:rPr>
              <a:t>貼上</a:t>
            </a:r>
            <a:endParaRPr lang="zh-TW" sz="950" dirty="0"/>
          </a:p>
        </p:txBody>
      </p:sp>
      <p:sp>
        <p:nvSpPr>
          <p:cNvPr id="65" name="paste"/>
          <p:cNvSpPr/>
          <p:nvPr/>
        </p:nvSpPr>
        <p:spPr>
          <a:xfrm>
            <a:off x="7854696" y="3919728"/>
            <a:ext cx="378835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946136" y="3919728"/>
            <a:ext cx="3184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https://charleslin2003-prog.github.io</a:t>
            </a:r>
            <a:endParaRPr lang="zh-TW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11167567" y="391972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b="1" dirty="0">
                <a:solidFill>
                  <a:schemeClr val="tx2"/>
                </a:solidFill>
              </a:rPr>
              <a:t>貼上</a:t>
            </a:r>
            <a:endParaRPr lang="zh-TW" sz="950" dirty="0"/>
          </a:p>
        </p:txBody>
      </p:sp>
      <p:sp>
        <p:nvSpPr>
          <p:cNvPr id="68" name="marker-4"/>
          <p:cNvSpPr/>
          <p:nvPr/>
        </p:nvSpPr>
        <p:spPr>
          <a:xfrm>
            <a:off x="7452360" y="4376928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marker-4-text"/>
          <p:cNvSpPr txBox="1"/>
          <p:nvPr/>
        </p:nvSpPr>
        <p:spPr>
          <a:xfrm>
            <a:off x="7452360" y="4376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7854696" y="4367784"/>
            <a:ext cx="3788359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「已授權的重新導向 URI」留空</a:t>
            </a:r>
            <a:endParaRPr lang="zh-TW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854696" y="4675632"/>
            <a:ext cx="37883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也不要勾「Use this client for an AI-powered agent」，建立後就不能改。</a:t>
            </a:r>
            <a:endParaRPr lang="zh-TW" sz="1200" dirty="0"/>
          </a:p>
        </p:txBody>
      </p:sp>
      <p:sp>
        <p:nvSpPr>
          <p:cNvPr id="72" name="marker-5"/>
          <p:cNvSpPr/>
          <p:nvPr/>
        </p:nvSpPr>
        <p:spPr>
          <a:xfrm>
            <a:off x="7452360" y="5224272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marker-5-text"/>
          <p:cNvSpPr txBox="1"/>
          <p:nvPr/>
        </p:nvSpPr>
        <p:spPr>
          <a:xfrm>
            <a:off x="7452360" y="5224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5</a:t>
            </a:r>
            <a:endParaRPr lang="zh-TW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7854696" y="5215128"/>
            <a:ext cx="3788359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按「建立」，複製「用戶端 ID」</a:t>
            </a:r>
            <a:endParaRPr lang="zh-TW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7854696" y="5522976"/>
            <a:ext cx="37883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結尾是 .apps.googleusercontent.com。用戶端密鑰（Client secret）用不到，也不用下載 JSON。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A5　論憶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先在自己的瀏覽器貼上用戶端 ID 試用</a:t>
            </a:r>
            <a:endParaRPr lang="zh-TW" sz="2800" dirty="0"/>
          </a:p>
        </p:txBody>
      </p:sp>
      <p:sp>
        <p:nvSpPr>
          <p:cNvPr id="4" name="_login-alert.png-frame"/>
          <p:cNvSpPr/>
          <p:nvPr/>
        </p:nvSpPr>
        <p:spPr>
          <a:xfrm>
            <a:off x="548640" y="1481328"/>
            <a:ext cx="4023360" cy="1872778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_login-alert.png" descr="_login-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4023360" cy="1872778"/>
          </a:xfrm>
          <a:prstGeom prst="rect">
            <a:avLst/>
          </a:prstGeom>
        </p:spPr>
      </p:pic>
      <p:sp>
        <p:nvSpPr>
          <p:cNvPr id="6" name="hl-1"/>
          <p:cNvSpPr/>
          <p:nvPr/>
        </p:nvSpPr>
        <p:spPr>
          <a:xfrm>
            <a:off x="866067" y="1629752"/>
            <a:ext cx="3388505" cy="495703"/>
          </a:xfrm>
          <a:prstGeom prst="roundRect">
            <a:avLst>
              <a:gd name="adj" fmla="val 11068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7" name="marker-1"/>
          <p:cNvSpPr/>
          <p:nvPr/>
        </p:nvSpPr>
        <p:spPr>
          <a:xfrm>
            <a:off x="4291149" y="172215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marker-1-text"/>
          <p:cNvSpPr txBox="1"/>
          <p:nvPr/>
        </p:nvSpPr>
        <p:spPr>
          <a:xfrm>
            <a:off x="4291149" y="17221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9" name="hl-2"/>
          <p:cNvSpPr/>
          <p:nvPr/>
        </p:nvSpPr>
        <p:spPr>
          <a:xfrm>
            <a:off x="999744" y="2997651"/>
            <a:ext cx="2153630" cy="235882"/>
          </a:xfrm>
          <a:prstGeom prst="roundRect">
            <a:avLst>
              <a:gd name="adj" fmla="val 23259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0" name="marker-2"/>
          <p:cNvSpPr/>
          <p:nvPr/>
        </p:nvSpPr>
        <p:spPr>
          <a:xfrm>
            <a:off x="3189950" y="296014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2-text"/>
          <p:cNvSpPr txBox="1"/>
          <p:nvPr/>
        </p:nvSpPr>
        <p:spPr>
          <a:xfrm>
            <a:off x="3189950" y="2960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46383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↓ 打開「設定與備份 → 進階」</a:t>
            </a:r>
            <a:endParaRPr lang="zh-TW" sz="1200" dirty="0"/>
          </a:p>
        </p:txBody>
      </p:sp>
      <p:sp>
        <p:nvSpPr>
          <p:cNvPr id="13" name="card-client.png-frame"/>
          <p:cNvSpPr/>
          <p:nvPr/>
        </p:nvSpPr>
        <p:spPr>
          <a:xfrm>
            <a:off x="548640" y="3857026"/>
            <a:ext cx="6629400" cy="1956742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4" name="card-client.png" descr="card-cl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57026"/>
            <a:ext cx="6629400" cy="1956742"/>
          </a:xfrm>
          <a:prstGeom prst="rect">
            <a:avLst/>
          </a:prstGeom>
        </p:spPr>
      </p:pic>
      <p:sp>
        <p:nvSpPr>
          <p:cNvPr id="15" name="hl-3"/>
          <p:cNvSpPr/>
          <p:nvPr/>
        </p:nvSpPr>
        <p:spPr>
          <a:xfrm>
            <a:off x="681597" y="4788519"/>
            <a:ext cx="6363487" cy="473304"/>
          </a:xfrm>
          <a:prstGeom prst="roundRect">
            <a:avLst>
              <a:gd name="adj" fmla="val 11592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6" name="marker-3"/>
          <p:cNvSpPr/>
          <p:nvPr/>
        </p:nvSpPr>
        <p:spPr>
          <a:xfrm>
            <a:off x="334125" y="4869723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marker-3-text"/>
          <p:cNvSpPr txBox="1"/>
          <p:nvPr/>
        </p:nvSpPr>
        <p:spPr>
          <a:xfrm>
            <a:off x="334125" y="48697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18" name="hl-4"/>
          <p:cNvSpPr/>
          <p:nvPr/>
        </p:nvSpPr>
        <p:spPr>
          <a:xfrm>
            <a:off x="681597" y="5292792"/>
            <a:ext cx="610878" cy="387470"/>
          </a:xfrm>
          <a:prstGeom prst="roundRect">
            <a:avLst>
              <a:gd name="adj" fmla="val 14160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9" name="marker-4"/>
          <p:cNvSpPr/>
          <p:nvPr/>
        </p:nvSpPr>
        <p:spPr>
          <a:xfrm>
            <a:off x="1329051" y="533107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marker-4-text"/>
          <p:cNvSpPr txBox="1"/>
          <p:nvPr/>
        </p:nvSpPr>
        <p:spPr>
          <a:xfrm>
            <a:off x="1329051" y="53310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21" name="tag-real"/>
          <p:cNvSpPr/>
          <p:nvPr/>
        </p:nvSpPr>
        <p:spPr>
          <a:xfrm>
            <a:off x="548640" y="5886921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5886921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實際畫面</a:t>
            </a:r>
            <a:endParaRPr lang="zh-TW" sz="1000" dirty="0"/>
          </a:p>
        </p:txBody>
      </p:sp>
      <p:sp>
        <p:nvSpPr>
          <p:cNvPr id="23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854696" y="1463040"/>
            <a:ext cx="3788359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按左上角頭像，在登入視窗先按灰色的「繼續使用 Google」</a:t>
            </a:r>
            <a:endParaRPr lang="zh-TW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7854696" y="2022348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這時還不能登入，會跳出紅色提示框。</a:t>
            </a:r>
            <a:endParaRPr lang="zh-TW" sz="1250" dirty="0"/>
          </a:p>
        </p:txBody>
      </p:sp>
      <p:sp>
        <p:nvSpPr>
          <p:cNvPr id="27" name="marker-2"/>
          <p:cNvSpPr/>
          <p:nvPr/>
        </p:nvSpPr>
        <p:spPr>
          <a:xfrm>
            <a:off x="7452360" y="2442210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marker-2-text"/>
          <p:cNvSpPr txBox="1"/>
          <p:nvPr/>
        </p:nvSpPr>
        <p:spPr>
          <a:xfrm>
            <a:off x="7452360" y="244221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854696" y="2433066"/>
            <a:ext cx="3788359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點紅框裡的「我是網站管理者：在這台瀏覽器先試用」</a:t>
            </a:r>
            <a:endParaRPr lang="zh-TW" sz="1450" dirty="0"/>
          </a:p>
        </p:txBody>
      </p:sp>
      <p:sp>
        <p:nvSpPr>
          <p:cNvPr id="30" name="Text 26"/>
          <p:cNvSpPr txBox="1"/>
          <p:nvPr/>
        </p:nvSpPr>
        <p:spPr>
          <a:xfrm>
            <a:off x="7854696" y="2992374"/>
            <a:ext cx="3788359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會打開「設定與備份」→「進階」。也可以自己從左側進去，捲到最下面的「Google OAuth 用戶端 ID」卡片。</a:t>
            </a:r>
            <a:endParaRPr lang="zh-TW" sz="1250" dirty="0"/>
          </a:p>
        </p:txBody>
      </p:sp>
      <p:sp>
        <p:nvSpPr>
          <p:cNvPr id="31" name="marker-3"/>
          <p:cNvSpPr/>
          <p:nvPr/>
        </p:nvSpPr>
        <p:spPr>
          <a:xfrm>
            <a:off x="7452360" y="383133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marker-3-text"/>
          <p:cNvSpPr txBox="1"/>
          <p:nvPr/>
        </p:nvSpPr>
        <p:spPr>
          <a:xfrm>
            <a:off x="7452360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854696" y="3822192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在「Google OAuth 用戶端 ID」貼上 ID</a:t>
            </a:r>
            <a:endParaRPr lang="zh-TW" sz="1450" dirty="0"/>
          </a:p>
        </p:txBody>
      </p:sp>
      <p:sp>
        <p:nvSpPr>
          <p:cNvPr id="34" name="Text 30"/>
          <p:cNvSpPr txBox="1"/>
          <p:nvPr/>
        </p:nvSpPr>
        <p:spPr>
          <a:xfrm>
            <a:off x="7854696" y="4138422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就是 A4 複製的那一串。</a:t>
            </a:r>
            <a:endParaRPr lang="zh-TW" sz="1250" dirty="0"/>
          </a:p>
        </p:txBody>
      </p:sp>
      <p:sp>
        <p:nvSpPr>
          <p:cNvPr id="35" name="paste"/>
          <p:cNvSpPr/>
          <p:nvPr/>
        </p:nvSpPr>
        <p:spPr>
          <a:xfrm>
            <a:off x="7854696" y="4402836"/>
            <a:ext cx="378835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946136" y="4402836"/>
            <a:ext cx="28922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123456789-xxxx.apps.googleusercontent.com</a:t>
            </a:r>
            <a:endParaRPr lang="zh-TW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10874959" y="44028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b="1" dirty="0">
                <a:solidFill>
                  <a:schemeClr val="accent3"/>
                </a:solidFill>
              </a:rPr>
              <a:t>換成你的</a:t>
            </a:r>
            <a:endParaRPr lang="zh-TW" sz="950" dirty="0"/>
          </a:p>
        </p:txBody>
      </p:sp>
      <p:sp>
        <p:nvSpPr>
          <p:cNvPr id="38" name="marker-4"/>
          <p:cNvSpPr/>
          <p:nvPr/>
        </p:nvSpPr>
        <p:spPr>
          <a:xfrm>
            <a:off x="7452360" y="492404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marker-4-text"/>
          <p:cNvSpPr txBox="1"/>
          <p:nvPr/>
        </p:nvSpPr>
        <p:spPr>
          <a:xfrm>
            <a:off x="7452360" y="49240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7854696" y="491490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按「儲存」</a:t>
            </a:r>
            <a:endParaRPr lang="zh-TW" sz="1450" dirty="0"/>
          </a:p>
        </p:txBody>
      </p:sp>
      <p:sp>
        <p:nvSpPr>
          <p:cNvPr id="41" name="Text 37"/>
          <p:cNvSpPr txBox="1"/>
          <p:nvPr/>
        </p:nvSpPr>
        <p:spPr>
          <a:xfrm>
            <a:off x="7854696" y="5231130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畫面提示「已儲存 Google 用戶端 ID」。這裡填的只對這台瀏覽器有效，其他人還不能用。</a:t>
            </a:r>
            <a:endParaRPr lang="zh-TW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A6　論憶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確認登得進去，再把 ID 寫進程式給所有人用</a:t>
            </a:r>
            <a:endParaRPr lang="zh-TW" sz="2800" dirty="0"/>
          </a:p>
        </p:txBody>
      </p:sp>
      <p:sp>
        <p:nvSpPr>
          <p:cNvPr id="4" name="login-on.png-frame"/>
          <p:cNvSpPr/>
          <p:nvPr/>
        </p:nvSpPr>
        <p:spPr>
          <a:xfrm>
            <a:off x="548640" y="1481328"/>
            <a:ext cx="3383280" cy="3624943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login-on.png" descr="login-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3383280" cy="3624943"/>
          </a:xfrm>
          <a:prstGeom prst="rect">
            <a:avLst/>
          </a:prstGeom>
        </p:spPr>
      </p:pic>
      <p:sp>
        <p:nvSpPr>
          <p:cNvPr id="6" name="hl-2"/>
          <p:cNvSpPr/>
          <p:nvPr/>
        </p:nvSpPr>
        <p:spPr>
          <a:xfrm>
            <a:off x="802059" y="2865916"/>
            <a:ext cx="2876441" cy="442919"/>
          </a:xfrm>
          <a:prstGeom prst="roundRect">
            <a:avLst>
              <a:gd name="adj" fmla="val 12387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7" name="marker-2"/>
          <p:cNvSpPr/>
          <p:nvPr/>
        </p:nvSpPr>
        <p:spPr>
          <a:xfrm>
            <a:off x="3715077" y="293192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marker-2-text"/>
          <p:cNvSpPr txBox="1"/>
          <p:nvPr/>
        </p:nvSpPr>
        <p:spPr>
          <a:xfrm>
            <a:off x="3715077" y="2931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9" name="tag-real"/>
          <p:cNvSpPr/>
          <p:nvPr/>
        </p:nvSpPr>
        <p:spPr>
          <a:xfrm>
            <a:off x="640080" y="5197711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5197711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實際畫面</a:t>
            </a:r>
            <a:endParaRPr lang="zh-TW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1481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tx2"/>
                </a:solidFill>
              </a:rPr>
              <a:t>src/app.html（搜尋 GOOGLE_CLIENT_ID）</a:t>
            </a:r>
            <a:endParaRPr lang="zh-TW" sz="1100" dirty="0"/>
          </a:p>
        </p:txBody>
      </p:sp>
      <p:sp>
        <p:nvSpPr>
          <p:cNvPr id="12" name="code"/>
          <p:cNvSpPr/>
          <p:nvPr/>
        </p:nvSpPr>
        <p:spPr>
          <a:xfrm>
            <a:off x="4251960" y="1783080"/>
            <a:ext cx="2971800" cy="10972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89120" y="1828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rgbClr val="A8A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改前</a:t>
            </a:r>
            <a:endParaRPr lang="zh-TW" sz="1050" dirty="0"/>
          </a:p>
          <a:p>
            <a:pPr indent="0" marL="0">
              <a:buNone/>
            </a:pPr>
            <a:r>
              <a:rPr lang="zh-TW" altLang="en-US" sz="1050" dirty="0">
                <a:solidFill>
                  <a:srgbClr val="F4F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GOOGLE_CLIENT_ID = '';</a:t>
            </a:r>
            <a:endParaRPr lang="zh-TW" sz="1050" dirty="0"/>
          </a:p>
          <a:p>
            <a:pPr indent="0" marL="0">
              <a:buNone/>
            </a:pPr>
            <a:r>
              <a:rPr lang="zh-TW" altLang="en-US" sz="1050" dirty="0">
                <a:solidFill>
                  <a:srgbClr val="A8A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改後</a:t>
            </a:r>
            <a:endParaRPr lang="zh-TW" sz="1050" dirty="0"/>
          </a:p>
          <a:p>
            <a:pPr indent="0" marL="0">
              <a:buNone/>
            </a:pPr>
            <a:r>
              <a:rPr lang="zh-TW" altLang="en-US" sz="1050" dirty="0">
                <a:solidFill>
                  <a:srgbClr val="FAEC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GOOGLE_CLIENT_ID = '</a:t>
            </a:r>
            <a:pPr indent="0" marL="0">
              <a:buNone/>
            </a:pPr>
            <a:r>
              <a:rPr lang="zh-TW" altLang="en-US" sz="1050" b="1" dirty="0">
                <a:solidFill>
                  <a:srgbClr val="FAEC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你的ID</a:t>
            </a:r>
            <a:pPr indent="0" marL="0">
              <a:buNone/>
            </a:pPr>
            <a:r>
              <a:rPr lang="zh-TW" altLang="en-US" sz="1050" dirty="0">
                <a:solidFill>
                  <a:srgbClr val="FAEC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  <a:endParaRPr lang="zh-TW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251960" y="2971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改完執行 python tools/build.py，把 src/app.html 和 index.html 一起 commit，再 push 到 main，Vercel 會自動更新。</a:t>
            </a:r>
            <a:endParaRPr lang="zh-TW" sz="1150" dirty="0"/>
          </a:p>
        </p:txBody>
      </p:sp>
      <p:sp>
        <p:nvSpPr>
          <p:cNvPr id="15" name="note"/>
          <p:cNvSpPr/>
          <p:nvPr/>
        </p:nvSpPr>
        <p:spPr>
          <a:xfrm>
            <a:off x="4251960" y="3794760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EEF4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398264" y="388620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rgbClr val="1D3B3D"/>
                </a:solidFill>
              </a:rPr>
              <a:t>不想自己改程式：把用戶端 ID 直接貼給 Claude，請它寫進程式並發布。</a:t>
            </a:r>
            <a:endParaRPr lang="zh-TW" sz="1200" dirty="0"/>
          </a:p>
        </p:txBody>
      </p:sp>
      <p:sp>
        <p:nvSpPr>
          <p:cNvPr id="17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854696" y="146304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等 5 分鐘以上</a:t>
            </a:r>
            <a:endParaRPr lang="zh-TW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7854696" y="1779270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Google 的設定要 5 分鐘到幾小時才會生效。</a:t>
            </a:r>
            <a:endParaRPr lang="zh-TW" sz="1250" dirty="0"/>
          </a:p>
        </p:txBody>
      </p:sp>
      <p:sp>
        <p:nvSpPr>
          <p:cNvPr id="21" name="marker-2"/>
          <p:cNvSpPr/>
          <p:nvPr/>
        </p:nvSpPr>
        <p:spPr>
          <a:xfrm>
            <a:off x="7452360" y="2235708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marker-2-text"/>
          <p:cNvSpPr txBox="1"/>
          <p:nvPr/>
        </p:nvSpPr>
        <p:spPr>
          <a:xfrm>
            <a:off x="7452360" y="22357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854696" y="2226564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在 A5 的同一個瀏覽器按「繼續使用 Google」</a:t>
            </a:r>
            <a:endParaRPr lang="zh-TW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7854696" y="2542794"/>
            <a:ext cx="3788359" cy="85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不要用無痕視窗：無痕視窗沒有 A5 存的 ID。選一個測試使用者的帳號，看到「Google 尚未驗證這個應用程式」時按「繼續」，再按同意。左上角出現你的頭像就成功了。</a:t>
            </a:r>
            <a:endParaRPr lang="zh-TW" sz="1250" dirty="0"/>
          </a:p>
        </p:txBody>
      </p:sp>
      <p:sp>
        <p:nvSpPr>
          <p:cNvPr id="25" name="marker-3"/>
          <p:cNvSpPr/>
          <p:nvPr/>
        </p:nvSpPr>
        <p:spPr>
          <a:xfrm>
            <a:off x="7452360" y="3627882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marker-3-text"/>
          <p:cNvSpPr txBox="1"/>
          <p:nvPr/>
        </p:nvSpPr>
        <p:spPr>
          <a:xfrm>
            <a:off x="7452360" y="36278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854696" y="3618738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寫進程式並發布</a:t>
            </a:r>
            <a:endParaRPr lang="zh-TW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7854696" y="3934968"/>
            <a:ext cx="3788359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照左邊的方法，或交給 Claude。發布後開無痕視窗再試一次：不用貼 ID 也能登入，才代表所有人都能用。</a:t>
            </a:r>
            <a:endParaRPr lang="zh-TW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A7　要讓更多人登入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維持「測試中」，還是「發布應用程式」？</a:t>
            </a:r>
            <a:endParaRPr lang="zh-TW" sz="2800" dirty="0"/>
          </a:p>
        </p:txBody>
      </p:sp>
      <p:graphicFrame>
        <p:nvGraphicFramePr>
          <p:cNvPr id="11" name="publis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34840"/>
                <a:gridCol w="45537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3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chemeClr val="bg1"/>
                          </a:solidFill>
                        </a:rPr>
                        <a:t>維持「測試中」（Testing）</a:t>
                      </a:r>
                      <a:endParaRPr lang="zh-TW" sz="13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chemeClr val="bg1"/>
                          </a:solidFill>
                        </a:rPr>
                        <a:t>按「發布應用程式」（Publish app）</a:t>
                      </a:r>
                      <a:endParaRPr lang="zh-TW" sz="13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chemeClr val="tx1"/>
                          </a:solidFill>
                        </a:rPr>
                        <a:t>誰能登入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只有測試使用者名單上的人（最多 100 人）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任何 Google 帳號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chemeClr val="tx1"/>
                          </a:solidFill>
                        </a:rPr>
                        <a:t>要不要送 Google 審查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不用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只用登入、雲端硬碟同步、匯出文件：不用。</a:t>
                      </a:r>
                      <a:endParaRPr lang="zh-TW" sz="1250" dirty="0"/>
                    </a:p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「匯入 PDF」「排入日曆」要通過驗證才不會跳警告。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chemeClr val="tx1"/>
                          </a:solidFill>
                        </a:rPr>
                        <a:t>使用者會看到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「Google 尚未驗證這個應用程式」，按「繼續」。</a:t>
                      </a:r>
                      <a:endParaRPr lang="zh-TW" sz="1250" dirty="0"/>
                    </a:p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同意 7 天後要再按一次。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匯入 PDF（受限權限）、排入日曆（敏感權限）在驗證前會跳出未驗證警告，最多 100 位新使用者。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chemeClr val="tx1"/>
                          </a:solidFill>
                        </a:rPr>
                        <a:t>還要準備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把要登入的人加進名單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首頁與隱私權政策連結（外部應用程式上線必備）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chemeClr val="tx1"/>
                          </a:solidFill>
                        </a:rPr>
                        <a:t>適合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課堂展示、期末報告（建議）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chemeClr val="tx1"/>
                          </a:solidFill>
                        </a:rPr>
                        <a:t>真的要公開給所有人時</a:t>
                      </a:r>
                      <a:endParaRPr lang="zh-TW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/>
          <p:nvPr/>
        </p:nvSpPr>
        <p:spPr>
          <a:xfrm>
            <a:off x="548640" y="5394960"/>
            <a:ext cx="11094415" cy="430530"/>
          </a:xfrm>
          <a:prstGeom prst="roundRect">
            <a:avLst>
              <a:gd name="adj" fmla="val 12743"/>
            </a:avLst>
          </a:prstGeom>
          <a:solidFill>
            <a:srgbClr val="EEF4F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94944" y="5486400"/>
            <a:ext cx="108018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rgbClr val="1D3B3D"/>
                </a:solidFill>
              </a:rPr>
              <a:t>在哪裡切換：Google Auth Platform →「目標對象」（Audience）→「發布狀態」。Google 會刪除連續 6 個月沒用的用戶端，久沒用先確認還在。</a:t>
            </a:r>
            <a:endParaRPr lang="zh-TW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B0　先決定接法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只有自己用就選接法 1，不用設定 Vercel</a:t>
            </a:r>
            <a:endParaRPr lang="zh-TW" sz="2800" dirty="0"/>
          </a:p>
        </p:txBody>
      </p:sp>
      <p:sp>
        <p:nvSpPr>
          <p:cNvPr id="4" name="route-1"/>
          <p:cNvSpPr/>
          <p:nvPr/>
        </p:nvSpPr>
        <p:spPr>
          <a:xfrm>
            <a:off x="548640" y="1508760"/>
            <a:ext cx="544068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icon-LuLaptop-bg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Laptop" descr="LuLap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01368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接法 1：只有自己用（建議）</a:t>
            </a:r>
            <a:endParaRPr lang="zh-TW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金鑰放在</a:t>
            </a:r>
            <a:endParaRPr lang="zh-TW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你自己的瀏覽器</a:t>
            </a:r>
            <a:endParaRPr lang="zh-TW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035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要做</a:t>
            </a:r>
            <a:endParaRPr lang="zh-TW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3035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B1、B2，再把金鑰貼進論憶（「接法 1」那一頁）</a:t>
            </a:r>
            <a:endParaRPr lang="zh-TW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5112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每台電腦</a:t>
            </a:r>
            <a:endParaRPr lang="zh-TW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011680" y="35112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各貼一次金鑰</a:t>
            </a:r>
            <a:endParaRPr lang="zh-TW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3986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別人</a:t>
            </a:r>
            <a:endParaRPr lang="zh-TW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3986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用不到你的額度</a:t>
            </a:r>
            <a:endParaRPr lang="zh-TW" sz="1350" dirty="0"/>
          </a:p>
        </p:txBody>
      </p:sp>
      <p:sp>
        <p:nvSpPr>
          <p:cNvPr id="16" name="route-2"/>
          <p:cNvSpPr/>
          <p:nvPr/>
        </p:nvSpPr>
        <p:spPr>
          <a:xfrm>
            <a:off x="6199632" y="1508760"/>
            <a:ext cx="544068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17" name="icon-LuServer-bg"/>
          <p:cNvSpPr/>
          <p:nvPr/>
        </p:nvSpPr>
        <p:spPr>
          <a:xfrm>
            <a:off x="6473952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LuServer" descr="Lu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190378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59752" y="1801368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接法 2：網站後端</a:t>
            </a:r>
            <a:endParaRPr lang="zh-TW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6519672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金鑰放在</a:t>
            </a:r>
            <a:endParaRPr lang="zh-TW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662672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Vercel，不會留在任何瀏覽器</a:t>
            </a:r>
            <a:endParaRPr lang="zh-TW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6519672" y="3035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要做</a:t>
            </a:r>
            <a:endParaRPr lang="zh-TW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662672" y="3035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B1、B2，再做 B3～B7</a:t>
            </a:r>
            <a:endParaRPr lang="zh-TW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6519672" y="35112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每台裝置</a:t>
            </a:r>
            <a:endParaRPr lang="zh-TW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7662672" y="35112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只要輸入存取碼</a:t>
            </a:r>
            <a:endParaRPr lang="zh-TW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6519672" y="3986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別人</a:t>
            </a:r>
            <a:endParaRPr lang="zh-TW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7662672" y="3986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拿到存取碼就能用，從你的額度扣</a:t>
            </a:r>
            <a:endParaRPr lang="zh-TW" sz="1350" dirty="0"/>
          </a:p>
        </p:txBody>
      </p:sp>
      <p:sp>
        <p:nvSpPr>
          <p:cNvPr id="28" name="note"/>
          <p:cNvSpPr/>
          <p:nvPr/>
        </p:nvSpPr>
        <p:spPr>
          <a:xfrm>
            <a:off x="548640" y="4846320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EEF4F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4937760"/>
            <a:ext cx="108018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rgbClr val="1D3B3D"/>
                </a:solidFill>
              </a:rPr>
              <a:t>兩種接法都從同一份 Max 附送額度扣（Max 20x 每月 200 美元，每個帳單週期重發，不能累積）。額度用完時 AI 只會暫停到下個帳單週期，不會從信用卡或訂閱扣款；前提是 Console 組織裡沒有加購的餘額，而且 auto-reload 是關的（開著的話，附送額度還有剩也可能刷卡，見 B1）。附送額度只能用在 API（例如論憶），不能用在 Claude Code。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B1　claude.ai＋Claude Console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綁定 Max 方案附送的 API 額度：不用儲值</a:t>
            </a:r>
            <a:endParaRPr lang="zh-TW" sz="2800" dirty="0"/>
          </a:p>
        </p:txBody>
      </p:sp>
      <p:sp>
        <p:nvSpPr>
          <p:cNvPr id="4" name="mock-window"/>
          <p:cNvSpPr/>
          <p:nvPr/>
        </p:nvSpPr>
        <p:spPr>
          <a:xfrm>
            <a:off x="548640" y="1463040"/>
            <a:ext cx="6583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C3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ock-bar"/>
          <p:cNvSpPr/>
          <p:nvPr/>
        </p:nvSpPr>
        <p:spPr>
          <a:xfrm>
            <a:off x="557784" y="1472184"/>
            <a:ext cx="6565392" cy="38404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00200"/>
            <a:ext cx="109728" cy="109728"/>
          </a:xfrm>
          <a:prstGeom prst="ellipse">
            <a:avLst/>
          </a:prstGeom>
          <a:solidFill>
            <a:srgbClr val="E0685A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00200"/>
            <a:ext cx="109728" cy="109728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600200"/>
            <a:ext cx="109728" cy="109728"/>
          </a:xfrm>
          <a:prstGeom prst="ellipse">
            <a:avLst/>
          </a:prstGeom>
          <a:solidFill>
            <a:srgbClr val="6BB86B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536192"/>
            <a:ext cx="56692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153619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　→ Settings → Billing</a:t>
            </a:r>
            <a:endParaRPr lang="zh-TW" sz="1000" dirty="0"/>
          </a:p>
        </p:txBody>
      </p:sp>
      <p:sp>
        <p:nvSpPr>
          <p:cNvPr id="11" name="tag-mock"/>
          <p:cNvSpPr/>
          <p:nvPr/>
        </p:nvSpPr>
        <p:spPr>
          <a:xfrm>
            <a:off x="5212080" y="3822192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3822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3"/>
                </a:solidFill>
              </a:rPr>
              <a:t>示意圖・依官方文件整理</a:t>
            </a:r>
            <a:endParaRPr lang="zh-TW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01168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Billing（帳單）</a:t>
            </a:r>
            <a:endParaRPr lang="zh-TW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1401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Max 20x · 訂閱滿 7 天後才會出現下面的區塊</a:t>
            </a:r>
            <a:endParaRPr lang="zh-TW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706624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API credits</a:t>
            </a:r>
            <a:endParaRPr lang="zh-TW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2962656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962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bg1"/>
                </a:solidFill>
              </a:rPr>
              <a:t>Link organization</a:t>
            </a:r>
            <a:endParaRPr lang="zh-TW" sz="1050" dirty="0"/>
          </a:p>
        </p:txBody>
      </p:sp>
      <p:sp>
        <p:nvSpPr>
          <p:cNvPr id="18" name="marker-2"/>
          <p:cNvSpPr/>
          <p:nvPr/>
        </p:nvSpPr>
        <p:spPr>
          <a:xfrm>
            <a:off x="2569464" y="2980944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marker-2-text"/>
          <p:cNvSpPr txBox="1"/>
          <p:nvPr/>
        </p:nvSpPr>
        <p:spPr>
          <a:xfrm>
            <a:off x="2569464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41985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選擇 Console 組織</a:t>
            </a:r>
            <a:endParaRPr lang="zh-TW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639312"/>
            <a:ext cx="329184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36393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Lunyi（或在這裡建立新的）</a:t>
            </a:r>
            <a:endParaRPr lang="zh-TW" sz="1050" dirty="0"/>
          </a:p>
        </p:txBody>
      </p:sp>
      <p:sp>
        <p:nvSpPr>
          <p:cNvPr id="23" name="marker-2"/>
          <p:cNvSpPr/>
          <p:nvPr/>
        </p:nvSpPr>
        <p:spPr>
          <a:xfrm>
            <a:off x="4123944" y="365760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marker-2-text"/>
          <p:cNvSpPr txBox="1"/>
          <p:nvPr/>
        </p:nvSpPr>
        <p:spPr>
          <a:xfrm>
            <a:off x="4123944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5" name="mock-window"/>
          <p:cNvSpPr/>
          <p:nvPr/>
        </p:nvSpPr>
        <p:spPr>
          <a:xfrm>
            <a:off x="548640" y="4343400"/>
            <a:ext cx="6583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C3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mock-bar"/>
          <p:cNvSpPr/>
          <p:nvPr/>
        </p:nvSpPr>
        <p:spPr>
          <a:xfrm>
            <a:off x="557784" y="4352544"/>
            <a:ext cx="6565392" cy="38404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" y="4480560"/>
            <a:ext cx="109728" cy="109728"/>
          </a:xfrm>
          <a:prstGeom prst="ellipse">
            <a:avLst/>
          </a:prstGeom>
          <a:solidFill>
            <a:srgbClr val="E0685A"/>
          </a:solidFill>
          <a:ln/>
        </p:spPr>
      </p:sp>
      <p:sp>
        <p:nvSpPr>
          <p:cNvPr id="28" name="Shape 26"/>
          <p:cNvSpPr/>
          <p:nvPr/>
        </p:nvSpPr>
        <p:spPr>
          <a:xfrm>
            <a:off x="877824" y="4480560"/>
            <a:ext cx="109728" cy="109728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0704" y="4480560"/>
            <a:ext cx="109728" cy="109728"/>
          </a:xfrm>
          <a:prstGeom prst="ellipse">
            <a:avLst/>
          </a:prstGeom>
          <a:solidFill>
            <a:srgbClr val="6BB86B"/>
          </a:solidFill>
          <a:ln/>
        </p:spPr>
      </p:sp>
      <p:sp>
        <p:nvSpPr>
          <p:cNvPr id="30" name="Shape 28"/>
          <p:cNvSpPr/>
          <p:nvPr/>
        </p:nvSpPr>
        <p:spPr>
          <a:xfrm>
            <a:off x="1280160" y="4416552"/>
            <a:ext cx="56692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17320" y="441655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platform.claude.com/settings/billing</a:t>
            </a:r>
            <a:endParaRPr lang="zh-TW" sz="1000" dirty="0"/>
          </a:p>
        </p:txBody>
      </p:sp>
      <p:sp>
        <p:nvSpPr>
          <p:cNvPr id="32" name="tag-mock"/>
          <p:cNvSpPr/>
          <p:nvPr/>
        </p:nvSpPr>
        <p:spPr>
          <a:xfrm>
            <a:off x="5212080" y="5605272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12080" y="56052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3"/>
                </a:solidFill>
              </a:rPr>
              <a:t>示意圖・依官方文件整理</a:t>
            </a:r>
            <a:endParaRPr lang="zh-TW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89204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Billing</a:t>
            </a:r>
            <a:endParaRPr lang="zh-TW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294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Promotional credits</a:t>
            </a:r>
            <a:endParaRPr lang="zh-TW" sz="1000" dirty="0"/>
          </a:p>
        </p:txBody>
      </p:sp>
      <p:sp>
        <p:nvSpPr>
          <p:cNvPr id="36" name="Shape 34"/>
          <p:cNvSpPr/>
          <p:nvPr/>
        </p:nvSpPr>
        <p:spPr>
          <a:xfrm>
            <a:off x="777240" y="5513832"/>
            <a:ext cx="384048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" y="55138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$200.00 · 到期日：本帳單週期結束</a:t>
            </a:r>
            <a:endParaRPr lang="zh-TW" sz="1050" dirty="0"/>
          </a:p>
        </p:txBody>
      </p:sp>
      <p:sp>
        <p:nvSpPr>
          <p:cNvPr id="38" name="marker-3"/>
          <p:cNvSpPr/>
          <p:nvPr/>
        </p:nvSpPr>
        <p:spPr>
          <a:xfrm>
            <a:off x="4672584" y="553212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marker-3-text"/>
          <p:cNvSpPr txBox="1"/>
          <p:nvPr/>
        </p:nvSpPr>
        <p:spPr>
          <a:xfrm>
            <a:off x="4672584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40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854696" y="1463040"/>
            <a:ext cx="3788359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打開 claude.ai 的「Settings」→「Billing」</a:t>
            </a:r>
            <a:endParaRPr lang="zh-TW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7854696" y="1762506"/>
            <a:ext cx="3788359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按你的帳號名稱（charles · Max）打開選單，進「Settings」，再點「Billing」。Max 方案要訂閱滿 7 天才能領額度。</a:t>
            </a:r>
            <a:endParaRPr lang="zh-TW" sz="1150" dirty="0"/>
          </a:p>
        </p:txBody>
      </p:sp>
      <p:sp>
        <p:nvSpPr>
          <p:cNvPr id="44" name="marker-2"/>
          <p:cNvSpPr/>
          <p:nvPr/>
        </p:nvSpPr>
        <p:spPr>
          <a:xfrm>
            <a:off x="7452360" y="247802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marker-2-text"/>
          <p:cNvSpPr txBox="1"/>
          <p:nvPr/>
        </p:nvSpPr>
        <p:spPr>
          <a:xfrm>
            <a:off x="7452360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854696" y="2468880"/>
            <a:ext cx="3788359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在「API credits」按「Link organization」</a:t>
            </a:r>
            <a:endParaRPr lang="zh-TW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7854696" y="2768346"/>
            <a:ext cx="3788359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建議在這裡建立一個新組織（例如 Lunyi）：新組織沒有付款方式，不可能被自動扣款。看完「Supplemental Credit Terms」，再按一次「Link organization」。每個方案只能綁一個組織，綁定後自己不能改。</a:t>
            </a:r>
            <a:endParaRPr lang="zh-TW" sz="1150" dirty="0"/>
          </a:p>
        </p:txBody>
      </p:sp>
      <p:sp>
        <p:nvSpPr>
          <p:cNvPr id="48" name="marker-3"/>
          <p:cNvSpPr/>
          <p:nvPr/>
        </p:nvSpPr>
        <p:spPr>
          <a:xfrm>
            <a:off x="7452360" y="3676650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marker-3-text"/>
          <p:cNvSpPr txBox="1"/>
          <p:nvPr/>
        </p:nvSpPr>
        <p:spPr>
          <a:xfrm>
            <a:off x="7452360" y="367665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854696" y="3667506"/>
            <a:ext cx="3788359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用 claude.ai 的同一個 Email 登入 platform.claude.com，到「Billing」確認</a:t>
            </a:r>
            <a:endParaRPr lang="zh-TW" sz="1350" dirty="0"/>
          </a:p>
        </p:txBody>
      </p:sp>
      <p:sp>
        <p:nvSpPr>
          <p:cNvPr id="51" name="Text 49"/>
          <p:cNvSpPr txBox="1"/>
          <p:nvPr/>
        </p:nvSpPr>
        <p:spPr>
          <a:xfrm>
            <a:off x="7854696" y="4193286"/>
            <a:ext cx="3788359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看到「Promotional credits」200 美元和到期日，才代表你在剛綁定的組織；沒看到就從組織選單切換過去。不要按 Buy credits，並確認 auto-reload 是關的。</a:t>
            </a:r>
            <a:endParaRPr lang="zh-TW" sz="1150" dirty="0"/>
          </a:p>
        </p:txBody>
      </p:sp>
      <p:sp>
        <p:nvSpPr>
          <p:cNvPr id="52" name="marker-4"/>
          <p:cNvSpPr/>
          <p:nvPr/>
        </p:nvSpPr>
        <p:spPr>
          <a:xfrm>
            <a:off x="7452360" y="490880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marker-4-text"/>
          <p:cNvSpPr txBox="1"/>
          <p:nvPr/>
        </p:nvSpPr>
        <p:spPr>
          <a:xfrm>
            <a:off x="7452360" y="49088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854696" y="4899660"/>
            <a:ext cx="3788359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在同一個組織建立工作區 lunyi，設每月上限</a:t>
            </a:r>
            <a:endParaRPr lang="zh-TW" sz="1350" dirty="0"/>
          </a:p>
        </p:txBody>
      </p:sp>
      <p:sp>
        <p:nvSpPr>
          <p:cNvPr id="55" name="Text 53"/>
          <p:cNvSpPr txBox="1"/>
          <p:nvPr/>
        </p:nvSpPr>
        <p:spPr>
          <a:xfrm>
            <a:off x="7854696" y="5199126"/>
            <a:ext cx="3788359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Workspaces → Create workspace，名稱 lunyi、選顏色後再按一次 Create workspace。點進去到 Spend limits 設上限（例如 50 美元），留額度給其他用途。</a:t>
            </a:r>
            <a:endParaRPr lang="zh-TW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B2　Claude Console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建立金鑰：一定要選工作區 lunyi</a:t>
            </a:r>
            <a:endParaRPr lang="zh-TW" sz="2800" dirty="0"/>
          </a:p>
        </p:txBody>
      </p:sp>
      <p:sp>
        <p:nvSpPr>
          <p:cNvPr id="4" name="mock-window"/>
          <p:cNvSpPr/>
          <p:nvPr/>
        </p:nvSpPr>
        <p:spPr>
          <a:xfrm>
            <a:off x="548640" y="1463040"/>
            <a:ext cx="65836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9C3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ock-bar"/>
          <p:cNvSpPr/>
          <p:nvPr/>
        </p:nvSpPr>
        <p:spPr>
          <a:xfrm>
            <a:off x="557784" y="1472184"/>
            <a:ext cx="6565392" cy="38404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00200"/>
            <a:ext cx="109728" cy="109728"/>
          </a:xfrm>
          <a:prstGeom prst="ellipse">
            <a:avLst/>
          </a:prstGeom>
          <a:solidFill>
            <a:srgbClr val="E0685A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00200"/>
            <a:ext cx="109728" cy="109728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600200"/>
            <a:ext cx="109728" cy="109728"/>
          </a:xfrm>
          <a:prstGeom prst="ellipse">
            <a:avLst/>
          </a:prstGeom>
          <a:solidFill>
            <a:srgbClr val="6BB86B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536192"/>
            <a:ext cx="56692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153619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platform.claude.com/settings/keys</a:t>
            </a:r>
            <a:endParaRPr lang="zh-TW" sz="1000" dirty="0"/>
          </a:p>
        </p:txBody>
      </p:sp>
      <p:sp>
        <p:nvSpPr>
          <p:cNvPr id="11" name="Shape 9"/>
          <p:cNvSpPr/>
          <p:nvPr/>
        </p:nvSpPr>
        <p:spPr>
          <a:xfrm>
            <a:off x="557784" y="1856232"/>
            <a:ext cx="1783080" cy="4306824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19842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Usage</a:t>
            </a:r>
            <a:endParaRPr lang="zh-TW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31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Cost</a:t>
            </a:r>
            <a:endParaRPr lang="zh-TW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679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Billing</a:t>
            </a:r>
            <a:endParaRPr lang="zh-TW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3026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Workspaces</a:t>
            </a:r>
            <a:endParaRPr lang="zh-TW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74136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4F0F0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37413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API keys</a:t>
            </a:r>
            <a:endParaRPr lang="zh-TW" sz="1000" dirty="0"/>
          </a:p>
        </p:txBody>
      </p:sp>
      <p:sp>
        <p:nvSpPr>
          <p:cNvPr id="18" name="tag-mock"/>
          <p:cNvSpPr/>
          <p:nvPr/>
        </p:nvSpPr>
        <p:spPr>
          <a:xfrm>
            <a:off x="5212080" y="5788152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57881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3"/>
                </a:solidFill>
              </a:rPr>
              <a:t>示意圖・依官方文件整理</a:t>
            </a:r>
            <a:endParaRPr lang="zh-TW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2011680"/>
            <a:ext cx="137160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60320" y="2011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bg1"/>
                </a:solidFill>
              </a:rPr>
              <a:t>Create key</a:t>
            </a:r>
            <a:endParaRPr lang="zh-TW" sz="1050" dirty="0"/>
          </a:p>
        </p:txBody>
      </p:sp>
      <p:sp>
        <p:nvSpPr>
          <p:cNvPr id="22" name="marker-1"/>
          <p:cNvSpPr/>
          <p:nvPr/>
        </p:nvSpPr>
        <p:spPr>
          <a:xfrm>
            <a:off x="3986784" y="202996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marker-1-text"/>
          <p:cNvSpPr txBox="1"/>
          <p:nvPr/>
        </p:nvSpPr>
        <p:spPr>
          <a:xfrm>
            <a:off x="3986784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2468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Name</a:t>
            </a:r>
            <a:endParaRPr lang="zh-TW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2688336"/>
            <a:ext cx="329184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9525">
            <a:solidFill>
              <a:srgbClr val="BDB6A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51760" y="2688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lunyi-laptop</a:t>
            </a:r>
            <a:endParaRPr lang="zh-TW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31089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Linked account</a:t>
            </a:r>
            <a:endParaRPr lang="zh-TW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3328416"/>
            <a:ext cx="329184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51760" y="33284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你自己（personal key）</a:t>
            </a:r>
            <a:endParaRPr lang="zh-TW" sz="1050" dirty="0"/>
          </a:p>
        </p:txBody>
      </p:sp>
      <p:sp>
        <p:nvSpPr>
          <p:cNvPr id="30" name="marker-1"/>
          <p:cNvSpPr/>
          <p:nvPr/>
        </p:nvSpPr>
        <p:spPr>
          <a:xfrm>
            <a:off x="5907024" y="3346704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marker-1-text"/>
          <p:cNvSpPr txBox="1"/>
          <p:nvPr/>
        </p:nvSpPr>
        <p:spPr>
          <a:xfrm>
            <a:off x="5907024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3749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Workspace</a:t>
            </a:r>
            <a:endParaRPr lang="zh-TW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3968496"/>
            <a:ext cx="329184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51760" y="39684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lunyi</a:t>
            </a:r>
            <a:endParaRPr lang="zh-TW" sz="1050" dirty="0"/>
          </a:p>
        </p:txBody>
      </p:sp>
      <p:sp>
        <p:nvSpPr>
          <p:cNvPr id="35" name="marker-2"/>
          <p:cNvSpPr/>
          <p:nvPr/>
        </p:nvSpPr>
        <p:spPr>
          <a:xfrm>
            <a:off x="5907024" y="3986784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marker-2-text"/>
          <p:cNvSpPr txBox="1"/>
          <p:nvPr/>
        </p:nvSpPr>
        <p:spPr>
          <a:xfrm>
            <a:off x="5907024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560320" y="4389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Expiration</a:t>
            </a:r>
            <a:endParaRPr lang="zh-TW" sz="1000" dirty="0"/>
          </a:p>
        </p:txBody>
      </p:sp>
      <p:sp>
        <p:nvSpPr>
          <p:cNvPr id="38" name="Shape 36"/>
          <p:cNvSpPr/>
          <p:nvPr/>
        </p:nvSpPr>
        <p:spPr>
          <a:xfrm>
            <a:off x="2560320" y="4608576"/>
            <a:ext cx="329184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651760" y="46085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</a:t>
            </a:r>
            <a:endParaRPr lang="zh-TW" sz="1050" dirty="0"/>
          </a:p>
        </p:txBody>
      </p:sp>
      <p:sp>
        <p:nvSpPr>
          <p:cNvPr id="40" name="marker-3"/>
          <p:cNvSpPr/>
          <p:nvPr/>
        </p:nvSpPr>
        <p:spPr>
          <a:xfrm>
            <a:off x="5907024" y="4626864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marker-3-text"/>
          <p:cNvSpPr txBox="1"/>
          <p:nvPr/>
        </p:nvSpPr>
        <p:spPr>
          <a:xfrm>
            <a:off x="5907024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560320" y="5029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建立後只顯示這一次</a:t>
            </a:r>
            <a:endParaRPr lang="zh-TW" sz="1000" dirty="0"/>
          </a:p>
        </p:txBody>
      </p:sp>
      <p:sp>
        <p:nvSpPr>
          <p:cNvPr id="43" name="Shape 41"/>
          <p:cNvSpPr/>
          <p:nvPr/>
        </p:nvSpPr>
        <p:spPr>
          <a:xfrm>
            <a:off x="2560320" y="5248656"/>
            <a:ext cx="329184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651760" y="52486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sk-ant-api03-••••••••</a:t>
            </a:r>
            <a:endParaRPr lang="zh-TW" sz="1050" dirty="0"/>
          </a:p>
        </p:txBody>
      </p:sp>
      <p:sp>
        <p:nvSpPr>
          <p:cNvPr id="45" name="marker-4"/>
          <p:cNvSpPr/>
          <p:nvPr/>
        </p:nvSpPr>
        <p:spPr>
          <a:xfrm>
            <a:off x="5907024" y="5266944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marker-4-text"/>
          <p:cNvSpPr txBox="1"/>
          <p:nvPr/>
        </p:nvSpPr>
        <p:spPr>
          <a:xfrm>
            <a:off x="5907024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47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854696" y="1463040"/>
            <a:ext cx="3788359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API keys → Create key</a:t>
            </a:r>
            <a:endParaRPr lang="zh-TW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854696" y="1770888"/>
            <a:ext cx="37883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先確認 Console 在 B1 綁定的組織。接法 1 每台電腦建一把，用電腦命名（例如 lunyi-laptop）；接法 2 建一把 lunyi-vercel。Linked account 選你自己（個人金鑰）。</a:t>
            </a:r>
            <a:endParaRPr lang="zh-TW" sz="1200" dirty="0"/>
          </a:p>
        </p:txBody>
      </p:sp>
      <p:sp>
        <p:nvSpPr>
          <p:cNvPr id="51" name="marker-2"/>
          <p:cNvSpPr/>
          <p:nvPr/>
        </p:nvSpPr>
        <p:spPr>
          <a:xfrm>
            <a:off x="7452360" y="279501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marker-2-text"/>
          <p:cNvSpPr txBox="1"/>
          <p:nvPr/>
        </p:nvSpPr>
        <p:spPr>
          <a:xfrm>
            <a:off x="7452360" y="2795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854696" y="2785872"/>
            <a:ext cx="3788359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Workspace 選 lunyi</a:t>
            </a:r>
            <a:endParaRPr lang="zh-TW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854696" y="3093720"/>
            <a:ext cx="378835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沒選工作區的金鑰會被拒絕：接法 1 儲存時顯示「這把金鑰沒有綁定 workspace」，接法 2 顯示「not scoped to a workspace」。表單裡沒有這一欄時，先在 API keys 頁上方的工作區選單選 lunyi，再按 Create key。</a:t>
            </a:r>
            <a:endParaRPr lang="zh-TW" sz="1200" dirty="0"/>
          </a:p>
        </p:txBody>
      </p:sp>
      <p:sp>
        <p:nvSpPr>
          <p:cNvPr id="55" name="marker-3"/>
          <p:cNvSpPr/>
          <p:nvPr/>
        </p:nvSpPr>
        <p:spPr>
          <a:xfrm>
            <a:off x="7452360" y="431901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marker-3-text"/>
          <p:cNvSpPr txBox="1"/>
          <p:nvPr/>
        </p:nvSpPr>
        <p:spPr>
          <a:xfrm>
            <a:off x="7452360" y="4319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7854696" y="4309872"/>
            <a:ext cx="3788359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Expiration 選 Never</a:t>
            </a:r>
            <a:endParaRPr lang="zh-TW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854696" y="4617720"/>
            <a:ext cx="37883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或選長一點的期限並記下日期。到期後網站的 AI 會停止，而且期限建立後不能改。</a:t>
            </a:r>
            <a:endParaRPr lang="zh-TW" sz="1200" dirty="0"/>
          </a:p>
        </p:txBody>
      </p:sp>
      <p:sp>
        <p:nvSpPr>
          <p:cNvPr id="59" name="marker-4"/>
          <p:cNvSpPr/>
          <p:nvPr/>
        </p:nvSpPr>
        <p:spPr>
          <a:xfrm>
            <a:off x="7452360" y="5239512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marker-4-text"/>
          <p:cNvSpPr txBox="1"/>
          <p:nvPr/>
        </p:nvSpPr>
        <p:spPr>
          <a:xfrm>
            <a:off x="745236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7854696" y="5230368"/>
            <a:ext cx="3788359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立刻複製 sk-ant- 開頭的金鑰</a:t>
            </a:r>
            <a:endParaRPr lang="zh-TW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7854696" y="5538216"/>
            <a:ext cx="37883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只會顯示這一次。接法 1 貼進論憶（下一頁），接法 2 貼到 Vercel（B3）；弄丟了就刪掉重建一把。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接法 1　論憶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只有自己用：把金鑰貼進論憶，到這裡就完成</a:t>
            </a:r>
            <a:endParaRPr lang="zh-TW" sz="2800" dirty="0"/>
          </a:p>
        </p:txBody>
      </p:sp>
      <p:sp>
        <p:nvSpPr>
          <p:cNvPr id="4" name="card-claude.png-frame"/>
          <p:cNvSpPr/>
          <p:nvPr/>
        </p:nvSpPr>
        <p:spPr>
          <a:xfrm>
            <a:off x="548640" y="1481328"/>
            <a:ext cx="6309360" cy="2940976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card-claude.png" descr="card-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6309360" cy="2940976"/>
          </a:xfrm>
          <a:prstGeom prst="rect">
            <a:avLst/>
          </a:prstGeom>
        </p:spPr>
      </p:pic>
      <p:sp>
        <p:nvSpPr>
          <p:cNvPr id="6" name="hl-2"/>
          <p:cNvSpPr/>
          <p:nvPr/>
        </p:nvSpPr>
        <p:spPr>
          <a:xfrm>
            <a:off x="682998" y="2483171"/>
            <a:ext cx="6040644" cy="432941"/>
          </a:xfrm>
          <a:prstGeom prst="roundRect">
            <a:avLst>
              <a:gd name="adj" fmla="val 12672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7" name="marker-2"/>
          <p:cNvSpPr/>
          <p:nvPr/>
        </p:nvSpPr>
        <p:spPr>
          <a:xfrm>
            <a:off x="335526" y="254419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marker-2-text"/>
          <p:cNvSpPr txBox="1"/>
          <p:nvPr/>
        </p:nvSpPr>
        <p:spPr>
          <a:xfrm>
            <a:off x="335526" y="25441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9" name="hl-3"/>
          <p:cNvSpPr/>
          <p:nvPr/>
        </p:nvSpPr>
        <p:spPr>
          <a:xfrm>
            <a:off x="682998" y="3926345"/>
            <a:ext cx="1358393" cy="351635"/>
          </a:xfrm>
          <a:prstGeom prst="roundRect">
            <a:avLst>
              <a:gd name="adj" fmla="val 15603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0" name="marker-3"/>
          <p:cNvSpPr/>
          <p:nvPr/>
        </p:nvSpPr>
        <p:spPr>
          <a:xfrm>
            <a:off x="335526" y="394671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3-text"/>
          <p:cNvSpPr txBox="1"/>
          <p:nvPr/>
        </p:nvSpPr>
        <p:spPr>
          <a:xfrm>
            <a:off x="335526" y="3946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12" name="tag-real"/>
          <p:cNvSpPr/>
          <p:nvPr/>
        </p:nvSpPr>
        <p:spPr>
          <a:xfrm>
            <a:off x="548640" y="4513744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5137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實際畫面</a:t>
            </a:r>
            <a:endParaRPr lang="zh-TW" sz="1000" dirty="0"/>
          </a:p>
        </p:txBody>
      </p:sp>
      <p:sp>
        <p:nvSpPr>
          <p:cNvPr id="14" name="note"/>
          <p:cNvSpPr/>
          <p:nvPr/>
        </p:nvSpPr>
        <p:spPr>
          <a:xfrm>
            <a:off x="548640" y="4925224"/>
            <a:ext cx="6309360" cy="816102"/>
          </a:xfrm>
          <a:prstGeom prst="roundRect">
            <a:avLst>
              <a:gd name="adj" fmla="val 6723"/>
            </a:avLst>
          </a:prstGeom>
          <a:solidFill>
            <a:srgbClr val="EEF4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4944" y="5016664"/>
            <a:ext cx="601675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rgbClr val="1D3B3D"/>
                </a:solidFill>
              </a:rPr>
              <a:t>金鑰只存在這個瀏覽器，不會同步或匯出，而且只顯示一次，所以每台自己的電腦各建一把（B2）、各貼一次；不要在別人的電腦上貼。外流或那台電腦不用了，就到 Console 的 API keys 停用那一把。想省額度：「AI 模型」→ 翻譯選「瀏覽器內建翻譯」。</a:t>
            </a:r>
            <a:endParaRPr lang="zh-TW" sz="1150" dirty="0"/>
          </a:p>
        </p:txBody>
      </p:sp>
      <p:sp>
        <p:nvSpPr>
          <p:cNvPr id="16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854696" y="146304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左側「設定與備份」→「進階」</a:t>
            </a:r>
            <a:endParaRPr lang="zh-TW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54696" y="1779270"/>
            <a:ext cx="3788359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捲到「Anthropic Claude 金鑰」卡片。進階頁最上方的「在這台電腦記住金鑰」維持勾選（只在自己的電腦做這件事）。</a:t>
            </a:r>
            <a:endParaRPr lang="zh-TW" sz="1250" dirty="0"/>
          </a:p>
        </p:txBody>
      </p:sp>
      <p:sp>
        <p:nvSpPr>
          <p:cNvPr id="20" name="marker-2"/>
          <p:cNvSpPr/>
          <p:nvPr/>
        </p:nvSpPr>
        <p:spPr>
          <a:xfrm>
            <a:off x="7452360" y="2609088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marker-2-text"/>
          <p:cNvSpPr txBox="1"/>
          <p:nvPr/>
        </p:nvSpPr>
        <p:spPr>
          <a:xfrm>
            <a:off x="7452360" y="2609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854696" y="2599944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「Anthropic API 金鑰」貼上 B2 的金鑰</a:t>
            </a:r>
            <a:endParaRPr lang="zh-TW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7854696" y="2916174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「模型名稱」和「網站存取碼」都留空。</a:t>
            </a:r>
            <a:endParaRPr lang="zh-TW" sz="1250" dirty="0"/>
          </a:p>
        </p:txBody>
      </p:sp>
      <p:sp>
        <p:nvSpPr>
          <p:cNvPr id="24" name="paste"/>
          <p:cNvSpPr/>
          <p:nvPr/>
        </p:nvSpPr>
        <p:spPr>
          <a:xfrm>
            <a:off x="7854696" y="3180588"/>
            <a:ext cx="378835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46136" y="3180588"/>
            <a:ext cx="28922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sk-ant-api03-…</a:t>
            </a:r>
            <a:endParaRPr lang="zh-TW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0874959" y="318058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b="1" dirty="0">
                <a:solidFill>
                  <a:schemeClr val="accent3"/>
                </a:solidFill>
              </a:rPr>
              <a:t>換成你的</a:t>
            </a:r>
            <a:endParaRPr lang="zh-TW" sz="950" dirty="0"/>
          </a:p>
        </p:txBody>
      </p:sp>
      <p:sp>
        <p:nvSpPr>
          <p:cNvPr id="27" name="marker-3"/>
          <p:cNvSpPr/>
          <p:nvPr/>
        </p:nvSpPr>
        <p:spPr>
          <a:xfrm>
            <a:off x="7452360" y="3692652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marker-3-text"/>
          <p:cNvSpPr txBox="1"/>
          <p:nvPr/>
        </p:nvSpPr>
        <p:spPr>
          <a:xfrm>
            <a:off x="7452360" y="36926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854696" y="3683508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按「儲存並使用 Claude」</a:t>
            </a:r>
            <a:endParaRPr lang="zh-TW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7854696" y="3999738"/>
            <a:ext cx="3788359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看到「已驗證，AI 改用 Claude」，右上角顯示「AI：Claude 金鑰 · claude-sonnet-5-5」就完成了。</a:t>
            </a:r>
            <a:endParaRPr lang="zh-TW" sz="1250" dirty="0"/>
          </a:p>
        </p:txBody>
      </p:sp>
      <p:sp>
        <p:nvSpPr>
          <p:cNvPr id="31" name="marker-4"/>
          <p:cNvSpPr/>
          <p:nvPr/>
        </p:nvSpPr>
        <p:spPr>
          <a:xfrm>
            <a:off x="7452360" y="482955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marker-4-text"/>
          <p:cNvSpPr txBox="1"/>
          <p:nvPr/>
        </p:nvSpPr>
        <p:spPr>
          <a:xfrm>
            <a:off x="7452360" y="48295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854696" y="4820412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新增一篇論文試試</a:t>
            </a:r>
            <a:endParaRPr lang="zh-TW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7854696" y="5136642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照 B6 的第 2、3 步，確認關鍵詞自動填好。接法 1 到這裡就結束，B3～B5、B7 不用做。</a:t>
            </a:r>
            <a:endParaRPr lang="zh-TW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B3　Vercel（接法 2）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在 Vercel 加入兩個環境變數</a:t>
            </a:r>
            <a:endParaRPr lang="zh-TW" sz="2800" dirty="0"/>
          </a:p>
        </p:txBody>
      </p:sp>
      <p:sp>
        <p:nvSpPr>
          <p:cNvPr id="4" name="mock-window"/>
          <p:cNvSpPr/>
          <p:nvPr/>
        </p:nvSpPr>
        <p:spPr>
          <a:xfrm>
            <a:off x="548640" y="1463040"/>
            <a:ext cx="6583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9C3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ock-bar"/>
          <p:cNvSpPr/>
          <p:nvPr/>
        </p:nvSpPr>
        <p:spPr>
          <a:xfrm>
            <a:off x="557784" y="1472184"/>
            <a:ext cx="6565392" cy="38404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00200"/>
            <a:ext cx="109728" cy="109728"/>
          </a:xfrm>
          <a:prstGeom prst="ellipse">
            <a:avLst/>
          </a:prstGeom>
          <a:solidFill>
            <a:srgbClr val="E0685A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00200"/>
            <a:ext cx="109728" cy="109728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600200"/>
            <a:ext cx="109728" cy="109728"/>
          </a:xfrm>
          <a:prstGeom prst="ellipse">
            <a:avLst/>
          </a:prstGeom>
          <a:solidFill>
            <a:srgbClr val="6BB86B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536192"/>
            <a:ext cx="56692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153619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vercel.com/…/journal-article-memory-tool/settings/environment-variables</a:t>
            </a:r>
            <a:endParaRPr lang="zh-TW" sz="1000" dirty="0"/>
          </a:p>
        </p:txBody>
      </p:sp>
      <p:sp>
        <p:nvSpPr>
          <p:cNvPr id="11" name="Shape 9"/>
          <p:cNvSpPr/>
          <p:nvPr/>
        </p:nvSpPr>
        <p:spPr>
          <a:xfrm>
            <a:off x="557784" y="1856232"/>
            <a:ext cx="2057400" cy="4123944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19842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Deployments</a:t>
            </a:r>
            <a:endParaRPr lang="zh-TW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317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Logs</a:t>
            </a:r>
            <a:endParaRPr lang="zh-TW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679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Settings</a:t>
            </a:r>
            <a:endParaRPr lang="zh-TW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1874520" cy="292608"/>
          </a:xfrm>
          <a:prstGeom prst="roundRect">
            <a:avLst>
              <a:gd name="adj" fmla="val 15625"/>
            </a:avLst>
          </a:prstGeom>
          <a:solidFill>
            <a:srgbClr val="E4F0F0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266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　Environment Variables</a:t>
            </a:r>
            <a:endParaRPr lang="zh-TW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3741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　Domains</a:t>
            </a:r>
            <a:endParaRPr lang="zh-TW" sz="1000" dirty="0"/>
          </a:p>
        </p:txBody>
      </p:sp>
      <p:sp>
        <p:nvSpPr>
          <p:cNvPr id="18" name="tag-mock"/>
          <p:cNvSpPr/>
          <p:nvPr/>
        </p:nvSpPr>
        <p:spPr>
          <a:xfrm>
            <a:off x="5212080" y="5605272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56052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3"/>
                </a:solidFill>
              </a:rPr>
              <a:t>示意圖・依官方文件整理</a:t>
            </a:r>
            <a:endParaRPr lang="zh-TW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2011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Add Environment Variable</a:t>
            </a:r>
            <a:endParaRPr lang="zh-TW" sz="1500" dirty="0"/>
          </a:p>
        </p:txBody>
      </p:sp>
      <p:sp>
        <p:nvSpPr>
          <p:cNvPr id="21" name="Shape 19"/>
          <p:cNvSpPr/>
          <p:nvPr/>
        </p:nvSpPr>
        <p:spPr>
          <a:xfrm>
            <a:off x="2834640" y="246888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72384" y="24140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b="1" dirty="0">
                <a:solidFill>
                  <a:schemeClr val="tx1"/>
                </a:solidFill>
              </a:rPr>
              <a:t>Secret</a:t>
            </a:r>
            <a:endParaRPr lang="zh-TW" sz="1050" dirty="0"/>
          </a:p>
        </p:txBody>
      </p:sp>
      <p:sp>
        <p:nvSpPr>
          <p:cNvPr id="23" name="Shape 21"/>
          <p:cNvSpPr/>
          <p:nvPr/>
        </p:nvSpPr>
        <p:spPr>
          <a:xfrm>
            <a:off x="4114800" y="246888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A1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52544" y="24140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Config</a:t>
            </a:r>
            <a:endParaRPr lang="zh-TW" sz="1050" dirty="0"/>
          </a:p>
        </p:txBody>
      </p:sp>
      <p:sp>
        <p:nvSpPr>
          <p:cNvPr id="25" name="Shape 23"/>
          <p:cNvSpPr/>
          <p:nvPr/>
        </p:nvSpPr>
        <p:spPr>
          <a:xfrm>
            <a:off x="2779776" y="2377440"/>
            <a:ext cx="1188720" cy="347472"/>
          </a:xfrm>
          <a:prstGeom prst="roundRect">
            <a:avLst>
              <a:gd name="adj" fmla="val 13158"/>
            </a:avLst>
          </a:prstGeom>
          <a:ln w="25400">
            <a:solidFill>
              <a:schemeClr val="accent3"/>
            </a:solidFill>
            <a:prstDash val="solid"/>
          </a:ln>
        </p:spPr>
      </p:sp>
      <p:sp>
        <p:nvSpPr>
          <p:cNvPr id="26" name="marker-2"/>
          <p:cNvSpPr/>
          <p:nvPr/>
        </p:nvSpPr>
        <p:spPr>
          <a:xfrm>
            <a:off x="5394960" y="2414016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marker-2-text"/>
          <p:cNvSpPr txBox="1"/>
          <p:nvPr/>
        </p:nvSpPr>
        <p:spPr>
          <a:xfrm>
            <a:off x="5394960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28163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Key</a:t>
            </a:r>
            <a:endParaRPr lang="zh-TW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3035808"/>
            <a:ext cx="329184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26080" y="30358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</a:t>
            </a:r>
            <a:endParaRPr lang="zh-TW" sz="1050" dirty="0"/>
          </a:p>
        </p:txBody>
      </p:sp>
      <p:sp>
        <p:nvSpPr>
          <p:cNvPr id="31" name="marker-2"/>
          <p:cNvSpPr/>
          <p:nvPr/>
        </p:nvSpPr>
        <p:spPr>
          <a:xfrm>
            <a:off x="6181344" y="3054096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marker-2-text"/>
          <p:cNvSpPr txBox="1"/>
          <p:nvPr/>
        </p:nvSpPr>
        <p:spPr>
          <a:xfrm>
            <a:off x="6181344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834640" y="34564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Value</a:t>
            </a:r>
            <a:endParaRPr lang="zh-TW" sz="1000" dirty="0"/>
          </a:p>
        </p:txBody>
      </p:sp>
      <p:sp>
        <p:nvSpPr>
          <p:cNvPr id="34" name="Shape 32"/>
          <p:cNvSpPr/>
          <p:nvPr/>
        </p:nvSpPr>
        <p:spPr>
          <a:xfrm>
            <a:off x="2834640" y="3675888"/>
            <a:ext cx="329184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26080" y="3675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sk-ant-api03-…（B2 複製的金鑰）</a:t>
            </a:r>
            <a:endParaRPr lang="zh-TW" sz="1050" dirty="0"/>
          </a:p>
        </p:txBody>
      </p:sp>
      <p:sp>
        <p:nvSpPr>
          <p:cNvPr id="36" name="marker-2"/>
          <p:cNvSpPr/>
          <p:nvPr/>
        </p:nvSpPr>
        <p:spPr>
          <a:xfrm>
            <a:off x="6181344" y="3694176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marker-2-text"/>
          <p:cNvSpPr txBox="1"/>
          <p:nvPr/>
        </p:nvSpPr>
        <p:spPr>
          <a:xfrm>
            <a:off x="6181344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834640" y="40965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tx1"/>
                </a:solidFill>
              </a:rPr>
              <a:t>Environments</a:t>
            </a:r>
            <a:endParaRPr lang="zh-TW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4315968"/>
            <a:ext cx="3291840" cy="310896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26080" y="43159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Production</a:t>
            </a:r>
            <a:endParaRPr lang="zh-TW" sz="1050" dirty="0"/>
          </a:p>
        </p:txBody>
      </p:sp>
      <p:sp>
        <p:nvSpPr>
          <p:cNvPr id="41" name="marker-2"/>
          <p:cNvSpPr/>
          <p:nvPr/>
        </p:nvSpPr>
        <p:spPr>
          <a:xfrm>
            <a:off x="6181344" y="4334256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marker-2-text"/>
          <p:cNvSpPr txBox="1"/>
          <p:nvPr/>
        </p:nvSpPr>
        <p:spPr>
          <a:xfrm>
            <a:off x="6181344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43" name="Shape 41"/>
          <p:cNvSpPr/>
          <p:nvPr/>
        </p:nvSpPr>
        <p:spPr>
          <a:xfrm>
            <a:off x="2834640" y="4736592"/>
            <a:ext cx="100584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834640" y="47365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bg1"/>
                </a:solidFill>
              </a:rPr>
              <a:t>Save</a:t>
            </a:r>
            <a:endParaRPr lang="zh-TW" sz="1050" dirty="0"/>
          </a:p>
        </p:txBody>
      </p:sp>
      <p:sp>
        <p:nvSpPr>
          <p:cNvPr id="45" name="marker-2"/>
          <p:cNvSpPr/>
          <p:nvPr/>
        </p:nvSpPr>
        <p:spPr>
          <a:xfrm>
            <a:off x="3895344" y="475488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marker-2-text"/>
          <p:cNvSpPr txBox="1"/>
          <p:nvPr/>
        </p:nvSpPr>
        <p:spPr>
          <a:xfrm>
            <a:off x="3895344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47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854696" y="1463040"/>
            <a:ext cx="378835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打開專案 → Settings → Environment Variables</a:t>
            </a:r>
            <a:endParaRPr lang="zh-TW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854696" y="2005584"/>
            <a:ext cx="378835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在 vercel.com 點專案 journal-article-memory-tool，左側 Settings → Environment Variables，按新增。</a:t>
            </a:r>
            <a:endParaRPr lang="zh-TW" sz="1200" dirty="0"/>
          </a:p>
        </p:txBody>
      </p:sp>
      <p:sp>
        <p:nvSpPr>
          <p:cNvPr id="51" name="marker-2"/>
          <p:cNvSpPr/>
          <p:nvPr/>
        </p:nvSpPr>
        <p:spPr>
          <a:xfrm>
            <a:off x="7452360" y="2773680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marker-2-text"/>
          <p:cNvSpPr txBox="1"/>
          <p:nvPr/>
        </p:nvSpPr>
        <p:spPr>
          <a:xfrm>
            <a:off x="7452360" y="2773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854696" y="2764536"/>
            <a:ext cx="3788359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第一個：Anthropic 金鑰</a:t>
            </a:r>
            <a:endParaRPr lang="zh-TW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854696" y="3072384"/>
            <a:ext cx="37883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Type 選 Secret，Value 貼 B2 的金鑰，Environments 選 Production，按 Save。</a:t>
            </a:r>
            <a:endParaRPr lang="zh-TW" sz="1200" dirty="0"/>
          </a:p>
        </p:txBody>
      </p:sp>
      <p:sp>
        <p:nvSpPr>
          <p:cNvPr id="55" name="paste"/>
          <p:cNvSpPr/>
          <p:nvPr/>
        </p:nvSpPr>
        <p:spPr>
          <a:xfrm>
            <a:off x="7854696" y="3529584"/>
            <a:ext cx="378835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946136" y="3529584"/>
            <a:ext cx="3184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</a:t>
            </a:r>
            <a:endParaRPr lang="zh-TW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11167567" y="352958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b="1" dirty="0">
                <a:solidFill>
                  <a:schemeClr val="tx2"/>
                </a:solidFill>
              </a:rPr>
              <a:t>貼上</a:t>
            </a:r>
            <a:endParaRPr lang="zh-TW" sz="950" dirty="0"/>
          </a:p>
        </p:txBody>
      </p:sp>
      <p:sp>
        <p:nvSpPr>
          <p:cNvPr id="58" name="marker-3"/>
          <p:cNvSpPr/>
          <p:nvPr/>
        </p:nvSpPr>
        <p:spPr>
          <a:xfrm>
            <a:off x="7452360" y="4005072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marker-3-text"/>
          <p:cNvSpPr txBox="1"/>
          <p:nvPr/>
        </p:nvSpPr>
        <p:spPr>
          <a:xfrm>
            <a:off x="7452360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7854696" y="3995928"/>
            <a:ext cx="3788359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第二個：網站存取碼</a:t>
            </a:r>
            <a:endParaRPr lang="zh-TW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7854696" y="4303776"/>
            <a:ext cx="378835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再新增一個：Type 選 Secret，Value 填你訂的存取碼（半形英數字），Environments 一樣選 Production，按 Save。存了之後看不到，自己記好。</a:t>
            </a:r>
            <a:endParaRPr lang="zh-TW" sz="1200" dirty="0"/>
          </a:p>
        </p:txBody>
      </p:sp>
      <p:sp>
        <p:nvSpPr>
          <p:cNvPr id="62" name="paste"/>
          <p:cNvSpPr/>
          <p:nvPr/>
        </p:nvSpPr>
        <p:spPr>
          <a:xfrm>
            <a:off x="7854696" y="4962144"/>
            <a:ext cx="378835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946136" y="4962144"/>
            <a:ext cx="3184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LUNYI_ACCESS_CODE</a:t>
            </a:r>
            <a:endParaRPr lang="zh-TW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11167567" y="496214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b="1" dirty="0">
                <a:solidFill>
                  <a:schemeClr val="tx2"/>
                </a:solidFill>
              </a:rPr>
              <a:t>貼上</a:t>
            </a:r>
            <a:endParaRPr lang="zh-TW" sz="950" dirty="0"/>
          </a:p>
        </p:txBody>
      </p:sp>
      <p:sp>
        <p:nvSpPr>
          <p:cNvPr id="65" name="note"/>
          <p:cNvSpPr/>
          <p:nvPr/>
        </p:nvSpPr>
        <p:spPr>
          <a:xfrm>
            <a:off x="7452360" y="5446776"/>
            <a:ext cx="4190695" cy="606552"/>
          </a:xfrm>
          <a:prstGeom prst="roundRect">
            <a:avLst>
              <a:gd name="adj" fmla="val 9045"/>
            </a:avLst>
          </a:prstGeom>
          <a:solidFill>
            <a:srgbClr val="FBEEE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7598664" y="5538216"/>
            <a:ext cx="389808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dirty="0">
                <a:solidFill>
                  <a:srgbClr val="7A2E12"/>
                </a:solidFill>
              </a:rPr>
              <a:t>Key 要一字不差；Value 前後不要有空白或引號；Environments 一定要選 Production。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B4　Vercel（接法 2）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重新部署，再用網址確認後端已經開啟</a:t>
            </a:r>
            <a:endParaRPr lang="zh-TW" sz="2800" dirty="0"/>
          </a:p>
        </p:txBody>
      </p:sp>
      <p:sp>
        <p:nvSpPr>
          <p:cNvPr id="4" name="mock-window"/>
          <p:cNvSpPr/>
          <p:nvPr/>
        </p:nvSpPr>
        <p:spPr>
          <a:xfrm>
            <a:off x="548640" y="1463040"/>
            <a:ext cx="6583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9C3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ock-bar"/>
          <p:cNvSpPr/>
          <p:nvPr/>
        </p:nvSpPr>
        <p:spPr>
          <a:xfrm>
            <a:off x="557784" y="1472184"/>
            <a:ext cx="6565392" cy="38404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00200"/>
            <a:ext cx="109728" cy="109728"/>
          </a:xfrm>
          <a:prstGeom prst="ellipse">
            <a:avLst/>
          </a:prstGeom>
          <a:solidFill>
            <a:srgbClr val="E0685A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00200"/>
            <a:ext cx="109728" cy="109728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600200"/>
            <a:ext cx="109728" cy="109728"/>
          </a:xfrm>
          <a:prstGeom prst="ellipse">
            <a:avLst/>
          </a:prstGeom>
          <a:solidFill>
            <a:srgbClr val="6BB86B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536192"/>
            <a:ext cx="56692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153619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vercel.com/…/journal-article-memory-tool/deployments</a:t>
            </a:r>
            <a:endParaRPr lang="zh-TW" sz="1000" dirty="0"/>
          </a:p>
        </p:txBody>
      </p:sp>
      <p:sp>
        <p:nvSpPr>
          <p:cNvPr id="11" name="Shape 9"/>
          <p:cNvSpPr/>
          <p:nvPr/>
        </p:nvSpPr>
        <p:spPr>
          <a:xfrm>
            <a:off x="557784" y="1856232"/>
            <a:ext cx="1783080" cy="2112264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984248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4F0F0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19842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Deployments</a:t>
            </a:r>
            <a:endParaRPr lang="zh-TW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331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Logs</a:t>
            </a:r>
            <a:endParaRPr lang="zh-TW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2679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1"/>
                </a:solidFill>
              </a:rPr>
              <a:t>Settings</a:t>
            </a:r>
            <a:endParaRPr lang="zh-TW" sz="1000" dirty="0"/>
          </a:p>
        </p:txBody>
      </p:sp>
      <p:sp>
        <p:nvSpPr>
          <p:cNvPr id="16" name="tag-mock"/>
          <p:cNvSpPr/>
          <p:nvPr/>
        </p:nvSpPr>
        <p:spPr>
          <a:xfrm>
            <a:off x="621792" y="3593592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5935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3"/>
                </a:solidFill>
              </a:rPr>
              <a:t>示意圖・依官方文件整理</a:t>
            </a:r>
            <a:endParaRPr lang="zh-TW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2057400"/>
            <a:ext cx="4389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748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b="1" dirty="0">
                <a:solidFill>
                  <a:schemeClr val="accent1"/>
                </a:solidFill>
              </a:rPr>
              <a:t>Production  </a:t>
            </a:r>
            <a:pPr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main · 最新一筆　</a:t>
            </a:r>
            <a:pPr indent="0" marL="0">
              <a:buNone/>
            </a:pPr>
            <a:r>
              <a:rPr lang="zh-TW" altLang="en-US" sz="1050" b="1" dirty="0">
                <a:solidFill>
                  <a:srgbClr val="2F8F4E"/>
                </a:solidFill>
              </a:rPr>
              <a:t>Ready</a:t>
            </a:r>
            <a:endParaRPr lang="zh-TW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2130552"/>
            <a:ext cx="411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1305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⋯</a:t>
            </a:r>
            <a:endParaRPr lang="zh-TW" sz="1400" dirty="0"/>
          </a:p>
        </p:txBody>
      </p:sp>
      <p:sp>
        <p:nvSpPr>
          <p:cNvPr id="22" name="marker-1"/>
          <p:cNvSpPr/>
          <p:nvPr/>
        </p:nvSpPr>
        <p:spPr>
          <a:xfrm>
            <a:off x="6839712" y="214884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marker-1-text"/>
          <p:cNvSpPr txBox="1"/>
          <p:nvPr/>
        </p:nvSpPr>
        <p:spPr>
          <a:xfrm>
            <a:off x="6839712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651760"/>
            <a:ext cx="2240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DB6A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663440" y="2706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50" b="1" dirty="0">
                <a:solidFill>
                  <a:schemeClr val="tx1"/>
                </a:solidFill>
              </a:rPr>
              <a:t>Redeploy to Production</a:t>
            </a:r>
            <a:endParaRPr lang="zh-TW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2999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50" dirty="0">
                <a:solidFill>
                  <a:schemeClr val="tx2"/>
                </a:solidFill>
              </a:rPr>
              <a:t>☐ Use existing Build Cache</a:t>
            </a:r>
            <a:endParaRPr lang="zh-TW" sz="950" dirty="0"/>
          </a:p>
        </p:txBody>
      </p:sp>
      <p:sp>
        <p:nvSpPr>
          <p:cNvPr id="27" name="Shape 25"/>
          <p:cNvSpPr/>
          <p:nvPr/>
        </p:nvSpPr>
        <p:spPr>
          <a:xfrm>
            <a:off x="5623560" y="3337560"/>
            <a:ext cx="1097280" cy="32918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28575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23560" y="3337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bg1"/>
                </a:solidFill>
              </a:rPr>
              <a:t>Redeploy</a:t>
            </a:r>
            <a:endParaRPr lang="zh-TW" sz="1050" dirty="0"/>
          </a:p>
        </p:txBody>
      </p:sp>
      <p:sp>
        <p:nvSpPr>
          <p:cNvPr id="29" name="marker-2"/>
          <p:cNvSpPr/>
          <p:nvPr/>
        </p:nvSpPr>
        <p:spPr>
          <a:xfrm>
            <a:off x="5257800" y="3364992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marker-2-text"/>
          <p:cNvSpPr txBox="1"/>
          <p:nvPr/>
        </p:nvSpPr>
        <p:spPr>
          <a:xfrm>
            <a:off x="525780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160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打開這個網址確認</a:t>
            </a:r>
            <a:endParaRPr lang="zh-TW" sz="1200" dirty="0"/>
          </a:p>
        </p:txBody>
      </p:sp>
      <p:sp>
        <p:nvSpPr>
          <p:cNvPr id="32" name="paste"/>
          <p:cNvSpPr/>
          <p:nvPr/>
        </p:nvSpPr>
        <p:spPr>
          <a:xfrm>
            <a:off x="548640" y="4471416"/>
            <a:ext cx="658368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471416"/>
            <a:ext cx="638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https://journal-article-memory-tool.vercel.app/api/claude</a:t>
            </a:r>
            <a:endParaRPr lang="zh-TW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6583680" cy="347472"/>
          </a:xfrm>
          <a:prstGeom prst="roundRect">
            <a:avLst>
              <a:gd name="adj" fmla="val 13158"/>
            </a:avLst>
          </a:prstGeom>
          <a:solidFill>
            <a:srgbClr val="DFF0E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48920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dirty="0">
                <a:solidFill>
                  <a:srgbClr val="1E5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{"error":"POST only"}</a:t>
            </a:r>
            <a:endParaRPr lang="zh-TW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886200" y="48920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rgbClr val="1E5C33"/>
                </a:solidFill>
              </a:rPr>
              <a:t>成功：後端已經開啟</a:t>
            </a:r>
            <a:endParaRPr lang="zh-TW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294376"/>
            <a:ext cx="6583680" cy="347472"/>
          </a:xfrm>
          <a:prstGeom prst="roundRect">
            <a:avLst>
              <a:gd name="adj" fmla="val 13158"/>
            </a:avLst>
          </a:prstGeom>
          <a:solidFill>
            <a:srgbClr val="FBEEE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8368" y="52943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dirty="0">
                <a:solidFill>
                  <a:srgbClr val="7A2E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{"error":"AI backend not configured"}</a:t>
            </a:r>
            <a:endParaRPr lang="zh-TW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886200" y="52943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rgbClr val="7A2E12"/>
                </a:solidFill>
              </a:rPr>
              <a:t>還沒生效：檢查變數名稱、Production，或還沒 Redeploy</a:t>
            </a:r>
            <a:endParaRPr lang="zh-TW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696712"/>
            <a:ext cx="6583680" cy="347472"/>
          </a:xfrm>
          <a:prstGeom prst="roundRect">
            <a:avLst>
              <a:gd name="adj" fmla="val 13158"/>
            </a:avLst>
          </a:prstGeom>
          <a:solidFill>
            <a:srgbClr val="FBEEE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8368" y="56967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dirty="0">
                <a:solidFill>
                  <a:srgbClr val="7A2E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page could not be found</a:t>
            </a:r>
            <a:endParaRPr lang="zh-TW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886200" y="56967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rgbClr val="7A2E12"/>
                </a:solidFill>
              </a:rPr>
              <a:t>後端程式沒部署：確認網址，以及最新部署來自 main</a:t>
            </a:r>
            <a:endParaRPr lang="zh-TW" sz="1000" dirty="0"/>
          </a:p>
        </p:txBody>
      </p:sp>
      <p:sp>
        <p:nvSpPr>
          <p:cNvPr id="43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854696" y="146304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Deployments → 最新一筆 Production → ⋯</a:t>
            </a:r>
            <a:endParaRPr lang="zh-TW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7854696" y="1779270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環境變數只有重新部署之後才會生效。</a:t>
            </a:r>
            <a:endParaRPr lang="zh-TW" sz="1250" dirty="0"/>
          </a:p>
        </p:txBody>
      </p:sp>
      <p:sp>
        <p:nvSpPr>
          <p:cNvPr id="47" name="marker-2"/>
          <p:cNvSpPr/>
          <p:nvPr/>
        </p:nvSpPr>
        <p:spPr>
          <a:xfrm>
            <a:off x="7452360" y="2235708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marker-2-text"/>
          <p:cNvSpPr txBox="1"/>
          <p:nvPr/>
        </p:nvSpPr>
        <p:spPr>
          <a:xfrm>
            <a:off x="7452360" y="22357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854696" y="2226564"/>
            <a:ext cx="3788359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選 Redeploy，不勾 Use existing Build Cache</a:t>
            </a:r>
            <a:endParaRPr lang="zh-TW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7854696" y="2785872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再按 Redeploy，等狀態變成 Ready。</a:t>
            </a:r>
            <a:endParaRPr lang="zh-TW" sz="1250" dirty="0"/>
          </a:p>
        </p:txBody>
      </p:sp>
      <p:sp>
        <p:nvSpPr>
          <p:cNvPr id="51" name="marker-3"/>
          <p:cNvSpPr/>
          <p:nvPr/>
        </p:nvSpPr>
        <p:spPr>
          <a:xfrm>
            <a:off x="7452360" y="3242310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marker-3-text"/>
          <p:cNvSpPr txBox="1"/>
          <p:nvPr/>
        </p:nvSpPr>
        <p:spPr>
          <a:xfrm>
            <a:off x="7452360" y="324231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854696" y="3233166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打開左下的網址確認</a:t>
            </a:r>
            <a:endParaRPr lang="zh-TW" sz="1450" dirty="0"/>
          </a:p>
        </p:txBody>
      </p:sp>
      <p:sp>
        <p:nvSpPr>
          <p:cNvPr id="54" name="Text 52"/>
          <p:cNvSpPr txBox="1"/>
          <p:nvPr/>
        </p:nvSpPr>
        <p:spPr>
          <a:xfrm>
            <a:off x="7854696" y="3549396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看到 {"error":"POST only"} 就是成功。這個網址只是檢查，不會花錢。</a:t>
            </a:r>
            <a:endParaRPr lang="zh-TW" sz="1250" dirty="0"/>
          </a:p>
        </p:txBody>
      </p:sp>
      <p:sp>
        <p:nvSpPr>
          <p:cNvPr id="55" name="note"/>
          <p:cNvSpPr/>
          <p:nvPr/>
        </p:nvSpPr>
        <p:spPr>
          <a:xfrm>
            <a:off x="7452360" y="4251960"/>
            <a:ext cx="4190695" cy="623316"/>
          </a:xfrm>
          <a:prstGeom prst="roundRect">
            <a:avLst>
              <a:gd name="adj" fmla="val 8802"/>
            </a:avLst>
          </a:prstGeom>
          <a:solidFill>
            <a:srgbClr val="EEF4F4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598664" y="4343400"/>
            <a:ext cx="3898087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rgbClr val="1D3B3D"/>
                </a:solidFill>
              </a:rPr>
              <a:t>只有 Vercel 網址有 AI。GitHub Pages 備用網址不能跑後端，在那裡打開永遠是 404。</a:t>
            </a:r>
            <a:endParaRPr lang="zh-TW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B5　論憶（接法 2）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在論憶輸入存取碼：金鑰欄留空</a:t>
            </a:r>
            <a:endParaRPr lang="zh-TW" sz="2800" dirty="0"/>
          </a:p>
        </p:txBody>
      </p:sp>
      <p:sp>
        <p:nvSpPr>
          <p:cNvPr id="4" name="card-claude.png-frame"/>
          <p:cNvSpPr/>
          <p:nvPr/>
        </p:nvSpPr>
        <p:spPr>
          <a:xfrm>
            <a:off x="548640" y="1481328"/>
            <a:ext cx="6126480" cy="285573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card-claude.png" descr="card-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6126480" cy="2855730"/>
          </a:xfrm>
          <a:prstGeom prst="rect">
            <a:avLst/>
          </a:prstGeom>
        </p:spPr>
      </p:pic>
      <p:sp>
        <p:nvSpPr>
          <p:cNvPr id="6" name="hl-2"/>
          <p:cNvSpPr/>
          <p:nvPr/>
        </p:nvSpPr>
        <p:spPr>
          <a:xfrm>
            <a:off x="678573" y="2453602"/>
            <a:ext cx="5866613" cy="421452"/>
          </a:xfrm>
          <a:prstGeom prst="roundRect">
            <a:avLst>
              <a:gd name="adj" fmla="val 13018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7" name="marker-2"/>
          <p:cNvSpPr/>
          <p:nvPr/>
        </p:nvSpPr>
        <p:spPr>
          <a:xfrm>
            <a:off x="331101" y="25088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marker-2-text"/>
          <p:cNvSpPr txBox="1"/>
          <p:nvPr/>
        </p:nvSpPr>
        <p:spPr>
          <a:xfrm>
            <a:off x="331101" y="250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9" name="hl-3"/>
          <p:cNvSpPr/>
          <p:nvPr/>
        </p:nvSpPr>
        <p:spPr>
          <a:xfrm>
            <a:off x="678573" y="3381252"/>
            <a:ext cx="5866613" cy="421452"/>
          </a:xfrm>
          <a:prstGeom prst="roundRect">
            <a:avLst>
              <a:gd name="adj" fmla="val 13018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0" name="marker-3"/>
          <p:cNvSpPr/>
          <p:nvPr/>
        </p:nvSpPr>
        <p:spPr>
          <a:xfrm>
            <a:off x="331101" y="343653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3-text"/>
          <p:cNvSpPr txBox="1"/>
          <p:nvPr/>
        </p:nvSpPr>
        <p:spPr>
          <a:xfrm>
            <a:off x="331101" y="34365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12" name="hl-4"/>
          <p:cNvSpPr/>
          <p:nvPr/>
        </p:nvSpPr>
        <p:spPr>
          <a:xfrm>
            <a:off x="678573" y="3854945"/>
            <a:ext cx="1320080" cy="342503"/>
          </a:xfrm>
          <a:prstGeom prst="roundRect">
            <a:avLst>
              <a:gd name="adj" fmla="val 16019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3" name="marker-4"/>
          <p:cNvSpPr/>
          <p:nvPr/>
        </p:nvSpPr>
        <p:spPr>
          <a:xfrm>
            <a:off x="331101" y="387074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marker-4-text"/>
          <p:cNvSpPr txBox="1"/>
          <p:nvPr/>
        </p:nvSpPr>
        <p:spPr>
          <a:xfrm>
            <a:off x="331101" y="38707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15" name="tag-real"/>
          <p:cNvSpPr/>
          <p:nvPr/>
        </p:nvSpPr>
        <p:spPr>
          <a:xfrm>
            <a:off x="5806440" y="1152144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06440" y="11521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實際畫面</a:t>
            </a:r>
            <a:endParaRPr lang="zh-TW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44678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儲存之後</a:t>
            </a:r>
            <a:endParaRPr lang="zh-TW" sz="1200" dirty="0"/>
          </a:p>
        </p:txBody>
      </p:sp>
      <p:sp>
        <p:nvSpPr>
          <p:cNvPr id="18" name="_claude-saved.png-frame"/>
          <p:cNvSpPr/>
          <p:nvPr/>
        </p:nvSpPr>
        <p:spPr>
          <a:xfrm>
            <a:off x="548640" y="4775970"/>
            <a:ext cx="6126480" cy="983201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9" name="_claude-saved.png" descr="_claude-sav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75970"/>
            <a:ext cx="6126480" cy="983201"/>
          </a:xfrm>
          <a:prstGeom prst="rect">
            <a:avLst/>
          </a:prstGeom>
        </p:spPr>
      </p:pic>
      <p:sp>
        <p:nvSpPr>
          <p:cNvPr id="20" name="hl-5"/>
          <p:cNvSpPr/>
          <p:nvPr/>
        </p:nvSpPr>
        <p:spPr>
          <a:xfrm>
            <a:off x="2653776" y="5346950"/>
            <a:ext cx="1696654" cy="203998"/>
          </a:xfrm>
          <a:prstGeom prst="roundRect">
            <a:avLst>
              <a:gd name="adj" fmla="val 26894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21" name="marker-5"/>
          <p:cNvSpPr/>
          <p:nvPr/>
        </p:nvSpPr>
        <p:spPr>
          <a:xfrm>
            <a:off x="4387007" y="529350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marker-5-text"/>
          <p:cNvSpPr txBox="1"/>
          <p:nvPr/>
        </p:nvSpPr>
        <p:spPr>
          <a:xfrm>
            <a:off x="4387007" y="52935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5</a:t>
            </a:r>
            <a:endParaRPr lang="zh-TW" sz="1200" dirty="0"/>
          </a:p>
        </p:txBody>
      </p:sp>
      <p:sp>
        <p:nvSpPr>
          <p:cNvPr id="23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854696" y="146304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左側「設定與備份」→「進階」</a:t>
            </a:r>
            <a:endParaRPr lang="zh-TW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7854696" y="1779270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往下捲到「Anthropic Claude 金鑰」卡片。</a:t>
            </a:r>
            <a:endParaRPr lang="zh-TW" sz="1250" dirty="0"/>
          </a:p>
        </p:txBody>
      </p:sp>
      <p:sp>
        <p:nvSpPr>
          <p:cNvPr id="27" name="marker-2"/>
          <p:cNvSpPr/>
          <p:nvPr/>
        </p:nvSpPr>
        <p:spPr>
          <a:xfrm>
            <a:off x="7452360" y="218084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marker-2-text"/>
          <p:cNvSpPr txBox="1"/>
          <p:nvPr/>
        </p:nvSpPr>
        <p:spPr>
          <a:xfrm>
            <a:off x="7452360" y="21808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854696" y="217170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「Anthropic API 金鑰」留空</a:t>
            </a:r>
            <a:endParaRPr lang="zh-TW" sz="1450" dirty="0"/>
          </a:p>
        </p:txBody>
      </p:sp>
      <p:sp>
        <p:nvSpPr>
          <p:cNvPr id="30" name="Text 26"/>
          <p:cNvSpPr txBox="1"/>
          <p:nvPr/>
        </p:nvSpPr>
        <p:spPr>
          <a:xfrm>
            <a:off x="7854696" y="2487930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金鑰已經在 Vercel，這裡不要貼；欄位裡有點點（之前貼過金鑰）時，先按「清除」。</a:t>
            </a:r>
            <a:endParaRPr lang="zh-TW" sz="1250" dirty="0"/>
          </a:p>
        </p:txBody>
      </p:sp>
      <p:sp>
        <p:nvSpPr>
          <p:cNvPr id="31" name="marker-3"/>
          <p:cNvSpPr/>
          <p:nvPr/>
        </p:nvSpPr>
        <p:spPr>
          <a:xfrm>
            <a:off x="7452360" y="309905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marker-3-text"/>
          <p:cNvSpPr txBox="1"/>
          <p:nvPr/>
        </p:nvSpPr>
        <p:spPr>
          <a:xfrm>
            <a:off x="7452360" y="30990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854696" y="308991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「網站存取碼」填存取碼</a:t>
            </a:r>
            <a:endParaRPr lang="zh-TW" sz="1450" dirty="0"/>
          </a:p>
        </p:txBody>
      </p:sp>
      <p:sp>
        <p:nvSpPr>
          <p:cNvPr id="34" name="Text 30"/>
          <p:cNvSpPr txBox="1"/>
          <p:nvPr/>
        </p:nvSpPr>
        <p:spPr>
          <a:xfrm>
            <a:off x="7854696" y="3406140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和 B3 的 LUNYI_ACCESS_CODE 一樣（半形英數字）。</a:t>
            </a:r>
            <a:endParaRPr lang="zh-TW" sz="1250" dirty="0"/>
          </a:p>
        </p:txBody>
      </p:sp>
      <p:sp>
        <p:nvSpPr>
          <p:cNvPr id="35" name="paste"/>
          <p:cNvSpPr/>
          <p:nvPr/>
        </p:nvSpPr>
        <p:spPr>
          <a:xfrm>
            <a:off x="7854696" y="3880104"/>
            <a:ext cx="378835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 w="9525">
            <a:solidFill>
              <a:srgbClr val="E6CF7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946136" y="3880104"/>
            <a:ext cx="28922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lunyi-2026</a:t>
            </a:r>
            <a:endParaRPr lang="zh-TW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10874959" y="38801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b="1" dirty="0">
                <a:solidFill>
                  <a:schemeClr val="accent3"/>
                </a:solidFill>
              </a:rPr>
              <a:t>換成你的</a:t>
            </a:r>
            <a:endParaRPr lang="zh-TW" sz="950" dirty="0"/>
          </a:p>
        </p:txBody>
      </p:sp>
      <p:sp>
        <p:nvSpPr>
          <p:cNvPr id="38" name="marker-4"/>
          <p:cNvSpPr/>
          <p:nvPr/>
        </p:nvSpPr>
        <p:spPr>
          <a:xfrm>
            <a:off x="7452360" y="438302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marker-4-text"/>
          <p:cNvSpPr txBox="1"/>
          <p:nvPr/>
        </p:nvSpPr>
        <p:spPr>
          <a:xfrm>
            <a:off x="7452360" y="4383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7854696" y="437388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按「儲存並使用 Claude」</a:t>
            </a:r>
            <a:endParaRPr lang="zh-TW" sz="1450" dirty="0"/>
          </a:p>
        </p:txBody>
      </p:sp>
      <p:sp>
        <p:nvSpPr>
          <p:cNvPr id="41" name="marker-5"/>
          <p:cNvSpPr/>
          <p:nvPr/>
        </p:nvSpPr>
        <p:spPr>
          <a:xfrm>
            <a:off x="7452360" y="4827270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marker-5-text"/>
          <p:cNvSpPr txBox="1"/>
          <p:nvPr/>
        </p:nvSpPr>
        <p:spPr>
          <a:xfrm>
            <a:off x="7452360" y="48272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5</a:t>
            </a:r>
            <a:endParaRPr lang="zh-TW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7854696" y="4818126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看到「已儲存存取碼（使用網站後端）」</a:t>
            </a:r>
            <a:endParaRPr lang="zh-TW" sz="1450" dirty="0"/>
          </a:p>
        </p:txBody>
      </p:sp>
      <p:sp>
        <p:nvSpPr>
          <p:cNvPr id="44" name="Text 40"/>
          <p:cNvSpPr txBox="1"/>
          <p:nvPr/>
        </p:nvSpPr>
        <p:spPr>
          <a:xfrm>
            <a:off x="7854696" y="5134356"/>
            <a:ext cx="3788359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如果寫「這個網址沒有網站後端 AI」或「會優先使用 Gemini 金鑰」，照提示處理。使用者也照 2～5 做，見 B7。</a:t>
            </a:r>
            <a:endParaRPr lang="zh-TW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B6　論憶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確認成功：新增論文時 AI 自動產生關鍵詞與連線</a:t>
            </a:r>
            <a:endParaRPr lang="zh-TW" sz="2800" dirty="0"/>
          </a:p>
        </p:txBody>
      </p:sp>
      <p:sp>
        <p:nvSpPr>
          <p:cNvPr id="4" name="chip-backend-frame"/>
          <p:cNvSpPr/>
          <p:nvPr/>
        </p:nvSpPr>
        <p:spPr>
          <a:xfrm>
            <a:off x="548640" y="1481328"/>
            <a:ext cx="6629400" cy="540941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chip-backend" descr="chip-back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6629400" cy="540941"/>
          </a:xfrm>
          <a:prstGeom prst="rect">
            <a:avLst/>
          </a:prstGeom>
        </p:spPr>
      </p:pic>
      <p:sp>
        <p:nvSpPr>
          <p:cNvPr id="6" name="hl-1"/>
          <p:cNvSpPr/>
          <p:nvPr/>
        </p:nvSpPr>
        <p:spPr>
          <a:xfrm>
            <a:off x="5570227" y="1546364"/>
            <a:ext cx="1474114" cy="366945"/>
          </a:xfrm>
          <a:prstGeom prst="roundRect">
            <a:avLst>
              <a:gd name="adj" fmla="val 14952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7" name="marker-1"/>
          <p:cNvSpPr/>
          <p:nvPr/>
        </p:nvSpPr>
        <p:spPr>
          <a:xfrm>
            <a:off x="5222755" y="157438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marker-1-text"/>
          <p:cNvSpPr txBox="1"/>
          <p:nvPr/>
        </p:nvSpPr>
        <p:spPr>
          <a:xfrm>
            <a:off x="5222755" y="15743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9" name="_add-ai.png-frame"/>
          <p:cNvSpPr/>
          <p:nvPr/>
        </p:nvSpPr>
        <p:spPr>
          <a:xfrm>
            <a:off x="548640" y="2377440"/>
            <a:ext cx="6629400" cy="1998865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_add-ai.png" descr="_add-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6629400" cy="1998865"/>
          </a:xfrm>
          <a:prstGeom prst="rect">
            <a:avLst/>
          </a:prstGeom>
        </p:spPr>
      </p:pic>
      <p:sp>
        <p:nvSpPr>
          <p:cNvPr id="11" name="hl-2"/>
          <p:cNvSpPr/>
          <p:nvPr/>
        </p:nvSpPr>
        <p:spPr>
          <a:xfrm>
            <a:off x="782366" y="2518953"/>
            <a:ext cx="6161948" cy="247847"/>
          </a:xfrm>
          <a:prstGeom prst="roundRect">
            <a:avLst>
              <a:gd name="adj" fmla="val 22136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2" name="marker-2"/>
          <p:cNvSpPr/>
          <p:nvPr/>
        </p:nvSpPr>
        <p:spPr>
          <a:xfrm>
            <a:off x="434894" y="248742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marker-2-text"/>
          <p:cNvSpPr txBox="1"/>
          <p:nvPr/>
        </p:nvSpPr>
        <p:spPr>
          <a:xfrm>
            <a:off x="434894" y="24874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14" name="hl-3"/>
          <p:cNvSpPr/>
          <p:nvPr/>
        </p:nvSpPr>
        <p:spPr>
          <a:xfrm>
            <a:off x="782366" y="3868577"/>
            <a:ext cx="6161948" cy="447116"/>
          </a:xfrm>
          <a:prstGeom prst="roundRect">
            <a:avLst>
              <a:gd name="adj" fmla="val 12271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5" name="marker-3"/>
          <p:cNvSpPr/>
          <p:nvPr/>
        </p:nvSpPr>
        <p:spPr>
          <a:xfrm>
            <a:off x="434894" y="3936687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marker-3-text"/>
          <p:cNvSpPr txBox="1"/>
          <p:nvPr/>
        </p:nvSpPr>
        <p:spPr>
          <a:xfrm>
            <a:off x="434894" y="39366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17" name="tag-real"/>
          <p:cNvSpPr/>
          <p:nvPr/>
        </p:nvSpPr>
        <p:spPr>
          <a:xfrm>
            <a:off x="548640" y="4467745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4467745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實際畫面</a:t>
            </a:r>
            <a:endParaRPr lang="zh-TW" sz="1000" dirty="0"/>
          </a:p>
        </p:txBody>
      </p:sp>
      <p:sp>
        <p:nvSpPr>
          <p:cNvPr id="19" name="note"/>
          <p:cNvSpPr/>
          <p:nvPr/>
        </p:nvSpPr>
        <p:spPr>
          <a:xfrm>
            <a:off x="548640" y="4833505"/>
            <a:ext cx="6629400" cy="790956"/>
          </a:xfrm>
          <a:prstGeom prst="roundRect">
            <a:avLst>
              <a:gd name="adj" fmla="val 6936"/>
            </a:avLst>
          </a:prstGeom>
          <a:solidFill>
            <a:srgbClr val="EEF4F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94944" y="4924945"/>
            <a:ext cx="633679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dirty="0">
                <a:solidFill>
                  <a:srgbClr val="1D3B3D"/>
                </a:solidFill>
              </a:rPr>
              <a:t>以前沒有 AI 時加進來的論文不會自動補關鍵詞，要用閱讀器的「編輯資訊」手動填。費用提醒：連上 Claude 後（兩種接法都一樣），預設的「自動」翻譯也會改用 Claude，這是最花額度的部分。</a:t>
            </a:r>
            <a:endParaRPr lang="zh-TW" sz="1100" dirty="0"/>
          </a:p>
        </p:txBody>
      </p:sp>
      <p:sp>
        <p:nvSpPr>
          <p:cNvPr id="21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854696" y="146304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右上角顯示 AI 已連上</a:t>
            </a:r>
            <a:endParaRPr lang="zh-TW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854696" y="1779270"/>
            <a:ext cx="3788359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接法 1 是「AI：Claude 金鑰」，接法 2 是「AI：網站後端 AI」。接法 2 沒有變的話，確認開的是 Vercel 網址，再重新整理一次。</a:t>
            </a:r>
            <a:endParaRPr lang="zh-TW" sz="1250" dirty="0"/>
          </a:p>
        </p:txBody>
      </p:sp>
      <p:sp>
        <p:nvSpPr>
          <p:cNvPr id="25" name="marker-2"/>
          <p:cNvSpPr/>
          <p:nvPr/>
        </p:nvSpPr>
        <p:spPr>
          <a:xfrm>
            <a:off x="7452360" y="259994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marker-2-text"/>
          <p:cNvSpPr txBox="1"/>
          <p:nvPr/>
        </p:nvSpPr>
        <p:spPr>
          <a:xfrm>
            <a:off x="7452360" y="2599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854696" y="259080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新增論文的視窗寫「會由 AI 自動辨識」</a:t>
            </a:r>
            <a:endParaRPr lang="zh-TW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854696" y="2907030"/>
            <a:ext cx="3788359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左側「＋ 新增論文」，上傳一篇 PDF。</a:t>
            </a:r>
            <a:endParaRPr lang="zh-TW" sz="1250" dirty="0"/>
          </a:p>
        </p:txBody>
      </p:sp>
      <p:sp>
        <p:nvSpPr>
          <p:cNvPr id="29" name="marker-3"/>
          <p:cNvSpPr/>
          <p:nvPr/>
        </p:nvSpPr>
        <p:spPr>
          <a:xfrm>
            <a:off x="7452360" y="330860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marker-3-text"/>
          <p:cNvSpPr txBox="1"/>
          <p:nvPr/>
        </p:nvSpPr>
        <p:spPr>
          <a:xfrm>
            <a:off x="7452360" y="33086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7854696" y="329946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關鍵詞欄留空，按「儲存並翻譯」</a:t>
            </a:r>
            <a:endParaRPr lang="zh-TW" sz="1450" dirty="0"/>
          </a:p>
        </p:txBody>
      </p:sp>
      <p:sp>
        <p:nvSpPr>
          <p:cNvPr id="32" name="Text 28"/>
          <p:cNvSpPr txBox="1"/>
          <p:nvPr/>
        </p:nvSpPr>
        <p:spPr>
          <a:xfrm>
            <a:off x="7854696" y="3615690"/>
            <a:ext cx="3788359" cy="85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儲存後在閱讀器按「編輯資訊」：關鍵詞已經自動填好、標題是論文的標題（不是檔名）才算成功。提示出現「AI 沒有辨識出…」時，看最後的「疑難排解」。</a:t>
            </a:r>
            <a:endParaRPr lang="zh-TW" sz="1250" dirty="0"/>
          </a:p>
        </p:txBody>
      </p:sp>
      <p:sp>
        <p:nvSpPr>
          <p:cNvPr id="33" name="marker-4"/>
          <p:cNvSpPr/>
          <p:nvPr/>
        </p:nvSpPr>
        <p:spPr>
          <a:xfrm>
            <a:off x="7452360" y="464591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marker-4-text"/>
          <p:cNvSpPr txBox="1"/>
          <p:nvPr/>
        </p:nvSpPr>
        <p:spPr>
          <a:xfrm>
            <a:off x="7452360" y="46459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7854696" y="463677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確認存取碼有效（接法 2）</a:t>
            </a:r>
            <a:endParaRPr lang="zh-TW" sz="1450" dirty="0"/>
          </a:p>
        </p:txBody>
      </p:sp>
      <p:sp>
        <p:nvSpPr>
          <p:cNvPr id="36" name="Text 32"/>
          <p:cNvSpPr txBox="1"/>
          <p:nvPr/>
        </p:nvSpPr>
        <p:spPr>
          <a:xfrm>
            <a:off x="7854696" y="4953000"/>
            <a:ext cx="3788359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開無痕視窗打開網站、不輸入存取碼，新增一篇論文：提示出現「網站存取碼錯誤」，代表陌生人用不到你的額度。</a:t>
            </a:r>
            <a:endParaRPr lang="zh-TW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B7　發給使用者（接法 2）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使用者只要做這三步</a:t>
            </a:r>
            <a:endParaRPr lang="zh-TW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5" name="marker-1"/>
          <p:cNvSpPr/>
          <p:nvPr/>
        </p:nvSpPr>
        <p:spPr>
          <a:xfrm>
            <a:off x="804672" y="1828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marker-1-text"/>
          <p:cNvSpPr txBox="1"/>
          <p:nvPr/>
        </p:nvSpPr>
        <p:spPr>
          <a:xfrm>
            <a:off x="8046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打開網站</a:t>
            </a:r>
            <a:endParaRPr lang="zh-TW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journal-article-memory-tool.vercel.app（要用這個網址，GitHub Pages 備用網址沒有 AI）</a:t>
            </a:r>
            <a:endParaRPr lang="zh-TW" sz="1250" dirty="0"/>
          </a:p>
        </p:txBody>
      </p:sp>
      <p:sp>
        <p:nvSpPr>
          <p:cNvPr id="9" name="Shape 7"/>
          <p:cNvSpPr/>
          <p:nvPr/>
        </p:nvSpPr>
        <p:spPr>
          <a:xfrm>
            <a:off x="4261104" y="1554480"/>
            <a:ext cx="35204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0" name="marker-2"/>
          <p:cNvSpPr/>
          <p:nvPr/>
        </p:nvSpPr>
        <p:spPr>
          <a:xfrm>
            <a:off x="4517136" y="1828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2-text"/>
          <p:cNvSpPr txBox="1"/>
          <p:nvPr/>
        </p:nvSpPr>
        <p:spPr>
          <a:xfrm>
            <a:off x="451713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9784" y="175564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設定與備份 → 進階</a:t>
            </a:r>
            <a:endParaRPr lang="zh-TW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2560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手機或視窗較窄時，先按左上角 ☰。找到「Anthropic Claude 金鑰」卡片，金鑰欄留空。</a:t>
            </a:r>
            <a:endParaRPr lang="zh-TW" sz="1250" dirty="0"/>
          </a:p>
        </p:txBody>
      </p:sp>
      <p:sp>
        <p:nvSpPr>
          <p:cNvPr id="14" name="Shape 12"/>
          <p:cNvSpPr/>
          <p:nvPr/>
        </p:nvSpPr>
        <p:spPr>
          <a:xfrm>
            <a:off x="7973568" y="1554480"/>
            <a:ext cx="35204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5" name="marker-3"/>
          <p:cNvSpPr/>
          <p:nvPr/>
        </p:nvSpPr>
        <p:spPr>
          <a:xfrm>
            <a:off x="8229600" y="1828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marker-3-text"/>
          <p:cNvSpPr txBox="1"/>
          <p:nvPr/>
        </p:nvSpPr>
        <p:spPr>
          <a:xfrm>
            <a:off x="82296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42248" y="175564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填存取碼，按儲存</a:t>
            </a:r>
            <a:endParaRPr lang="zh-TW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560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在「網站存取碼」填入，按「儲存並使用 Claude」。存取碼向管理者索取。看到「已儲存存取碼（使用網站後端）」後新增一篇論文試試；出現「網站存取碼錯誤」就是打錯了。每台電腦、每個瀏覽器都要輸入一次。</a:t>
            </a:r>
            <a:endParaRPr lang="zh-TW" sz="1250" dirty="0"/>
          </a:p>
        </p:txBody>
      </p:sp>
      <p:sp>
        <p:nvSpPr>
          <p:cNvPr id="19" name="card-claude.png-frame"/>
          <p:cNvSpPr/>
          <p:nvPr/>
        </p:nvSpPr>
        <p:spPr>
          <a:xfrm>
            <a:off x="548640" y="3977640"/>
            <a:ext cx="3825293" cy="178308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card-claude.png" descr="card-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77640"/>
            <a:ext cx="3825293" cy="1783080"/>
          </a:xfrm>
          <a:prstGeom prst="rect">
            <a:avLst/>
          </a:prstGeom>
        </p:spPr>
      </p:pic>
      <p:sp>
        <p:nvSpPr>
          <p:cNvPr id="21" name="hl-3"/>
          <p:cNvSpPr/>
          <p:nvPr/>
        </p:nvSpPr>
        <p:spPr>
          <a:xfrm>
            <a:off x="622899" y="5157058"/>
            <a:ext cx="3676774" cy="276887"/>
          </a:xfrm>
          <a:prstGeom prst="roundRect">
            <a:avLst>
              <a:gd name="adj" fmla="val 19815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22" name="marker-3"/>
          <p:cNvSpPr/>
          <p:nvPr/>
        </p:nvSpPr>
        <p:spPr>
          <a:xfrm>
            <a:off x="4336249" y="514005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marker-3-text"/>
          <p:cNvSpPr txBox="1"/>
          <p:nvPr/>
        </p:nvSpPr>
        <p:spPr>
          <a:xfrm>
            <a:off x="4336249" y="51400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24" name="tag-real"/>
          <p:cNvSpPr/>
          <p:nvPr/>
        </p:nvSpPr>
        <p:spPr>
          <a:xfrm>
            <a:off x="548640" y="5833872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58338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實際畫面</a:t>
            </a:r>
            <a:endParaRPr lang="zh-TW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0" y="4069080"/>
            <a:ext cx="6156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小提醒</a:t>
            </a:r>
            <a:endParaRPr lang="zh-TW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1250" dirty="0">
                <a:solidFill>
                  <a:schemeClr val="tx1"/>
                </a:solidFill>
              </a:rPr>
              <a:t>存取碼不要公開貼到網路上。</a:t>
            </a:r>
            <a:endParaRPr lang="zh-TW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1250" dirty="0">
                <a:solidFill>
                  <a:schemeClr val="tx1"/>
                </a:solidFill>
              </a:rPr>
              <a:t>想省額度：「設定與備份」→「AI 模型」→ 翻譯選「瀏覽器內建翻譯」（限電腦版 Chrome）。</a:t>
            </a:r>
            <a:endParaRPr lang="zh-TW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1250" dirty="0">
                <a:solidFill>
                  <a:schemeClr val="tx1"/>
                </a:solidFill>
              </a:rPr>
              <a:t>出現「網站存取碼錯誤」：重新輸入，或向管理者確認。</a:t>
            </a:r>
            <a:endParaRPr lang="zh-TW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C　Google AI Studio＋論憶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不用 Claude 時：貼上免費的 Gemini 金鑰</a:t>
            </a:r>
            <a:endParaRPr lang="zh-TW" sz="2800" dirty="0"/>
          </a:p>
        </p:txBody>
      </p:sp>
      <p:sp>
        <p:nvSpPr>
          <p:cNvPr id="4" name="card-gemini.png-frame"/>
          <p:cNvSpPr/>
          <p:nvPr/>
        </p:nvSpPr>
        <p:spPr>
          <a:xfrm>
            <a:off x="548640" y="1481328"/>
            <a:ext cx="6629400" cy="2598297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card-gemini.png" descr="card-gem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6629400" cy="2598297"/>
          </a:xfrm>
          <a:prstGeom prst="rect">
            <a:avLst/>
          </a:prstGeom>
        </p:spPr>
      </p:pic>
      <p:sp>
        <p:nvSpPr>
          <p:cNvPr id="6" name="hl-1"/>
          <p:cNvSpPr/>
          <p:nvPr/>
        </p:nvSpPr>
        <p:spPr>
          <a:xfrm>
            <a:off x="4919033" y="1614698"/>
            <a:ext cx="2126050" cy="387189"/>
          </a:xfrm>
          <a:prstGeom prst="roundRect">
            <a:avLst>
              <a:gd name="adj" fmla="val 14170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7" name="marker-1"/>
          <p:cNvSpPr/>
          <p:nvPr/>
        </p:nvSpPr>
        <p:spPr>
          <a:xfrm>
            <a:off x="4571561" y="165284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marker-1-text"/>
          <p:cNvSpPr txBox="1"/>
          <p:nvPr/>
        </p:nvSpPr>
        <p:spPr>
          <a:xfrm>
            <a:off x="4571561" y="16528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9" name="hl-3"/>
          <p:cNvSpPr/>
          <p:nvPr/>
        </p:nvSpPr>
        <p:spPr>
          <a:xfrm>
            <a:off x="681597" y="2529931"/>
            <a:ext cx="6363487" cy="472950"/>
          </a:xfrm>
          <a:prstGeom prst="roundRect">
            <a:avLst>
              <a:gd name="adj" fmla="val 11600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0" name="marker-3"/>
          <p:cNvSpPr/>
          <p:nvPr/>
        </p:nvSpPr>
        <p:spPr>
          <a:xfrm>
            <a:off x="334125" y="261095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arker-3-text"/>
          <p:cNvSpPr txBox="1"/>
          <p:nvPr/>
        </p:nvSpPr>
        <p:spPr>
          <a:xfrm>
            <a:off x="334125" y="2610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12" name="hl-4"/>
          <p:cNvSpPr/>
          <p:nvPr/>
        </p:nvSpPr>
        <p:spPr>
          <a:xfrm>
            <a:off x="681597" y="3548346"/>
            <a:ext cx="1451749" cy="387189"/>
          </a:xfrm>
          <a:prstGeom prst="roundRect">
            <a:avLst>
              <a:gd name="adj" fmla="val 14170"/>
            </a:avLst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3" name="marker-4"/>
          <p:cNvSpPr/>
          <p:nvPr/>
        </p:nvSpPr>
        <p:spPr>
          <a:xfrm>
            <a:off x="334125" y="35864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marker-4-text"/>
          <p:cNvSpPr txBox="1"/>
          <p:nvPr/>
        </p:nvSpPr>
        <p:spPr>
          <a:xfrm>
            <a:off x="334125" y="35864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15" name="tag-real"/>
          <p:cNvSpPr/>
          <p:nvPr/>
        </p:nvSpPr>
        <p:spPr>
          <a:xfrm>
            <a:off x="548640" y="4171065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171065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實際畫面</a:t>
            </a:r>
            <a:endParaRPr lang="zh-TW" sz="1000" dirty="0"/>
          </a:p>
        </p:txBody>
      </p:sp>
      <p:sp>
        <p:nvSpPr>
          <p:cNvPr id="17" name="note"/>
          <p:cNvSpPr/>
          <p:nvPr/>
        </p:nvSpPr>
        <p:spPr>
          <a:xfrm>
            <a:off x="548640" y="4582545"/>
            <a:ext cx="6629400" cy="816102"/>
          </a:xfrm>
          <a:prstGeom prst="roundRect">
            <a:avLst>
              <a:gd name="adj" fmla="val 6723"/>
            </a:avLst>
          </a:prstGeom>
          <a:solidFill>
            <a:srgbClr val="FBEEE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94944" y="4673985"/>
            <a:ext cx="63367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rgbClr val="7A2E12"/>
                </a:solidFill>
              </a:rPr>
              <a:t>免費版的內容可能被 Google 用來改進產品（Gemini API 附加條款），未發表的稿件請留意。需年滿 18 歲；學校帳號可能被學校關閉 AI Studio，建議用個人 Gmail。存了 Gemini 金鑰的瀏覽器會優先用 Gemini、不走網站後端；要改回就在 Gemini 卡片按「清除」。</a:t>
            </a:r>
            <a:endParaRPr lang="zh-TW" sz="1150" dirty="0"/>
          </a:p>
        </p:txBody>
      </p:sp>
      <p:sp>
        <p:nvSpPr>
          <p:cNvPr id="19" name="marker-1"/>
          <p:cNvSpPr/>
          <p:nvPr/>
        </p:nvSpPr>
        <p:spPr>
          <a:xfrm>
            <a:off x="7452360" y="1472184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marker-1-text"/>
          <p:cNvSpPr txBox="1"/>
          <p:nvPr/>
        </p:nvSpPr>
        <p:spPr>
          <a:xfrm>
            <a:off x="745236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854696" y="1463040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按「用 Google 帳號免費取得金鑰 ↗」</a:t>
            </a:r>
            <a:endParaRPr lang="zh-TW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7854696" y="1779270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在「設定與備份」→「進階」的 Gemini 卡片，會打開 aistudio.google.com/apikey。</a:t>
            </a:r>
            <a:endParaRPr lang="zh-TW" sz="1250" dirty="0"/>
          </a:p>
        </p:txBody>
      </p:sp>
      <p:sp>
        <p:nvSpPr>
          <p:cNvPr id="23" name="marker-2"/>
          <p:cNvSpPr/>
          <p:nvPr/>
        </p:nvSpPr>
        <p:spPr>
          <a:xfrm>
            <a:off x="7452360" y="2399538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marker-2-text"/>
          <p:cNvSpPr txBox="1"/>
          <p:nvPr/>
        </p:nvSpPr>
        <p:spPr>
          <a:xfrm>
            <a:off x="7452360" y="23995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854696" y="2390394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在 AI Studio 建立並複製金鑰</a:t>
            </a:r>
            <a:endParaRPr lang="zh-TW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7854696" y="2706624"/>
            <a:ext cx="3788359" cy="106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第一次使用要先同意服務條款。按「Create API key」，取個名字，在專案選單選一個 Google Cloud 專案（清單是空的就建立新專案，或到 Dashboard → Projects →「Import projects」匯入 A1 的「論憶」），建好後按複製圖示。</a:t>
            </a:r>
            <a:endParaRPr lang="zh-TW" sz="1250" dirty="0"/>
          </a:p>
        </p:txBody>
      </p:sp>
      <p:sp>
        <p:nvSpPr>
          <p:cNvPr id="27" name="marker-3"/>
          <p:cNvSpPr/>
          <p:nvPr/>
        </p:nvSpPr>
        <p:spPr>
          <a:xfrm>
            <a:off x="7452360" y="3955542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marker-3-text"/>
          <p:cNvSpPr txBox="1"/>
          <p:nvPr/>
        </p:nvSpPr>
        <p:spPr>
          <a:xfrm>
            <a:off x="7452360" y="39555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854696" y="3946398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貼到「Gemini API 金鑰」</a:t>
            </a:r>
            <a:endParaRPr lang="zh-TW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7854696" y="4262628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「模型名稱」留空即可（預設 gemini-3.8-flash）。不要填 gemini-2.5-flash，新金鑰已經不能用。</a:t>
            </a:r>
            <a:endParaRPr lang="zh-TW" sz="1250" dirty="0"/>
          </a:p>
        </p:txBody>
      </p:sp>
      <p:sp>
        <p:nvSpPr>
          <p:cNvPr id="31" name="marker-4"/>
          <p:cNvSpPr/>
          <p:nvPr/>
        </p:nvSpPr>
        <p:spPr>
          <a:xfrm>
            <a:off x="7452360" y="488289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marker-4-text"/>
          <p:cNvSpPr txBox="1"/>
          <p:nvPr/>
        </p:nvSpPr>
        <p:spPr>
          <a:xfrm>
            <a:off x="74523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854696" y="4873752"/>
            <a:ext cx="3788359" cy="26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按「儲存並使用 Gemini」</a:t>
            </a:r>
            <a:endParaRPr lang="zh-TW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7854696" y="5189982"/>
            <a:ext cx="3788359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看到「已驗證，AI 改用 Gemini」就完成，右上角會顯示「Gemini 金鑰」。</a:t>
            </a:r>
            <a:endParaRPr lang="zh-TW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疑難排解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遇到問題時先看這裡</a:t>
            </a:r>
            <a:endParaRPr lang="zh-TW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論憶的提示會附上錯誤原因；英文的部分來自 Anthropic 或 Google，照下表找對應的處理方式。</a:t>
            </a:r>
            <a:endParaRPr lang="zh-TW" sz="1150" dirty="0"/>
          </a:p>
        </p:txBody>
      </p:sp>
      <p:graphicFrame>
        <p:nvGraphicFramePr>
          <p:cNvPr id="22" name="troubleshoo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9441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840480"/>
                <a:gridCol w="35021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chemeClr val="bg1"/>
                          </a:solidFill>
                        </a:rPr>
                        <a:t>看到的狀況</a:t>
                      </a:r>
                      <a:endParaRPr lang="zh-TW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chemeClr val="bg1"/>
                          </a:solidFill>
                        </a:rPr>
                        <a:t>原因</a:t>
                      </a:r>
                      <a:endParaRPr lang="zh-TW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chemeClr val="bg1"/>
                          </a:solidFill>
                        </a:rPr>
                        <a:t>怎麼處理</a:t>
                      </a:r>
                      <a:endParaRPr lang="zh-TW" sz="12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「繼續使用 Google」還是灰的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用戶端 ID 還沒寫進程式，或這台瀏覽器沒存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A5 先試用；A6 寫進程式並發布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Google 視窗顯示 origin_mismatch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JavaScript 來源沒加、多了路徑或結尾「/」，或開的是 Vercel 預覽網址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A4 改成只有網域；用正式網址；等 5 分鐘再試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登入被擋（Access blocked／Error 403: access_denied）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這個帳號不在測試使用者名單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A3 加進名單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/api/claude 顯示 AI backend not configured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變數名稱打錯、沒選 Production，或還沒重新部署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B3 檢查變數，B4 Redeploy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提示含「credit balance is too low」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剛設定就出現：金鑰建在沒綁定 Max 的組織，或 Console 用了別的 Email；用一陣子才出現：本期額度用完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到 Billing 看 Promotional credits：不在那個組織就切過去重建金鑰（B2）；用完就等下個帳單週期。不要按 purchase credits（會付費）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提示含「API usage limits」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到了 B1 設的工作區每月上限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B1 調高上限，或等下個月 1 日早上 8 點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「這把金鑰沒有綁定 workspace」「金鑰無效或已過期」，或「not scoped to a workspace」「invalid x-api-key」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金鑰沒選工作區、貼錯或已過期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B2 重建金鑰並選 lunyi；接法 1 到「進階」貼上新金鑰，接法 2 在 B3 換掉後 Redeploy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「網站存取碼錯誤」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存取碼和 LUNYI_ACCESS_CODE 不一樣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B5 重新輸入；或在 Vercel 改值後 Redeploy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右上角沒有「網站後端 AI」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開的是 GitHub Pages 網址；或這台瀏覽器存了 Gemini／Claude 金鑰（會優先使用）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改用 Vercel 網址；在「進階」的 Gemini／Claude 卡片按「清除」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Gemini 顯示「不能使用模型」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模型名稱填了 gemini-2.5-flash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C 把模型名稱清空</a:t>
                      </a:r>
                      <a:endParaRPr lang="zh-TW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完成檢查表</a:t>
            </a:r>
            <a:endParaRPr lang="zh-TW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做完一項打一個勾</a:t>
            </a:r>
            <a:endParaRPr lang="zh-TW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A. Google 登入</a:t>
            </a:r>
            <a:endParaRPr lang="zh-TW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1109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47088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啟用 Google Drive API、Google Calendar API</a:t>
            </a:r>
            <a:endParaRPr lang="zh-TW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295144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Google Auth Platform：名稱、外部、聯絡信箱</a:t>
            </a:r>
            <a:endParaRPr lang="zh-TW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測試使用者加入自己、老師、同學</a:t>
            </a:r>
            <a:endParaRPr lang="zh-TW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19125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用戶端：網頁應用程式、兩個 JavaScript 來源</a:t>
            </a:r>
            <a:endParaRPr lang="zh-TW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63931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在自己的瀏覽器試用登入成功</a:t>
            </a:r>
            <a:endParaRPr lang="zh-TW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513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087368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用戶端 ID 寫進程式並發布</a:t>
            </a:r>
            <a:endParaRPr lang="zh-TW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9943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535424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發布後用無痕視窗、不貼 ID 也能登入</a:t>
            </a:r>
            <a:endParaRPr lang="zh-TW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4173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B. Claude AI</a:t>
            </a:r>
            <a:endParaRPr lang="zh-TW" sz="1700" dirty="0"/>
          </a:p>
        </p:txBody>
      </p:sp>
      <p:sp>
        <p:nvSpPr>
          <p:cNvPr id="20" name="Shape 18"/>
          <p:cNvSpPr/>
          <p:nvPr/>
        </p:nvSpPr>
        <p:spPr>
          <a:xfrm>
            <a:off x="6172200" y="191109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1847088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claude.ai 綁定 Max 附送額度，auto-reload 確認已關</a:t>
            </a:r>
            <a:endParaRPr lang="zh-TW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23591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2295144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工作區 lunyi 設每月上限</a:t>
            </a:r>
            <a:endParaRPr lang="zh-TW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28072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274320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金鑰選工作區 lunyi，期限 Never</a:t>
            </a:r>
            <a:endParaRPr lang="zh-TW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325526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319125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接法 1：金鑰貼進論憶，右上角顯示 Claude 金鑰</a:t>
            </a:r>
            <a:endParaRPr lang="zh-TW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37033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0" y="363931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接法 2：Vercel 兩個變數，Redeploy 後顯示 POST only</a:t>
            </a:r>
            <a:endParaRPr lang="zh-TW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41513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4087368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新增論文會自動產生關鍵詞</a:t>
            </a:r>
            <a:endParaRPr lang="zh-TW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459943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0" y="4535424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接法 2：無痕視窗不輸入存取碼時被擋下</a:t>
            </a:r>
            <a:endParaRPr lang="zh-TW" sz="1300" dirty="0"/>
          </a:p>
        </p:txBody>
      </p:sp>
      <p:sp>
        <p:nvSpPr>
          <p:cNvPr id="34" name="Shape 32"/>
          <p:cNvSpPr/>
          <p:nvPr/>
        </p:nvSpPr>
        <p:spPr>
          <a:xfrm>
            <a:off x="6172200" y="50474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0" y="498348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接法 2：存取碼發給使用者（B7）</a:t>
            </a:r>
            <a:endParaRPr lang="zh-TW" sz="1300" dirty="0"/>
          </a:p>
        </p:txBody>
      </p:sp>
      <p:sp>
        <p:nvSpPr>
          <p:cNvPr id="36" name="not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8571"/>
            </a:avLst>
          </a:prstGeom>
          <a:solidFill>
            <a:srgbClr val="EEF4F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94944" y="5577840"/>
            <a:ext cx="10801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rgbClr val="1D3B3D"/>
                </a:solidFill>
              </a:rPr>
              <a:t>每個月看一次 Claude Console 的 Usage 與 Cost。金鑰外流時到 API keys 按 Disable 或 Delete，再建新的：接法 1 到那台電腦的「進階」貼上；接法 2 到 Vercel 換掉 ANTHROPIC_API_KEY 再 Redeploy。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nyi">
  <a:themeElements>
    <a:clrScheme name="Lunyi">
      <a:dk1>
        <a:srgbClr val="1D1B18"/>
      </a:dk1>
      <a:lt1>
        <a:srgbClr val="FFFFFF"/>
      </a:lt1>
      <a:dk2>
        <a:srgbClr val="625D55"/>
      </a:dk2>
      <a:lt2>
        <a:srgbClr val="F4F2ED"/>
      </a:lt2>
      <a:accent1>
        <a:srgbClr val="00656B"/>
      </a:accent1>
      <a:accent2>
        <a:srgbClr val="2A78D6"/>
      </a:accent2>
      <a:accent3>
        <a:srgbClr val="EB6834"/>
      </a:accent3>
      <a:accent4>
        <a:srgbClr val="FAECB6"/>
      </a:accent4>
      <a:accent5>
        <a:srgbClr val="E2DDD3"/>
      </a:accent5>
      <a:accent6>
        <a:srgbClr val="FAF9F6"/>
      </a:accent6>
      <a:hlink>
        <a:srgbClr val="00656B"/>
      </a:hlink>
      <a:folHlink>
        <a:srgbClr val="004A50"/>
      </a:folHlink>
    </a:clrScheme>
    <a:fontScheme name="Lunyi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論憶 管理者操作手冊</dc:title>
  <dc:subject>開放 Google 登入、讓 AI 自動建立關聯圖譜</dc:subject>
  <dc:creator>林永欽</dc:creator>
  <cp:lastModifiedBy>林永欽</cp:lastModifiedBy>
  <cp:revision>1</cp:revision>
  <dcterms:created xsi:type="dcterms:W3CDTF">2026-10-25T04:13:56Z</dcterms:created>
  <dcterms:modified xsi:type="dcterms:W3CDTF">2026-10-25T04:13:56Z</dcterms:modified>
</cp:coreProperties>
</file>