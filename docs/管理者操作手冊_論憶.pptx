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" id="{0b580b0d-6934-ca1d-bfbc-507c76a24f0a}">
          <p14:sldIdLst>
            <p14:sldId id="256"/>
          </p14:sldIdLst>
        </p14:section>
        <p14:section name="開始之前" id="{d2e4e385-b86c-9b0e-0a14-90a146587dff}">
          <p14:sldIdLst>
            <p14:sldId id="257"/>
            <p14:sldId id="258"/>
          </p14:sldIdLst>
        </p14:section>
        <p14:section name="A. 開放 Google 登入" id="{1cf10dbc-d00d-d281-ad03-497bb44e18ed}">
          <p14:sldIdLst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B. 讓所有人都有 AI" id="{70a2dafc-e12f-a37a-cb6d-750404fec943}">
          <p14:sldIdLst>
            <p14:sldId id="266"/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C. 只有自己用 AI" id="{6f5a9a93-6a4a-b598-5538-c89e21ec98fa}">
          <p14:sldIdLst>
            <p14:sldId id="273"/>
          </p14:sldIdLst>
        </p14:section>
        <p14:section name="問題與檢查" id="{97691c9e-eb24-5c7b-531a-a3314d5b1d7e}">
          <p14:sldIdLst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這份手冊給論憶的網站管理者，說明開放 Google 登入與提供 AI 給所有使用者時，每一步要到哪個網站、貼上什麼、按哪個按鈕。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管理者要做的事分成三件。A 開放 Google 登入是必做；B 讓所有人都有 AI 是建議，費用由管理者的 Anthropic 帳號支付；C 只有自己用 AI 是選用。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開始前準備好 Google 帳號、測試名單、信用卡、Vercel 權限和自訂的存取碼。Google 的用戶端密鑰與 Anthropic 金鑰都不能外流；用戶端 ID 可以公開。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先在 Google Cloud 建立一個專案，再到 API 程式庫啟用 Google Drive API 和 Google Calendar API。雲端硬碟同步、匯入 PDF、匯出文件和排入日曆都靠這兩個 API。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以前叫「OAuth 同意畫面」的設定，現在搬到「Google Auth Platform」。第一次進去按「開始使用」，依序填應用程式名稱、支援信箱、目標對象選外部、聯絡信箱，最後同意使用者資料政策並建立。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Google 登入在測試中時，只有測試使用者名單上的人能登入，最多 100 位。把自己、老師和要展示的同學加進去。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建立用戶端時，類型選網頁應用程式，JavaScript 來源貼上 Vercel 網址和 GitHub Pages 的網域，不要加路徑和結尾斜線；重新導向 URI 留空。建立後複製用戶端 ID。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先在自己的瀏覽器試用：在登入視窗按灰色的繼續使用 Google，出現紅色提示後點「我是網站管理者」，會打開設定的進階頁，把用戶端 ID 貼進 Google OAuth 用戶端 ID 欄位並儲存。這只影響這台瀏覽器。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在 A5 的同一個瀏覽器確認登入成功後，把用戶端 ID 寫進 src/app.html 的 GOOGLE_CLIENT_ID 並發布；發布後用無痕視窗再測一次，確認所有人的登入按鈕都開放了。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課堂展示建議維持測試中，把老師和同學加進測試名單即可。要公開給所有人才按發布；只用基本權限不必送審，但匯入 PDF 與排入日曆屬於受限與敏感權限，通過驗證前會跳出警告。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Claude API 是預付制，要先在 Billing 儲值。建議建立一個專用的工作區 lunyi，並設定每月花費上限和提醒，避免額度被用光。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在 API keys 建立金鑰，工作區一定要選 lunyi，否則網站的後端呼叫會被拒絕。期限建議選 Never。金鑰只顯示一次，複製後直接貼到 Vercel。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在 Vercel 專案的 Environment Variables 新增兩個變數：ANTHROPIC_API_KEY 放 Claude 金鑰，LUNYI_ACCESS_CODE 放自己訂的存取碼。類型選 Secret，環境選 Production。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加了環境變數之後要重新部署：到 Deployments 找最新一筆 Production，按三個點選 Redeploy。完成後打開 /api/claude，看到 POST only 就代表後端已經開啟。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在論憶的設定與備份、進階頁，Anthropic Claude 金鑰卡片裡金鑰欄留空，只在網站存取碼填入存取碼，按儲存並使用 Claude。看到已儲存存取碼就完成了。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確認方式：右上角顯示網站後端 AI；新增論文視窗會寫由 AI 自動辨識；關鍵詞欄留空儲存後，到編輯資訊看關鍵詞是否已自動填好；最後用無痕視窗確認不輸入存取碼時會被擋下。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這一頁可以直接發給使用者：打開 Vercel 網址，到設定與備份的進階頁，金鑰欄留空，填入管理者給的存取碼，按儲存並使用 Claude。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只想自己用的話，到 Google AI Studio 免費取得 Gemini 金鑰，貼到論憶進階頁的 Gemini 卡片，模型名稱留空，按儲存並使用 Gemini。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常見問題：登入按鈕灰色、origin_mismatch、帳號不在測試名單、後端沒生效、儲值用完或到達每月上限、金鑰沒選工作區、存取碼錯誤、用了 GitHub Pages 網址或瀏覽器存了個人金鑰、Gemini 模型名稱過時。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最後用這張檢查表確認每一步都完成。之後每個月看一次用量；金鑰外流就停用並換新。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D1B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60350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29000"/>
            <a:ext cx="60350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32764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2"/>
                </a:solidFill>
              </a:rPr>
              <a:t>論憶｜管理者操作手冊</a:t>
            </a:r>
            <a:endParaRPr lang="zh-TW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03504"/>
            <a:ext cx="11094415" cy="60350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2764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2764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al"/>
          <p:cNvSpPr/>
          <p:nvPr/>
        </p:nvSpPr>
        <p:spPr>
          <a:xfrm>
            <a:off x="731520" y="868680"/>
            <a:ext cx="868680" cy="868680"/>
          </a:xfrm>
          <a:prstGeom prst="roundRect">
            <a:avLst>
              <a:gd name="adj" fmla="val 14737"/>
            </a:avLst>
          </a:prstGeom>
          <a:solidFill>
            <a:schemeClr val="accent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8686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4000" b="1" dirty="0">
                <a:solidFill>
                  <a:schemeClr val="tx1"/>
                </a:solidFill>
              </a:rPr>
              <a:t>論</a:t>
            </a:r>
            <a:endParaRPr lang="zh-TW" sz="4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2011680"/>
            <a:ext cx="6035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4000" b="1" dirty="0">
                <a:solidFill>
                  <a:schemeClr val="bg1"/>
                </a:solidFill>
              </a:rPr>
              <a:t>論憶 管理者操作手冊</a:t>
            </a:r>
            <a:endParaRPr lang="zh-TW" sz="4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731520" y="342900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800" dirty="0">
                <a:solidFill>
                  <a:schemeClr val="bg2"/>
                </a:solidFill>
              </a:rPr>
              <a:t>開放 Google 登入、讓 AI 自動建立關聯圖譜：要貼什麼、貼到哪裡、要按什麼</a:t>
            </a:r>
            <a:endParaRPr lang="zh-TW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61772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dirty="0">
                <a:solidFill>
                  <a:schemeClr val="bg2">
                    <a:alpha val="75000"/>
                  </a:schemeClr>
                </a:solidFill>
              </a:rPr>
              <a:t>網站</a:t>
            </a:r>
            <a:endParaRPr lang="zh-TW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461772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b="1" dirty="0">
                <a:solidFill>
                  <a:schemeClr val="bg1"/>
                </a:solidFill>
              </a:rPr>
              <a:t>journal-article-memory-tool.vercel.app</a:t>
            </a:r>
            <a:endParaRPr lang="zh-TW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02005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dirty="0">
                <a:solidFill>
                  <a:schemeClr val="bg2">
                    <a:alpha val="75000"/>
                  </a:schemeClr>
                </a:solidFill>
              </a:rPr>
              <a:t>對象</a:t>
            </a:r>
            <a:endParaRPr lang="zh-TW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645920" y="502005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b="1" dirty="0">
                <a:solidFill>
                  <a:schemeClr val="bg1"/>
                </a:solidFill>
              </a:rPr>
              <a:t>網站管理者（林永欽）</a:t>
            </a:r>
            <a:endParaRPr lang="zh-TW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542239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dirty="0">
                <a:solidFill>
                  <a:schemeClr val="bg2">
                    <a:alpha val="75000"/>
                  </a:schemeClr>
                </a:solidFill>
              </a:rPr>
              <a:t>更新</a:t>
            </a:r>
            <a:endParaRPr lang="zh-TW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645920" y="542239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b="1" dirty="0">
                <a:solidFill>
                  <a:schemeClr val="bg1"/>
                </a:solidFill>
              </a:rPr>
              <a:t>2026-10-24</a:t>
            </a:r>
            <a:endParaRPr lang="zh-TW" sz="1600" dirty="0"/>
          </a:p>
        </p:txBody>
      </p:sp>
      <p:sp>
        <p:nvSpPr>
          <p:cNvPr id="12" name="cover-login-frame"/>
          <p:cNvSpPr/>
          <p:nvPr/>
        </p:nvSpPr>
        <p:spPr>
          <a:xfrm>
            <a:off x="7498080" y="822960"/>
            <a:ext cx="4023360" cy="4310743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3" name="cover-login" descr="cover-log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822960"/>
            <a:ext cx="4023360" cy="431074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總覽</a:t>
            </a:r>
            <a:endParaRPr lang="zh-TW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0350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管理者要做的三件事，照 A → B 的順序做</a:t>
            </a:r>
            <a:endParaRPr lang="zh-TW" sz="2800" dirty="0"/>
          </a:p>
        </p:txBody>
      </p:sp>
      <p:sp>
        <p:nvSpPr>
          <p:cNvPr id="4" name="card-A"/>
          <p:cNvSpPr/>
          <p:nvPr/>
        </p:nvSpPr>
        <p:spPr>
          <a:xfrm>
            <a:off x="548640" y="1508760"/>
            <a:ext cx="3520440" cy="3429000"/>
          </a:xfrm>
          <a:prstGeom prst="roundRect">
            <a:avLst>
              <a:gd name="adj" fmla="val 2133"/>
            </a:avLst>
          </a:prstGeom>
          <a:solidFill>
            <a:schemeClr val="bg2"/>
          </a:solidFill>
          <a:ln/>
        </p:spPr>
      </p:sp>
      <p:sp>
        <p:nvSpPr>
          <p:cNvPr id="5" name="icon-LuLogIn-bg"/>
          <p:cNvSpPr/>
          <p:nvPr/>
        </p:nvSpPr>
        <p:spPr>
          <a:xfrm>
            <a:off x="804672" y="1764792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-LuLogIn" descr="LuLog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373" y="1885493"/>
            <a:ext cx="307238" cy="30723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81328" y="1783080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A. 開放 Google 登入</a:t>
            </a:r>
            <a:endParaRPr lang="zh-TW" sz="1800" dirty="0"/>
          </a:p>
        </p:txBody>
      </p:sp>
      <p:sp>
        <p:nvSpPr>
          <p:cNvPr id="8" name="Shape 5"/>
          <p:cNvSpPr/>
          <p:nvPr/>
        </p:nvSpPr>
        <p:spPr>
          <a:xfrm>
            <a:off x="3291840" y="1618488"/>
            <a:ext cx="621792" cy="25603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291840" y="1618488"/>
            <a:ext cx="621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chemeClr val="bg1"/>
                </a:solidFill>
              </a:rPr>
              <a:t>必做</a:t>
            </a:r>
            <a:endParaRPr lang="zh-TW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51460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00" b="1" dirty="0">
                <a:solidFill>
                  <a:schemeClr val="accent1"/>
                </a:solidFill>
              </a:rPr>
              <a:t>要做什麼</a:t>
            </a:r>
            <a:endParaRPr lang="zh-TW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78892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Google Cloud 建立用戶端 ID</a:t>
            </a:r>
            <a:endParaRPr lang="zh-TW" sz="1300" dirty="0"/>
          </a:p>
          <a:p>
            <a:pPr indent="0" marL="0">
              <a:lnSpc>
                <a:spcPct val="115000"/>
              </a:lnSpc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→ 在論憶先試用</a:t>
            </a:r>
            <a:endParaRPr lang="zh-TW" sz="1300" dirty="0"/>
          </a:p>
          <a:p>
            <a:pPr indent="0" marL="0">
              <a:lnSpc>
                <a:spcPct val="115000"/>
              </a:lnSpc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→ 寫進程式並發布</a:t>
            </a:r>
            <a:endParaRPr lang="zh-TW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84048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00" b="1" dirty="0">
                <a:solidFill>
                  <a:schemeClr val="accent1"/>
                </a:solidFill>
              </a:rPr>
              <a:t>完成後</a:t>
            </a:r>
            <a:endParaRPr lang="zh-TW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411480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TW" altLang="en-US" sz="1300" dirty="0">
                <a:solidFill>
                  <a:schemeClr val="tx2"/>
                </a:solidFill>
              </a:rPr>
              <a:t>測試名單上的人都能用「繼續使用 Google」登入，同步雲端硬碟、匯出文件（開放給所有人見 A7）。</a:t>
            </a:r>
            <a:endParaRPr lang="zh-TW" sz="1300" dirty="0"/>
          </a:p>
        </p:txBody>
      </p:sp>
      <p:sp>
        <p:nvSpPr>
          <p:cNvPr id="14" name="card-B"/>
          <p:cNvSpPr/>
          <p:nvPr/>
        </p:nvSpPr>
        <p:spPr>
          <a:xfrm>
            <a:off x="4261104" y="1508760"/>
            <a:ext cx="3520440" cy="3429000"/>
          </a:xfrm>
          <a:prstGeom prst="roundRect">
            <a:avLst>
              <a:gd name="adj" fmla="val 2133"/>
            </a:avLst>
          </a:prstGeom>
          <a:solidFill>
            <a:schemeClr val="bg2"/>
          </a:solidFill>
          <a:ln/>
        </p:spPr>
      </p:sp>
      <p:sp>
        <p:nvSpPr>
          <p:cNvPr id="15" name="icon-LuSparkles-bg"/>
          <p:cNvSpPr/>
          <p:nvPr/>
        </p:nvSpPr>
        <p:spPr>
          <a:xfrm>
            <a:off x="4517136" y="1764792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con-LuSparkles" descr="LuSparkl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7837" y="1885493"/>
            <a:ext cx="307238" cy="30723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193792" y="1783080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B. 讓所有人都有 AI</a:t>
            </a:r>
            <a:endParaRPr lang="zh-TW" sz="1800" dirty="0"/>
          </a:p>
        </p:txBody>
      </p:sp>
      <p:sp>
        <p:nvSpPr>
          <p:cNvPr id="18" name="Shape 14"/>
          <p:cNvSpPr/>
          <p:nvPr/>
        </p:nvSpPr>
        <p:spPr>
          <a:xfrm>
            <a:off x="7004304" y="1618488"/>
            <a:ext cx="621792" cy="25603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004304" y="1618488"/>
            <a:ext cx="621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chemeClr val="bg1"/>
                </a:solidFill>
              </a:rPr>
              <a:t>建議</a:t>
            </a:r>
            <a:endParaRPr lang="zh-TW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4535424" y="251460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00" b="1" dirty="0">
                <a:solidFill>
                  <a:schemeClr val="accent1"/>
                </a:solidFill>
              </a:rPr>
              <a:t>要做什麼</a:t>
            </a:r>
            <a:endParaRPr lang="zh-TW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4535424" y="278892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Claude Console 儲值、建立金鑰</a:t>
            </a:r>
            <a:endParaRPr lang="zh-TW" sz="1300" dirty="0"/>
          </a:p>
          <a:p>
            <a:pPr indent="0" marL="0">
              <a:lnSpc>
                <a:spcPct val="115000"/>
              </a:lnSpc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→ Vercel 加環境變數、重新部署</a:t>
            </a:r>
            <a:endParaRPr lang="zh-TW" sz="1300" dirty="0"/>
          </a:p>
          <a:p>
            <a:pPr indent="0" marL="0">
              <a:lnSpc>
                <a:spcPct val="115000"/>
              </a:lnSpc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→ 使用者輸入存取碼</a:t>
            </a:r>
            <a:endParaRPr lang="zh-TW" sz="1300" dirty="0"/>
          </a:p>
        </p:txBody>
      </p:sp>
      <p:sp>
        <p:nvSpPr>
          <p:cNvPr id="22" name="Text 18"/>
          <p:cNvSpPr txBox="1"/>
          <p:nvPr/>
        </p:nvSpPr>
        <p:spPr>
          <a:xfrm>
            <a:off x="4535424" y="384048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00" b="1" dirty="0">
                <a:solidFill>
                  <a:schemeClr val="accent1"/>
                </a:solidFill>
              </a:rPr>
              <a:t>完成後</a:t>
            </a:r>
            <a:endParaRPr lang="zh-TW" sz="1100" dirty="0"/>
          </a:p>
        </p:txBody>
      </p:sp>
      <p:sp>
        <p:nvSpPr>
          <p:cNvPr id="23" name="Text 19"/>
          <p:cNvSpPr txBox="1"/>
          <p:nvPr/>
        </p:nvSpPr>
        <p:spPr>
          <a:xfrm>
            <a:off x="4535424" y="411480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TW" altLang="en-US" sz="1300" dirty="0">
                <a:solidFill>
                  <a:schemeClr val="tx2"/>
                </a:solidFill>
              </a:rPr>
              <a:t>新增論文時 AI 自動產生關鍵詞，關聯圖譜自動連線。</a:t>
            </a:r>
            <a:endParaRPr lang="zh-TW" sz="1300" dirty="0"/>
          </a:p>
        </p:txBody>
      </p:sp>
      <p:sp>
        <p:nvSpPr>
          <p:cNvPr id="24" name="card-C"/>
          <p:cNvSpPr/>
          <p:nvPr/>
        </p:nvSpPr>
        <p:spPr>
          <a:xfrm>
            <a:off x="7973568" y="1508760"/>
            <a:ext cx="3520440" cy="3429000"/>
          </a:xfrm>
          <a:prstGeom prst="roundRect">
            <a:avLst>
              <a:gd name="adj" fmla="val 2133"/>
            </a:avLst>
          </a:prstGeom>
          <a:solidFill>
            <a:schemeClr val="bg2"/>
          </a:solidFill>
          <a:ln/>
        </p:spPr>
      </p:sp>
      <p:sp>
        <p:nvSpPr>
          <p:cNvPr id="25" name="icon-LuKeyRound-bg"/>
          <p:cNvSpPr/>
          <p:nvPr/>
        </p:nvSpPr>
        <p:spPr>
          <a:xfrm>
            <a:off x="8229600" y="1764792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6" name="icon-LuKeyRound" descr="LuKeyRou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0301" y="1885493"/>
            <a:ext cx="307238" cy="307238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906256" y="1783080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C. 只有自己用 AI</a:t>
            </a:r>
            <a:endParaRPr lang="zh-TW" sz="1800" dirty="0"/>
          </a:p>
        </p:txBody>
      </p:sp>
      <p:sp>
        <p:nvSpPr>
          <p:cNvPr id="28" name="Shape 23"/>
          <p:cNvSpPr/>
          <p:nvPr/>
        </p:nvSpPr>
        <p:spPr>
          <a:xfrm>
            <a:off x="10716768" y="1618488"/>
            <a:ext cx="621792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8A196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10716768" y="1618488"/>
            <a:ext cx="621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chemeClr val="tx2"/>
                </a:solidFill>
              </a:rPr>
              <a:t>選用</a:t>
            </a:r>
            <a:endParaRPr lang="zh-TW" sz="1050" dirty="0"/>
          </a:p>
        </p:txBody>
      </p:sp>
      <p:sp>
        <p:nvSpPr>
          <p:cNvPr id="30" name="Text 25"/>
          <p:cNvSpPr txBox="1"/>
          <p:nvPr/>
        </p:nvSpPr>
        <p:spPr>
          <a:xfrm>
            <a:off x="8247888" y="251460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00" b="1" dirty="0">
                <a:solidFill>
                  <a:schemeClr val="accent1"/>
                </a:solidFill>
              </a:rPr>
              <a:t>要做什麼</a:t>
            </a:r>
            <a:endParaRPr lang="zh-TW" sz="1100" dirty="0"/>
          </a:p>
        </p:txBody>
      </p:sp>
      <p:sp>
        <p:nvSpPr>
          <p:cNvPr id="31" name="Text 26"/>
          <p:cNvSpPr txBox="1"/>
          <p:nvPr/>
        </p:nvSpPr>
        <p:spPr>
          <a:xfrm>
            <a:off x="8247888" y="278892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Google AI Studio 取得免費金鑰</a:t>
            </a:r>
            <a:endParaRPr lang="zh-TW" sz="1300" dirty="0"/>
          </a:p>
          <a:p>
            <a:pPr indent="0" marL="0">
              <a:lnSpc>
                <a:spcPct val="115000"/>
              </a:lnSpc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→ 貼到論憶的「進階」</a:t>
            </a:r>
            <a:endParaRPr lang="zh-TW" sz="1300" dirty="0"/>
          </a:p>
        </p:txBody>
      </p:sp>
      <p:sp>
        <p:nvSpPr>
          <p:cNvPr id="32" name="Text 27"/>
          <p:cNvSpPr txBox="1"/>
          <p:nvPr/>
        </p:nvSpPr>
        <p:spPr>
          <a:xfrm>
            <a:off x="8247888" y="384048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00" b="1" dirty="0">
                <a:solidFill>
                  <a:schemeClr val="accent1"/>
                </a:solidFill>
              </a:rPr>
              <a:t>完成後</a:t>
            </a:r>
            <a:endParaRPr lang="zh-TW" sz="1100" dirty="0"/>
          </a:p>
        </p:txBody>
      </p:sp>
      <p:sp>
        <p:nvSpPr>
          <p:cNvPr id="33" name="Text 28"/>
          <p:cNvSpPr txBox="1"/>
          <p:nvPr/>
        </p:nvSpPr>
        <p:spPr>
          <a:xfrm>
            <a:off x="8247888" y="411480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TW" altLang="en-US" sz="1300" dirty="0">
                <a:solidFill>
                  <a:schemeClr val="tx2"/>
                </a:solidFill>
              </a:rPr>
              <a:t>只有這台瀏覽器有 AI，不花管理者的錢。</a:t>
            </a:r>
            <a:endParaRPr lang="zh-TW" sz="1300" dirty="0"/>
          </a:p>
        </p:txBody>
      </p:sp>
      <p:sp>
        <p:nvSpPr>
          <p:cNvPr id="34" name="Shape 29"/>
          <p:cNvSpPr/>
          <p:nvPr/>
        </p:nvSpPr>
        <p:spPr>
          <a:xfrm>
            <a:off x="548640" y="5102352"/>
            <a:ext cx="548640" cy="292608"/>
          </a:xfrm>
          <a:prstGeom prst="roundRect">
            <a:avLst>
              <a:gd name="adj" fmla="val 15625"/>
            </a:avLst>
          </a:prstGeom>
          <a:ln w="28575">
            <a:solidFill>
              <a:schemeClr val="accent3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1207008" y="510235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tx1"/>
                </a:solidFill>
              </a:rPr>
              <a:t>橘框＝要點或要填的地方</a:t>
            </a:r>
            <a:endParaRPr lang="zh-TW" sz="1200" dirty="0"/>
          </a:p>
        </p:txBody>
      </p:sp>
      <p:sp>
        <p:nvSpPr>
          <p:cNvPr id="36" name="Shape 31"/>
          <p:cNvSpPr/>
          <p:nvPr/>
        </p:nvSpPr>
        <p:spPr>
          <a:xfrm>
            <a:off x="3749040" y="5102352"/>
            <a:ext cx="548640" cy="292608"/>
          </a:xfrm>
          <a:prstGeom prst="roundRect">
            <a:avLst>
              <a:gd name="adj" fmla="val 15625"/>
            </a:avLst>
          </a:prstGeom>
          <a:solidFill>
            <a:schemeClr val="accent4"/>
          </a:solidFill>
          <a:ln w="9525">
            <a:solidFill>
              <a:srgbClr val="E6CF7A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4407408" y="5102352"/>
            <a:ext cx="7223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tx1"/>
                </a:solidFill>
              </a:rPr>
              <a:t>黃底＝要填的內容：標「貼上」的照原樣貼，標「</a:t>
            </a:r>
            <a:pPr indent="0" marL="0">
              <a:buNone/>
            </a:pPr>
            <a:r>
              <a:rPr lang="zh-TW" altLang="en-US" sz="1200" b="1" dirty="0">
                <a:solidFill>
                  <a:schemeClr val="accent3"/>
                </a:solidFill>
              </a:rPr>
              <a:t>換成你的</a:t>
            </a:r>
            <a:pPr indent="0" marL="0">
              <a:buNone/>
            </a:pPr>
            <a:r>
              <a:rPr lang="zh-TW" altLang="en-US" sz="1200" dirty="0">
                <a:solidFill>
                  <a:schemeClr val="tx1"/>
                </a:solidFill>
              </a:rPr>
              <a:t>」的是範例，改成自己的值</a:t>
            </a:r>
            <a:endParaRPr lang="zh-TW" sz="1200" dirty="0"/>
          </a:p>
        </p:txBody>
      </p:sp>
      <p:sp>
        <p:nvSpPr>
          <p:cNvPr id="38" name="tag-real"/>
          <p:cNvSpPr/>
          <p:nvPr/>
        </p:nvSpPr>
        <p:spPr>
          <a:xfrm>
            <a:off x="548640" y="5550408"/>
            <a:ext cx="868680" cy="25603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548640" y="555040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chemeClr val="bg1"/>
                </a:solidFill>
              </a:rPr>
              <a:t>實際畫面</a:t>
            </a:r>
            <a:endParaRPr lang="zh-TW" sz="1000" dirty="0"/>
          </a:p>
        </p:txBody>
      </p:sp>
      <p:sp>
        <p:nvSpPr>
          <p:cNvPr id="40" name="Text 35"/>
          <p:cNvSpPr txBox="1"/>
          <p:nvPr/>
        </p:nvSpPr>
        <p:spPr>
          <a:xfrm>
            <a:off x="1508760" y="55321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tx1"/>
                </a:solidFill>
              </a:rPr>
              <a:t>論憶的截圖</a:t>
            </a:r>
            <a:endParaRPr lang="zh-TW" sz="1200" dirty="0"/>
          </a:p>
        </p:txBody>
      </p:sp>
      <p:sp>
        <p:nvSpPr>
          <p:cNvPr id="41" name="tag-mock"/>
          <p:cNvSpPr/>
          <p:nvPr/>
        </p:nvSpPr>
        <p:spPr>
          <a:xfrm>
            <a:off x="2514600" y="5550408"/>
            <a:ext cx="17830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2514600" y="555040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chemeClr val="accent3"/>
                </a:solidFill>
              </a:rPr>
              <a:t>示意圖・依官方文件整理</a:t>
            </a:r>
            <a:endParaRPr lang="zh-TW" sz="1000" dirty="0"/>
          </a:p>
        </p:txBody>
      </p:sp>
      <p:sp>
        <p:nvSpPr>
          <p:cNvPr id="43" name="Text 38"/>
          <p:cNvSpPr txBox="1"/>
          <p:nvPr/>
        </p:nvSpPr>
        <p:spPr>
          <a:xfrm>
            <a:off x="4434840" y="5495544"/>
            <a:ext cx="7208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00" dirty="0">
                <a:solidFill>
                  <a:schemeClr val="tx2"/>
                </a:solidFill>
              </a:rPr>
              <a:t>外部網站要登入才看得到，所以畫成示意圖。Google Cloud 可能是中文或英文介面，兩種名稱都列出；Claude Console、Vercel、AI Studio 是英文介面。</a:t>
            </a:r>
            <a:endParaRPr lang="zh-TW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2764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事前準備</a:t>
            </a:r>
            <a:endParaRPr lang="zh-TW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0350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開始前先準備好這些</a:t>
            </a:r>
            <a:endParaRPr lang="zh-TW" sz="2800" dirty="0"/>
          </a:p>
        </p:txBody>
      </p:sp>
      <p:sp>
        <p:nvSpPr>
          <p:cNvPr id="4" name="icon-LuMail-bg"/>
          <p:cNvSpPr/>
          <p:nvPr/>
        </p:nvSpPr>
        <p:spPr>
          <a:xfrm>
            <a:off x="548640" y="146304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con-LuMail" descr="LuM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294" y="1575694"/>
            <a:ext cx="286756" cy="2867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61872" y="1444752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一個 Google 帳號（建議個人 Gmail）</a:t>
            </a:r>
            <a:endParaRPr lang="zh-TW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261872" y="1773936"/>
            <a:ext cx="6126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用來建立 Google Cloud 專案。學校帳號可能被學校的管理員限制。</a:t>
            </a:r>
            <a:endParaRPr lang="zh-TW" sz="1250" dirty="0"/>
          </a:p>
        </p:txBody>
      </p:sp>
      <p:sp>
        <p:nvSpPr>
          <p:cNvPr id="8" name="icon-LuUsers-bg"/>
          <p:cNvSpPr/>
          <p:nvPr/>
        </p:nvSpPr>
        <p:spPr>
          <a:xfrm>
            <a:off x="548640" y="233172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con-LuUsers" descr="LuUs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294" y="2444374"/>
            <a:ext cx="286756" cy="28675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61872" y="2313432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要測試登入的人的 Gmail 名單</a:t>
            </a:r>
            <a:endParaRPr lang="zh-TW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1261872" y="2642616"/>
            <a:ext cx="6126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Google 登入在「測試中」時，只有名單上的人能登入，最多 100 人。</a:t>
            </a:r>
            <a:endParaRPr lang="zh-TW" sz="1250" dirty="0"/>
          </a:p>
        </p:txBody>
      </p:sp>
      <p:sp>
        <p:nvSpPr>
          <p:cNvPr id="12" name="icon-LuCreditCard-bg"/>
          <p:cNvSpPr/>
          <p:nvPr/>
        </p:nvSpPr>
        <p:spPr>
          <a:xfrm>
            <a:off x="548640" y="320040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con-LuCreditCard" descr="LuCreditCa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294" y="3313054"/>
            <a:ext cx="286756" cy="28675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261872" y="3182112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一張信用卡（做 B 才需要）</a:t>
            </a:r>
            <a:endParaRPr lang="zh-TW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1261872" y="3511296"/>
            <a:ext cx="6126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Claude API 要先儲值才能用，費用從你的帳號扣。Claude.ai 的 Pro 訂閱不能拿來用。</a:t>
            </a:r>
            <a:endParaRPr lang="zh-TW" sz="1250" dirty="0"/>
          </a:p>
        </p:txBody>
      </p:sp>
      <p:sp>
        <p:nvSpPr>
          <p:cNvPr id="16" name="icon-LuServer-bg"/>
          <p:cNvSpPr/>
          <p:nvPr/>
        </p:nvSpPr>
        <p:spPr>
          <a:xfrm>
            <a:off x="548640" y="406908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con-LuServer" descr="LuServ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294" y="4181734"/>
            <a:ext cx="286756" cy="28675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261872" y="4050792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能登入 Vercel 的 journal-article-memory-tool 專案</a:t>
            </a:r>
            <a:endParaRPr lang="zh-TW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1261872" y="4379976"/>
            <a:ext cx="6126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環境變數在 Vercel 設定；免費的 Hobby 方案就可以。</a:t>
            </a:r>
            <a:endParaRPr lang="zh-TW" sz="1250" dirty="0"/>
          </a:p>
        </p:txBody>
      </p:sp>
      <p:sp>
        <p:nvSpPr>
          <p:cNvPr id="20" name="icon-LuLockKeyhole-bg"/>
          <p:cNvSpPr/>
          <p:nvPr/>
        </p:nvSpPr>
        <p:spPr>
          <a:xfrm>
            <a:off x="548640" y="493776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icon-LuLockKeyhole" descr="LuLockKeyhol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294" y="5050414"/>
            <a:ext cx="286756" cy="286756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261872" y="4919472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自己訂一組「網站存取碼」</a:t>
            </a:r>
            <a:endParaRPr lang="zh-TW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1261872" y="5248656"/>
            <a:ext cx="6126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例如 lunyi-2026。只能用半形英文字母、數字和符號（不要用中文或空白）。只發給使用者，避免陌生人用掉你的 AI 額度。</a:t>
            </a:r>
            <a:endParaRPr lang="zh-TW" sz="1250" dirty="0"/>
          </a:p>
        </p:txBody>
      </p:sp>
      <p:sp>
        <p:nvSpPr>
          <p:cNvPr id="24" name="secret-card"/>
          <p:cNvSpPr/>
          <p:nvPr/>
        </p:nvSpPr>
        <p:spPr>
          <a:xfrm>
            <a:off x="7635240" y="1463040"/>
            <a:ext cx="4007815" cy="4160520"/>
          </a:xfrm>
          <a:prstGeom prst="roundRect">
            <a:avLst>
              <a:gd name="adj" fmla="val 1825"/>
            </a:avLst>
          </a:prstGeom>
          <a:solidFill>
            <a:schemeClr val="tx1"/>
          </a:solidFill>
          <a:ln/>
        </p:spPr>
      </p:sp>
      <p:sp>
        <p:nvSpPr>
          <p:cNvPr id="25" name="Text 18"/>
          <p:cNvSpPr txBox="1"/>
          <p:nvPr/>
        </p:nvSpPr>
        <p:spPr>
          <a:xfrm>
            <a:off x="7909560" y="1691640"/>
            <a:ext cx="34591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700" b="1" dirty="0">
                <a:solidFill>
                  <a:schemeClr val="bg1"/>
                </a:solidFill>
              </a:rPr>
              <a:t>這兩樣絕對不要給別人</a:t>
            </a:r>
            <a:endParaRPr lang="zh-TW" sz="1700" dirty="0"/>
          </a:p>
        </p:txBody>
      </p:sp>
      <p:sp>
        <p:nvSpPr>
          <p:cNvPr id="26" name="Text 19"/>
          <p:cNvSpPr txBox="1"/>
          <p:nvPr/>
        </p:nvSpPr>
        <p:spPr>
          <a:xfrm>
            <a:off x="7909560" y="2148840"/>
            <a:ext cx="345917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TW" altLang="en-US" sz="1300" b="1" dirty="0">
                <a:solidFill>
                  <a:schemeClr val="bg1"/>
                </a:solidFill>
              </a:rPr>
              <a:t>Google 的「用戶端密鑰」（client secret）</a:t>
            </a:r>
            <a:endParaRPr lang="zh-TW" sz="1300" dirty="0"/>
          </a:p>
          <a:p>
            <a:pPr indent="0" marL="0">
              <a:lnSpc>
                <a:spcPct val="115000"/>
              </a:lnSpc>
              <a:buNone/>
            </a:pPr>
            <a:r>
              <a:rPr lang="zh-TW" altLang="en-US" sz="1300" dirty="0">
                <a:solidFill>
                  <a:schemeClr val="bg1"/>
                </a:solidFill>
              </a:rPr>
              <a:t>這個網站用不到，建立後也不用下載。</a:t>
            </a:r>
            <a:endParaRPr lang="zh-TW" sz="1300" dirty="0"/>
          </a:p>
          <a:p>
            <a:pPr indent="0" marL="0">
              <a:lnSpc>
                <a:spcPct val="115000"/>
              </a:lnSpc>
              <a:buNone/>
            </a:pPr>
            <a:r>
              <a:rPr lang="zh-TW" altLang="en-US" sz="1300" dirty="0">
                <a:solidFill>
                  <a:schemeClr val="bg1"/>
                </a:solidFill>
              </a:rPr>
              <a:t> </a:t>
            </a:r>
            <a:endParaRPr lang="zh-TW" sz="1300" dirty="0"/>
          </a:p>
          <a:p>
            <a:pPr indent="0" marL="0">
              <a:lnSpc>
                <a:spcPct val="115000"/>
              </a:lnSpc>
              <a:buNone/>
            </a:pPr>
            <a:r>
              <a:rPr lang="zh-TW" altLang="en-US" sz="1300" b="1" dirty="0">
                <a:solidFill>
                  <a:schemeClr val="bg1"/>
                </a:solidFill>
              </a:rPr>
              <a:t>Anthropic 金鑰（sk-ant- 開頭）</a:t>
            </a:r>
            <a:endParaRPr lang="zh-TW" sz="1300" dirty="0"/>
          </a:p>
          <a:p>
            <a:pPr indent="0" marL="0">
              <a:lnSpc>
                <a:spcPct val="115000"/>
              </a:lnSpc>
              <a:buNone/>
            </a:pPr>
            <a:r>
              <a:rPr lang="zh-TW" altLang="en-US" sz="1300" dirty="0">
                <a:solidFill>
                  <a:schemeClr val="bg1"/>
                </a:solidFill>
              </a:rPr>
              <a:t>只貼進 Vercel，不要貼進程式、GitHub、聊天訊息或投影片。</a:t>
            </a:r>
            <a:endParaRPr lang="zh-TW" sz="1300" dirty="0"/>
          </a:p>
          <a:p>
            <a:pPr indent="0" marL="0">
              <a:lnSpc>
                <a:spcPct val="115000"/>
              </a:lnSpc>
              <a:buNone/>
            </a:pPr>
            <a:r>
              <a:rPr lang="zh-TW" altLang="en-US" sz="1300" dirty="0">
                <a:solidFill>
                  <a:schemeClr val="bg1"/>
                </a:solidFill>
              </a:rPr>
              <a:t> </a:t>
            </a:r>
            <a:endParaRPr lang="zh-TW" sz="1300" dirty="0"/>
          </a:p>
          <a:p>
            <a:pPr indent="0" marL="0">
              <a:lnSpc>
                <a:spcPct val="115000"/>
              </a:lnSpc>
              <a:buNone/>
            </a:pPr>
            <a:r>
              <a:rPr lang="zh-TW" altLang="en-US" sz="1300" b="1" dirty="0">
                <a:solidFill>
                  <a:schemeClr val="bg1"/>
                </a:solidFill>
              </a:rPr>
              <a:t>可以公開的</a:t>
            </a:r>
            <a:endParaRPr lang="zh-TW" sz="1300" dirty="0"/>
          </a:p>
          <a:p>
            <a:pPr indent="0" marL="0">
              <a:lnSpc>
                <a:spcPct val="115000"/>
              </a:lnSpc>
              <a:buNone/>
            </a:pPr>
            <a:r>
              <a:rPr lang="zh-TW" altLang="en-US" sz="1300" dirty="0">
                <a:solidFill>
                  <a:schemeClr val="bg1"/>
                </a:solidFill>
              </a:rPr>
              <a:t>Google 用戶端 ID（….apps.googleusercontent.com 結尾）本來就會出現在網頁裡，可以交給 Claude 寫進程式。</a:t>
            </a:r>
            <a:endParaRPr lang="zh-TW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2764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A1　Google Cloud</a:t>
            </a:r>
            <a:endParaRPr lang="zh-TW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0350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建立 Google Cloud 專案，並啟用兩個 API</a:t>
            </a:r>
            <a:endParaRPr lang="zh-TW" sz="2800" dirty="0"/>
          </a:p>
        </p:txBody>
      </p:sp>
      <p:sp>
        <p:nvSpPr>
          <p:cNvPr id="4" name="mock-window"/>
          <p:cNvSpPr/>
          <p:nvPr/>
        </p:nvSpPr>
        <p:spPr>
          <a:xfrm>
            <a:off x="548640" y="1463040"/>
            <a:ext cx="658368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2700">
            <a:solidFill>
              <a:srgbClr val="C9C3B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mock-bar"/>
          <p:cNvSpPr/>
          <p:nvPr/>
        </p:nvSpPr>
        <p:spPr>
          <a:xfrm>
            <a:off x="557784" y="1472184"/>
            <a:ext cx="65653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" name="Shape 4"/>
          <p:cNvSpPr/>
          <p:nvPr/>
        </p:nvSpPr>
        <p:spPr>
          <a:xfrm>
            <a:off x="694944" y="1600200"/>
            <a:ext cx="109728" cy="109728"/>
          </a:xfrm>
          <a:prstGeom prst="ellipse">
            <a:avLst/>
          </a:prstGeom>
          <a:solidFill>
            <a:srgbClr val="E0685A"/>
          </a:solidFill>
          <a:ln/>
        </p:spPr>
      </p:sp>
      <p:sp>
        <p:nvSpPr>
          <p:cNvPr id="7" name="Shape 5"/>
          <p:cNvSpPr/>
          <p:nvPr/>
        </p:nvSpPr>
        <p:spPr>
          <a:xfrm>
            <a:off x="877824" y="1600200"/>
            <a:ext cx="109728" cy="109728"/>
          </a:xfrm>
          <a:prstGeom prst="ellipse">
            <a:avLst/>
          </a:prstGeom>
          <a:solidFill>
            <a:srgbClr val="E8B44C"/>
          </a:solidFill>
          <a:ln/>
        </p:spPr>
      </p:sp>
      <p:sp>
        <p:nvSpPr>
          <p:cNvPr id="8" name="Shape 6"/>
          <p:cNvSpPr/>
          <p:nvPr/>
        </p:nvSpPr>
        <p:spPr>
          <a:xfrm>
            <a:off x="1060704" y="1600200"/>
            <a:ext cx="109728" cy="109728"/>
          </a:xfrm>
          <a:prstGeom prst="ellipse">
            <a:avLst/>
          </a:prstGeom>
          <a:solidFill>
            <a:srgbClr val="6BB86B"/>
          </a:solidFill>
          <a:ln/>
        </p:spPr>
      </p:sp>
      <p:sp>
        <p:nvSpPr>
          <p:cNvPr id="9" name="Shape 7"/>
          <p:cNvSpPr/>
          <p:nvPr/>
        </p:nvSpPr>
        <p:spPr>
          <a:xfrm>
            <a:off x="1280160" y="1536192"/>
            <a:ext cx="5669280" cy="246888"/>
          </a:xfrm>
          <a:prstGeom prst="roundRect">
            <a:avLst>
              <a:gd name="adj" fmla="val 48148"/>
            </a:avLst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417320" y="153619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console.cloud.google.com/apis/library</a:t>
            </a:r>
            <a:endParaRPr lang="zh-TW" sz="1000" dirty="0"/>
          </a:p>
        </p:txBody>
      </p:sp>
      <p:sp>
        <p:nvSpPr>
          <p:cNvPr id="11" name="Shape 9"/>
          <p:cNvSpPr/>
          <p:nvPr/>
        </p:nvSpPr>
        <p:spPr>
          <a:xfrm>
            <a:off x="557784" y="1856232"/>
            <a:ext cx="1783080" cy="4078224"/>
          </a:xfrm>
          <a:prstGeom prst="rect">
            <a:avLst/>
          </a:prstGeom>
          <a:solidFill>
            <a:srgbClr val="F7F6F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13232" y="1984248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IAM 與管理</a:t>
            </a:r>
            <a:endParaRPr lang="zh-TW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2331720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API 和服務</a:t>
            </a:r>
            <a:endParaRPr lang="zh-TW" sz="1000" dirty="0"/>
          </a:p>
        </p:txBody>
      </p:sp>
      <p:sp>
        <p:nvSpPr>
          <p:cNvPr id="14" name="Shape 12"/>
          <p:cNvSpPr/>
          <p:nvPr/>
        </p:nvSpPr>
        <p:spPr>
          <a:xfrm>
            <a:off x="640080" y="2679192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E4F0F0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13232" y="2679192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accent1"/>
                </a:solidFill>
              </a:rPr>
              <a:t>　程式庫 Library</a:t>
            </a:r>
            <a:endParaRPr lang="zh-TW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713232" y="3026664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　憑證</a:t>
            </a:r>
            <a:endParaRPr lang="zh-TW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" y="3374136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Google Auth Platform</a:t>
            </a:r>
            <a:endParaRPr lang="zh-TW" sz="1000" dirty="0"/>
          </a:p>
        </p:txBody>
      </p:sp>
      <p:sp>
        <p:nvSpPr>
          <p:cNvPr id="18" name="tag-mock"/>
          <p:cNvSpPr/>
          <p:nvPr/>
        </p:nvSpPr>
        <p:spPr>
          <a:xfrm>
            <a:off x="5212080" y="5559552"/>
            <a:ext cx="17830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12080" y="555955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chemeClr val="accent3"/>
                </a:solidFill>
              </a:rPr>
              <a:t>示意圖・依官方文件整理</a:t>
            </a:r>
            <a:endParaRPr lang="zh-TW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2560320" y="2011680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API 程式庫（Library）</a:t>
            </a:r>
            <a:endParaRPr lang="zh-TW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2560320" y="241401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tx1"/>
                </a:solidFill>
              </a:rPr>
              <a:t>搜尋 API 和服務</a:t>
            </a:r>
            <a:endParaRPr lang="zh-TW" sz="1000" dirty="0"/>
          </a:p>
        </p:txBody>
      </p:sp>
      <p:sp>
        <p:nvSpPr>
          <p:cNvPr id="22" name="Shape 20"/>
          <p:cNvSpPr/>
          <p:nvPr/>
        </p:nvSpPr>
        <p:spPr>
          <a:xfrm>
            <a:off x="2560320" y="2633472"/>
            <a:ext cx="3840480" cy="310896"/>
          </a:xfrm>
          <a:prstGeom prst="roundRect">
            <a:avLst>
              <a:gd name="adj" fmla="val 11765"/>
            </a:avLst>
          </a:prstGeom>
          <a:solidFill>
            <a:schemeClr val="accent4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651760" y="263347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Google Drive API</a:t>
            </a:r>
            <a:endParaRPr lang="zh-TW" sz="1050" dirty="0"/>
          </a:p>
        </p:txBody>
      </p:sp>
      <p:sp>
        <p:nvSpPr>
          <p:cNvPr id="24" name="marker-2"/>
          <p:cNvSpPr/>
          <p:nvPr/>
        </p:nvSpPr>
        <p:spPr>
          <a:xfrm>
            <a:off x="6455664" y="2651760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marker-2-text"/>
          <p:cNvSpPr txBox="1"/>
          <p:nvPr/>
        </p:nvSpPr>
        <p:spPr>
          <a:xfrm>
            <a:off x="6455664" y="2651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2560320" y="3054096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2"/>
                </a:solidFill>
              </a:rPr>
              <a:t>Google Drive API</a:t>
            </a:r>
            <a:endParaRPr lang="zh-TW" sz="1000" dirty="0"/>
          </a:p>
          <a:p>
            <a:pPr indent="0" marL="0">
              <a:buNone/>
            </a:pPr>
            <a:r>
              <a:rPr lang="zh-TW" altLang="en-US" sz="1000" dirty="0">
                <a:solidFill>
                  <a:schemeClr val="tx2"/>
                </a:solidFill>
              </a:rPr>
              <a:t>Google Workspace</a:t>
            </a:r>
            <a:endParaRPr lang="zh-TW" sz="1000" dirty="0"/>
          </a:p>
        </p:txBody>
      </p:sp>
      <p:sp>
        <p:nvSpPr>
          <p:cNvPr id="27" name="Shape 25"/>
          <p:cNvSpPr/>
          <p:nvPr/>
        </p:nvSpPr>
        <p:spPr>
          <a:xfrm>
            <a:off x="2560320" y="3547872"/>
            <a:ext cx="137160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 w="28575">
            <a:solidFill>
              <a:schemeClr val="accent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560320" y="354787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chemeClr val="bg1"/>
                </a:solidFill>
              </a:rPr>
              <a:t>啟用 Enable</a:t>
            </a:r>
            <a:endParaRPr lang="zh-TW" sz="1050" dirty="0"/>
          </a:p>
        </p:txBody>
      </p:sp>
      <p:sp>
        <p:nvSpPr>
          <p:cNvPr id="29" name="marker-2"/>
          <p:cNvSpPr/>
          <p:nvPr/>
        </p:nvSpPr>
        <p:spPr>
          <a:xfrm>
            <a:off x="3986784" y="3566160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marker-2-text"/>
          <p:cNvSpPr txBox="1"/>
          <p:nvPr/>
        </p:nvSpPr>
        <p:spPr>
          <a:xfrm>
            <a:off x="3986784" y="3566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2560320" y="4050792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tx1"/>
                </a:solidFill>
              </a:rPr>
              <a:t>再搜尋一次</a:t>
            </a:r>
            <a:endParaRPr lang="zh-TW" sz="1000" dirty="0"/>
          </a:p>
        </p:txBody>
      </p:sp>
      <p:sp>
        <p:nvSpPr>
          <p:cNvPr id="32" name="Shape 30"/>
          <p:cNvSpPr/>
          <p:nvPr/>
        </p:nvSpPr>
        <p:spPr>
          <a:xfrm>
            <a:off x="2560320" y="4270248"/>
            <a:ext cx="3840480" cy="310896"/>
          </a:xfrm>
          <a:prstGeom prst="roundRect">
            <a:avLst>
              <a:gd name="adj" fmla="val 11765"/>
            </a:avLst>
          </a:prstGeom>
          <a:solidFill>
            <a:schemeClr val="accent4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51760" y="427024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Google Calendar API</a:t>
            </a:r>
            <a:endParaRPr lang="zh-TW" sz="1050" dirty="0"/>
          </a:p>
        </p:txBody>
      </p:sp>
      <p:sp>
        <p:nvSpPr>
          <p:cNvPr id="34" name="marker-3"/>
          <p:cNvSpPr/>
          <p:nvPr/>
        </p:nvSpPr>
        <p:spPr>
          <a:xfrm>
            <a:off x="6455664" y="4288536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marker-3-text"/>
          <p:cNvSpPr txBox="1"/>
          <p:nvPr/>
        </p:nvSpPr>
        <p:spPr>
          <a:xfrm>
            <a:off x="6455664" y="4288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36" name="Shape 34"/>
          <p:cNvSpPr/>
          <p:nvPr/>
        </p:nvSpPr>
        <p:spPr>
          <a:xfrm>
            <a:off x="2560320" y="4690872"/>
            <a:ext cx="137160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 w="28575">
            <a:solidFill>
              <a:schemeClr val="accent3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560320" y="469087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chemeClr val="bg1"/>
                </a:solidFill>
              </a:rPr>
              <a:t>啟用 Enable</a:t>
            </a:r>
            <a:endParaRPr lang="zh-TW" sz="1050" dirty="0"/>
          </a:p>
        </p:txBody>
      </p:sp>
      <p:sp>
        <p:nvSpPr>
          <p:cNvPr id="38" name="marker-3"/>
          <p:cNvSpPr/>
          <p:nvPr/>
        </p:nvSpPr>
        <p:spPr>
          <a:xfrm>
            <a:off x="3986784" y="4709160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marker-3-text"/>
          <p:cNvSpPr txBox="1"/>
          <p:nvPr/>
        </p:nvSpPr>
        <p:spPr>
          <a:xfrm>
            <a:off x="3986784" y="4709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40" name="marker-1"/>
          <p:cNvSpPr/>
          <p:nvPr/>
        </p:nvSpPr>
        <p:spPr>
          <a:xfrm>
            <a:off x="7452360" y="147218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1" name="marker-1-text"/>
          <p:cNvSpPr txBox="1"/>
          <p:nvPr/>
        </p:nvSpPr>
        <p:spPr>
          <a:xfrm>
            <a:off x="7452360" y="14721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7854696" y="1463040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建立專案</a:t>
            </a:r>
            <a:endParaRPr lang="zh-TW" sz="1450" dirty="0"/>
          </a:p>
        </p:txBody>
      </p:sp>
      <p:sp>
        <p:nvSpPr>
          <p:cNvPr id="43" name="Text 41"/>
          <p:cNvSpPr txBox="1"/>
          <p:nvPr/>
        </p:nvSpPr>
        <p:spPr>
          <a:xfrm>
            <a:off x="7854696" y="1779270"/>
            <a:ext cx="3788359" cy="1694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到 console.cloud.google.com，選單 →「IAM 與管理」→「建立專案」（Create a Project）。名稱填「論憶」，位置選「無機構」（No organization），按「建立」。找不到時，按最上方的專案選單 →「新增專案」（New project）；位置也可能叫「上層資源」（Parent resource）。第一次進來先同意服務條款；不用開「免費試用」，這部分不需要信用卡。</a:t>
            </a:r>
            <a:endParaRPr lang="zh-TW" sz="1250" dirty="0"/>
          </a:p>
        </p:txBody>
      </p:sp>
      <p:sp>
        <p:nvSpPr>
          <p:cNvPr id="44" name="marker-2"/>
          <p:cNvSpPr/>
          <p:nvPr/>
        </p:nvSpPr>
        <p:spPr>
          <a:xfrm>
            <a:off x="7452360" y="3702558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5" name="marker-2-text"/>
          <p:cNvSpPr txBox="1"/>
          <p:nvPr/>
        </p:nvSpPr>
        <p:spPr>
          <a:xfrm>
            <a:off x="7452360" y="370255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7854696" y="3693414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啟用 Google Drive API</a:t>
            </a:r>
            <a:endParaRPr lang="zh-TW" sz="1450" dirty="0"/>
          </a:p>
        </p:txBody>
      </p:sp>
      <p:sp>
        <p:nvSpPr>
          <p:cNvPr id="47" name="Text 45"/>
          <p:cNvSpPr txBox="1"/>
          <p:nvPr/>
        </p:nvSpPr>
        <p:spPr>
          <a:xfrm>
            <a:off x="7854696" y="4009644"/>
            <a:ext cx="3788359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選單 →「API 和服務」→「程式庫」，搜尋並點進去，按「啟用」（Enable）。</a:t>
            </a:r>
            <a:endParaRPr lang="zh-TW" sz="1250" dirty="0"/>
          </a:p>
        </p:txBody>
      </p:sp>
      <p:sp>
        <p:nvSpPr>
          <p:cNvPr id="48" name="paste"/>
          <p:cNvSpPr/>
          <p:nvPr/>
        </p:nvSpPr>
        <p:spPr>
          <a:xfrm>
            <a:off x="7854696" y="4483608"/>
            <a:ext cx="3788359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 w="9525">
            <a:solidFill>
              <a:srgbClr val="E6CF7A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946136" y="4483608"/>
            <a:ext cx="3184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Google Drive API</a:t>
            </a:r>
            <a:endParaRPr lang="zh-TW" sz="1150" dirty="0"/>
          </a:p>
        </p:txBody>
      </p:sp>
      <p:sp>
        <p:nvSpPr>
          <p:cNvPr id="50" name="Text 48"/>
          <p:cNvSpPr txBox="1"/>
          <p:nvPr/>
        </p:nvSpPr>
        <p:spPr>
          <a:xfrm>
            <a:off x="11167567" y="4483608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50" b="1" dirty="0">
                <a:solidFill>
                  <a:schemeClr val="tx2"/>
                </a:solidFill>
              </a:rPr>
              <a:t>貼上</a:t>
            </a:r>
            <a:endParaRPr lang="zh-TW" sz="950" dirty="0"/>
          </a:p>
        </p:txBody>
      </p:sp>
      <p:sp>
        <p:nvSpPr>
          <p:cNvPr id="51" name="marker-3"/>
          <p:cNvSpPr/>
          <p:nvPr/>
        </p:nvSpPr>
        <p:spPr>
          <a:xfrm>
            <a:off x="7452360" y="5041392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marker-3-text"/>
          <p:cNvSpPr txBox="1"/>
          <p:nvPr/>
        </p:nvSpPr>
        <p:spPr>
          <a:xfrm>
            <a:off x="7452360" y="50413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7854696" y="5032248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啟用 Google Calendar API</a:t>
            </a:r>
            <a:endParaRPr lang="zh-TW" sz="1450" dirty="0"/>
          </a:p>
        </p:txBody>
      </p:sp>
      <p:sp>
        <p:nvSpPr>
          <p:cNvPr id="54" name="Text 52"/>
          <p:cNvSpPr txBox="1"/>
          <p:nvPr/>
        </p:nvSpPr>
        <p:spPr>
          <a:xfrm>
            <a:off x="7854696" y="5348478"/>
            <a:ext cx="3788359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用同樣的方法再啟用一次。</a:t>
            </a:r>
            <a:endParaRPr lang="zh-TW" sz="1250" dirty="0"/>
          </a:p>
        </p:txBody>
      </p:sp>
      <p:sp>
        <p:nvSpPr>
          <p:cNvPr id="55" name="paste"/>
          <p:cNvSpPr/>
          <p:nvPr/>
        </p:nvSpPr>
        <p:spPr>
          <a:xfrm>
            <a:off x="7854696" y="5612892"/>
            <a:ext cx="3788359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 w="9525">
            <a:solidFill>
              <a:srgbClr val="E6CF7A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946136" y="5612892"/>
            <a:ext cx="3184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Google Calendar API</a:t>
            </a:r>
            <a:endParaRPr lang="zh-TW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11167567" y="5612892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50" b="1" dirty="0">
                <a:solidFill>
                  <a:schemeClr val="tx2"/>
                </a:solidFill>
              </a:rPr>
              <a:t>貼上</a:t>
            </a:r>
            <a:endParaRPr lang="zh-TW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2764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A2　Google Auth Platform</a:t>
            </a:r>
            <a:endParaRPr lang="zh-TW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0350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設定應用程式資訊、目標對象與聯絡資訊</a:t>
            </a:r>
            <a:endParaRPr lang="zh-TW" sz="2800" dirty="0"/>
          </a:p>
        </p:txBody>
      </p:sp>
      <p:sp>
        <p:nvSpPr>
          <p:cNvPr id="4" name="mock-window"/>
          <p:cNvSpPr/>
          <p:nvPr/>
        </p:nvSpPr>
        <p:spPr>
          <a:xfrm>
            <a:off x="548640" y="1463040"/>
            <a:ext cx="658368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2700">
            <a:solidFill>
              <a:srgbClr val="C9C3B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mock-bar"/>
          <p:cNvSpPr/>
          <p:nvPr/>
        </p:nvSpPr>
        <p:spPr>
          <a:xfrm>
            <a:off x="557784" y="1472184"/>
            <a:ext cx="65653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" name="Shape 4"/>
          <p:cNvSpPr/>
          <p:nvPr/>
        </p:nvSpPr>
        <p:spPr>
          <a:xfrm>
            <a:off x="694944" y="1600200"/>
            <a:ext cx="109728" cy="109728"/>
          </a:xfrm>
          <a:prstGeom prst="ellipse">
            <a:avLst/>
          </a:prstGeom>
          <a:solidFill>
            <a:srgbClr val="E0685A"/>
          </a:solidFill>
          <a:ln/>
        </p:spPr>
      </p:sp>
      <p:sp>
        <p:nvSpPr>
          <p:cNvPr id="7" name="Shape 5"/>
          <p:cNvSpPr/>
          <p:nvPr/>
        </p:nvSpPr>
        <p:spPr>
          <a:xfrm>
            <a:off x="877824" y="1600200"/>
            <a:ext cx="109728" cy="109728"/>
          </a:xfrm>
          <a:prstGeom prst="ellipse">
            <a:avLst/>
          </a:prstGeom>
          <a:solidFill>
            <a:srgbClr val="E8B44C"/>
          </a:solidFill>
          <a:ln/>
        </p:spPr>
      </p:sp>
      <p:sp>
        <p:nvSpPr>
          <p:cNvPr id="8" name="Shape 6"/>
          <p:cNvSpPr/>
          <p:nvPr/>
        </p:nvSpPr>
        <p:spPr>
          <a:xfrm>
            <a:off x="1060704" y="1600200"/>
            <a:ext cx="109728" cy="109728"/>
          </a:xfrm>
          <a:prstGeom prst="ellipse">
            <a:avLst/>
          </a:prstGeom>
          <a:solidFill>
            <a:srgbClr val="6BB86B"/>
          </a:solidFill>
          <a:ln/>
        </p:spPr>
      </p:sp>
      <p:sp>
        <p:nvSpPr>
          <p:cNvPr id="9" name="Shape 7"/>
          <p:cNvSpPr/>
          <p:nvPr/>
        </p:nvSpPr>
        <p:spPr>
          <a:xfrm>
            <a:off x="1280160" y="1536192"/>
            <a:ext cx="5669280" cy="246888"/>
          </a:xfrm>
          <a:prstGeom prst="roundRect">
            <a:avLst>
              <a:gd name="adj" fmla="val 48148"/>
            </a:avLst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417320" y="153619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console.cloud.google.com/auth/overview</a:t>
            </a:r>
            <a:endParaRPr lang="zh-TW" sz="1000" dirty="0"/>
          </a:p>
        </p:txBody>
      </p:sp>
      <p:sp>
        <p:nvSpPr>
          <p:cNvPr id="11" name="Shape 9"/>
          <p:cNvSpPr/>
          <p:nvPr/>
        </p:nvSpPr>
        <p:spPr>
          <a:xfrm>
            <a:off x="557784" y="1856232"/>
            <a:ext cx="1783080" cy="4078224"/>
          </a:xfrm>
          <a:prstGeom prst="rect">
            <a:avLst/>
          </a:prstGeom>
          <a:solidFill>
            <a:srgbClr val="F7F6F3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1984248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E4F0F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13232" y="1984248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accent1"/>
                </a:solidFill>
              </a:rPr>
              <a:t>總覽 Overview</a:t>
            </a:r>
            <a:endParaRPr lang="zh-TW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2331720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品牌 Branding</a:t>
            </a:r>
            <a:endParaRPr lang="zh-TW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713232" y="2679192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目標對象 Audience</a:t>
            </a:r>
            <a:endParaRPr lang="zh-TW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713232" y="3026664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用戶端 Clients</a:t>
            </a:r>
            <a:endParaRPr lang="zh-TW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" y="3374136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資料存取 Data Access</a:t>
            </a:r>
            <a:endParaRPr lang="zh-TW" sz="1000" dirty="0"/>
          </a:p>
        </p:txBody>
      </p:sp>
      <p:sp>
        <p:nvSpPr>
          <p:cNvPr id="18" name="tag-mock"/>
          <p:cNvSpPr/>
          <p:nvPr/>
        </p:nvSpPr>
        <p:spPr>
          <a:xfrm>
            <a:off x="5212080" y="5559552"/>
            <a:ext cx="17830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12080" y="555955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chemeClr val="accent3"/>
                </a:solidFill>
              </a:rPr>
              <a:t>示意圖・依官方文件整理</a:t>
            </a:r>
            <a:endParaRPr lang="zh-TW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2560320" y="2011680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開始使用（Get started）</a:t>
            </a:r>
            <a:endParaRPr lang="zh-TW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2560320" y="241401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tx1"/>
                </a:solidFill>
              </a:rPr>
              <a:t>應用程式名稱 App name</a:t>
            </a:r>
            <a:endParaRPr lang="zh-TW" sz="1000" dirty="0"/>
          </a:p>
        </p:txBody>
      </p:sp>
      <p:sp>
        <p:nvSpPr>
          <p:cNvPr id="22" name="Shape 20"/>
          <p:cNvSpPr/>
          <p:nvPr/>
        </p:nvSpPr>
        <p:spPr>
          <a:xfrm>
            <a:off x="2560320" y="2633472"/>
            <a:ext cx="3840480" cy="310896"/>
          </a:xfrm>
          <a:prstGeom prst="roundRect">
            <a:avLst>
              <a:gd name="adj" fmla="val 11765"/>
            </a:avLst>
          </a:prstGeom>
          <a:solidFill>
            <a:schemeClr val="accent4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651760" y="263347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</a:rPr>
              <a:t>論憶</a:t>
            </a:r>
            <a:endParaRPr lang="zh-TW" sz="1050" dirty="0"/>
          </a:p>
        </p:txBody>
      </p:sp>
      <p:sp>
        <p:nvSpPr>
          <p:cNvPr id="24" name="marker-2"/>
          <p:cNvSpPr/>
          <p:nvPr/>
        </p:nvSpPr>
        <p:spPr>
          <a:xfrm>
            <a:off x="6455664" y="2651760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marker-2-text"/>
          <p:cNvSpPr txBox="1"/>
          <p:nvPr/>
        </p:nvSpPr>
        <p:spPr>
          <a:xfrm>
            <a:off x="6455664" y="2651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2560320" y="3054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tx1"/>
                </a:solidFill>
              </a:rPr>
              <a:t>使用者支援電子郵件 User support email</a:t>
            </a:r>
            <a:endParaRPr lang="zh-TW" sz="1000" dirty="0"/>
          </a:p>
        </p:txBody>
      </p:sp>
      <p:sp>
        <p:nvSpPr>
          <p:cNvPr id="27" name="Shape 25"/>
          <p:cNvSpPr/>
          <p:nvPr/>
        </p:nvSpPr>
        <p:spPr>
          <a:xfrm>
            <a:off x="2560320" y="3273552"/>
            <a:ext cx="3840480" cy="310896"/>
          </a:xfrm>
          <a:prstGeom prst="roundRect">
            <a:avLst>
              <a:gd name="adj" fmla="val 11765"/>
            </a:avLst>
          </a:prstGeom>
          <a:solidFill>
            <a:schemeClr val="accent4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651760" y="327355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</a:rPr>
              <a:t>你的 Gmail（從下拉選單選）</a:t>
            </a:r>
            <a:endParaRPr lang="zh-TW" sz="1050" dirty="0"/>
          </a:p>
        </p:txBody>
      </p:sp>
      <p:sp>
        <p:nvSpPr>
          <p:cNvPr id="29" name="marker-2"/>
          <p:cNvSpPr/>
          <p:nvPr/>
        </p:nvSpPr>
        <p:spPr>
          <a:xfrm>
            <a:off x="6455664" y="3291840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marker-2-text"/>
          <p:cNvSpPr txBox="1"/>
          <p:nvPr/>
        </p:nvSpPr>
        <p:spPr>
          <a:xfrm>
            <a:off x="6455664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2560320" y="369417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tx1"/>
                </a:solidFill>
              </a:rPr>
              <a:t>目標對象 Audience</a:t>
            </a:r>
            <a:endParaRPr lang="zh-TW" sz="1000" dirty="0"/>
          </a:p>
        </p:txBody>
      </p:sp>
      <p:sp>
        <p:nvSpPr>
          <p:cNvPr id="32" name="Shape 30"/>
          <p:cNvSpPr/>
          <p:nvPr/>
        </p:nvSpPr>
        <p:spPr>
          <a:xfrm>
            <a:off x="2560320" y="4005072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A19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798064" y="39502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</a:rPr>
              <a:t>內部 Internal</a:t>
            </a:r>
            <a:endParaRPr lang="zh-TW" sz="1050" dirty="0"/>
          </a:p>
        </p:txBody>
      </p:sp>
      <p:sp>
        <p:nvSpPr>
          <p:cNvPr id="34" name="Shape 32"/>
          <p:cNvSpPr/>
          <p:nvPr/>
        </p:nvSpPr>
        <p:spPr>
          <a:xfrm>
            <a:off x="4297680" y="4005072"/>
            <a:ext cx="164592" cy="16459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535424" y="39502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b="1" dirty="0">
                <a:solidFill>
                  <a:schemeClr val="tx1"/>
                </a:solidFill>
              </a:rPr>
              <a:t>外部 External</a:t>
            </a:r>
            <a:endParaRPr lang="zh-TW" sz="1050" dirty="0"/>
          </a:p>
        </p:txBody>
      </p:sp>
      <p:sp>
        <p:nvSpPr>
          <p:cNvPr id="36" name="Shape 34"/>
          <p:cNvSpPr/>
          <p:nvPr/>
        </p:nvSpPr>
        <p:spPr>
          <a:xfrm>
            <a:off x="4242816" y="3913632"/>
            <a:ext cx="1645920" cy="347472"/>
          </a:xfrm>
          <a:prstGeom prst="roundRect">
            <a:avLst>
              <a:gd name="adj" fmla="val 13158"/>
            </a:avLst>
          </a:prstGeom>
          <a:ln w="25400">
            <a:solidFill>
              <a:schemeClr val="accent3"/>
            </a:solidFill>
            <a:prstDash val="solid"/>
          </a:ln>
        </p:spPr>
      </p:sp>
      <p:sp>
        <p:nvSpPr>
          <p:cNvPr id="37" name="marker-3"/>
          <p:cNvSpPr/>
          <p:nvPr/>
        </p:nvSpPr>
        <p:spPr>
          <a:xfrm>
            <a:off x="6035040" y="3950208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marker-3-text"/>
          <p:cNvSpPr txBox="1"/>
          <p:nvPr/>
        </p:nvSpPr>
        <p:spPr>
          <a:xfrm>
            <a:off x="6035040" y="3950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2560320" y="4352544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tx1"/>
                </a:solidFill>
              </a:rPr>
              <a:t>聯絡資訊 Email addresses</a:t>
            </a:r>
            <a:endParaRPr lang="zh-TW" sz="1000" dirty="0"/>
          </a:p>
        </p:txBody>
      </p:sp>
      <p:sp>
        <p:nvSpPr>
          <p:cNvPr id="40" name="Shape 38"/>
          <p:cNvSpPr/>
          <p:nvPr/>
        </p:nvSpPr>
        <p:spPr>
          <a:xfrm>
            <a:off x="2560320" y="4572000"/>
            <a:ext cx="3840480" cy="310896"/>
          </a:xfrm>
          <a:prstGeom prst="roundRect">
            <a:avLst>
              <a:gd name="adj" fmla="val 11765"/>
            </a:avLst>
          </a:prstGeom>
          <a:solidFill>
            <a:schemeClr val="accent4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651760" y="457200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</a:rPr>
              <a:t>你的 Gmail</a:t>
            </a:r>
            <a:endParaRPr lang="zh-TW" sz="1050" dirty="0"/>
          </a:p>
        </p:txBody>
      </p:sp>
      <p:sp>
        <p:nvSpPr>
          <p:cNvPr id="42" name="marker-4"/>
          <p:cNvSpPr/>
          <p:nvPr/>
        </p:nvSpPr>
        <p:spPr>
          <a:xfrm>
            <a:off x="6455664" y="4590288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3" name="marker-4-text"/>
          <p:cNvSpPr txBox="1"/>
          <p:nvPr/>
        </p:nvSpPr>
        <p:spPr>
          <a:xfrm>
            <a:off x="6455664" y="45902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4</a:t>
            </a:r>
            <a:endParaRPr lang="zh-TW" sz="1200" dirty="0"/>
          </a:p>
        </p:txBody>
      </p:sp>
      <p:sp>
        <p:nvSpPr>
          <p:cNvPr id="44" name="Shape 42"/>
          <p:cNvSpPr/>
          <p:nvPr/>
        </p:nvSpPr>
        <p:spPr>
          <a:xfrm>
            <a:off x="2560320" y="5047488"/>
            <a:ext cx="164592" cy="16459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2560320" y="5020056"/>
            <a:ext cx="164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chemeClr val="bg1"/>
                </a:solidFill>
              </a:rPr>
              <a:t>✓</a:t>
            </a:r>
            <a:endParaRPr lang="zh-TW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2816352" y="4992624"/>
            <a:ext cx="3621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</a:rPr>
              <a:t>我同意《Google API 服務：使用者資料政策》</a:t>
            </a:r>
            <a:endParaRPr lang="zh-TW" sz="1050" dirty="0"/>
          </a:p>
        </p:txBody>
      </p:sp>
      <p:sp>
        <p:nvSpPr>
          <p:cNvPr id="47" name="Shape 45"/>
          <p:cNvSpPr/>
          <p:nvPr/>
        </p:nvSpPr>
        <p:spPr>
          <a:xfrm>
            <a:off x="2505456" y="4956048"/>
            <a:ext cx="3931920" cy="347472"/>
          </a:xfrm>
          <a:prstGeom prst="roundRect">
            <a:avLst>
              <a:gd name="adj" fmla="val 13158"/>
            </a:avLst>
          </a:prstGeom>
          <a:ln w="25400">
            <a:solidFill>
              <a:schemeClr val="accent3"/>
            </a:solidFill>
            <a:prstDash val="solid"/>
          </a:ln>
        </p:spPr>
      </p:sp>
      <p:sp>
        <p:nvSpPr>
          <p:cNvPr id="48" name="marker-5"/>
          <p:cNvSpPr/>
          <p:nvPr/>
        </p:nvSpPr>
        <p:spPr>
          <a:xfrm>
            <a:off x="6510528" y="4992624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marker-5-text"/>
          <p:cNvSpPr txBox="1"/>
          <p:nvPr/>
        </p:nvSpPr>
        <p:spPr>
          <a:xfrm>
            <a:off x="6510528" y="49926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5</a:t>
            </a:r>
            <a:endParaRPr lang="zh-TW" sz="1200" dirty="0"/>
          </a:p>
        </p:txBody>
      </p:sp>
      <p:sp>
        <p:nvSpPr>
          <p:cNvPr id="50" name="marker-1"/>
          <p:cNvSpPr/>
          <p:nvPr/>
        </p:nvSpPr>
        <p:spPr>
          <a:xfrm>
            <a:off x="7452360" y="147218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1" name="marker-1-text"/>
          <p:cNvSpPr txBox="1"/>
          <p:nvPr/>
        </p:nvSpPr>
        <p:spPr>
          <a:xfrm>
            <a:off x="7452360" y="14721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7854696" y="1463040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打開 Google Auth Platform</a:t>
            </a:r>
            <a:endParaRPr lang="zh-TW" sz="1450" dirty="0"/>
          </a:p>
        </p:txBody>
      </p:sp>
      <p:sp>
        <p:nvSpPr>
          <p:cNvPr id="53" name="Text 51"/>
          <p:cNvSpPr txBox="1"/>
          <p:nvPr/>
        </p:nvSpPr>
        <p:spPr>
          <a:xfrm>
            <a:off x="7854696" y="1779270"/>
            <a:ext cx="3788359" cy="856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選單 →「Google Auth Platform」，或直接打開 console.cloud.google.com/auth/overview。畫面寫著還沒設定時，按「開始使用」（Get started）。</a:t>
            </a:r>
            <a:endParaRPr lang="zh-TW" sz="1250" dirty="0"/>
          </a:p>
        </p:txBody>
      </p:sp>
      <p:sp>
        <p:nvSpPr>
          <p:cNvPr id="54" name="marker-2"/>
          <p:cNvSpPr/>
          <p:nvPr/>
        </p:nvSpPr>
        <p:spPr>
          <a:xfrm>
            <a:off x="7452360" y="280949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5" name="marker-2-text"/>
          <p:cNvSpPr txBox="1"/>
          <p:nvPr/>
        </p:nvSpPr>
        <p:spPr>
          <a:xfrm>
            <a:off x="7452360" y="280949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7854696" y="2800350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應用程式資訊</a:t>
            </a:r>
            <a:endParaRPr lang="zh-TW" sz="1450" dirty="0"/>
          </a:p>
        </p:txBody>
      </p:sp>
      <p:sp>
        <p:nvSpPr>
          <p:cNvPr id="57" name="Text 55"/>
          <p:cNvSpPr txBox="1"/>
          <p:nvPr/>
        </p:nvSpPr>
        <p:spPr>
          <a:xfrm>
            <a:off x="7854696" y="3116580"/>
            <a:ext cx="3788359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名稱填「論憶」，使用者支援電子郵件選自己的 Gmail，按「下一步」（Next）。</a:t>
            </a:r>
            <a:endParaRPr lang="zh-TW" sz="1250" dirty="0"/>
          </a:p>
        </p:txBody>
      </p:sp>
      <p:sp>
        <p:nvSpPr>
          <p:cNvPr id="58" name="marker-3"/>
          <p:cNvSpPr/>
          <p:nvPr/>
        </p:nvSpPr>
        <p:spPr>
          <a:xfrm>
            <a:off x="7452360" y="372770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9" name="marker-3-text"/>
          <p:cNvSpPr txBox="1"/>
          <p:nvPr/>
        </p:nvSpPr>
        <p:spPr>
          <a:xfrm>
            <a:off x="7452360" y="3727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7854696" y="3718560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目標對象選「外部」（External）</a:t>
            </a:r>
            <a:endParaRPr lang="zh-TW" sz="1450" dirty="0"/>
          </a:p>
        </p:txBody>
      </p:sp>
      <p:sp>
        <p:nvSpPr>
          <p:cNvPr id="61" name="Text 59"/>
          <p:cNvSpPr txBox="1"/>
          <p:nvPr/>
        </p:nvSpPr>
        <p:spPr>
          <a:xfrm>
            <a:off x="7854696" y="4034790"/>
            <a:ext cx="3788359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個人 Gmail 只能選外部，按「下一步」。</a:t>
            </a:r>
            <a:endParaRPr lang="zh-TW" sz="1250" dirty="0"/>
          </a:p>
        </p:txBody>
      </p:sp>
      <p:sp>
        <p:nvSpPr>
          <p:cNvPr id="62" name="marker-4"/>
          <p:cNvSpPr/>
          <p:nvPr/>
        </p:nvSpPr>
        <p:spPr>
          <a:xfrm>
            <a:off x="7452360" y="443636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3" name="marker-4-text"/>
          <p:cNvSpPr txBox="1"/>
          <p:nvPr/>
        </p:nvSpPr>
        <p:spPr>
          <a:xfrm>
            <a:off x="7452360" y="44363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4</a:t>
            </a:r>
            <a:endParaRPr lang="zh-TW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7854696" y="4427220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聯絡資訊填自己的 Gmail</a:t>
            </a:r>
            <a:endParaRPr lang="zh-TW" sz="1450" dirty="0"/>
          </a:p>
        </p:txBody>
      </p:sp>
      <p:sp>
        <p:nvSpPr>
          <p:cNvPr id="65" name="Text 63"/>
          <p:cNvSpPr txBox="1"/>
          <p:nvPr/>
        </p:nvSpPr>
        <p:spPr>
          <a:xfrm>
            <a:off x="7854696" y="4743450"/>
            <a:ext cx="3788359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Google 會把專案通知寄到這裡，按「下一步」。</a:t>
            </a:r>
            <a:endParaRPr lang="zh-TW" sz="1250" dirty="0"/>
          </a:p>
        </p:txBody>
      </p:sp>
      <p:sp>
        <p:nvSpPr>
          <p:cNvPr id="66" name="marker-5"/>
          <p:cNvSpPr/>
          <p:nvPr/>
        </p:nvSpPr>
        <p:spPr>
          <a:xfrm>
            <a:off x="7452360" y="514502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7" name="marker-5-text"/>
          <p:cNvSpPr txBox="1"/>
          <p:nvPr/>
        </p:nvSpPr>
        <p:spPr>
          <a:xfrm>
            <a:off x="7452360" y="5145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5</a:t>
            </a:r>
            <a:endParaRPr lang="zh-TW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7854696" y="5135880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勾選同意，按「繼續」再按「建立」</a:t>
            </a:r>
            <a:endParaRPr lang="zh-TW" sz="1450" dirty="0"/>
          </a:p>
        </p:txBody>
      </p:sp>
      <p:sp>
        <p:nvSpPr>
          <p:cNvPr id="69" name="Text 67"/>
          <p:cNvSpPr txBox="1"/>
          <p:nvPr/>
        </p:nvSpPr>
        <p:spPr>
          <a:xfrm>
            <a:off x="7854696" y="5452110"/>
            <a:ext cx="3788359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勾選《Google API 服務：使用者資料政策》，按「繼續」（Continue）→「建立」（Create）。</a:t>
            </a:r>
            <a:endParaRPr lang="zh-TW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2764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A3　Google Auth Platform</a:t>
            </a:r>
            <a:endParaRPr lang="zh-TW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0350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把要登入的人加進「測試使用者」</a:t>
            </a:r>
            <a:endParaRPr lang="zh-TW" sz="2800" dirty="0"/>
          </a:p>
        </p:txBody>
      </p:sp>
      <p:sp>
        <p:nvSpPr>
          <p:cNvPr id="4" name="mock-window"/>
          <p:cNvSpPr/>
          <p:nvPr/>
        </p:nvSpPr>
        <p:spPr>
          <a:xfrm>
            <a:off x="548640" y="1463040"/>
            <a:ext cx="658368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2700">
            <a:solidFill>
              <a:srgbClr val="C9C3B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mock-bar"/>
          <p:cNvSpPr/>
          <p:nvPr/>
        </p:nvSpPr>
        <p:spPr>
          <a:xfrm>
            <a:off x="557784" y="1472184"/>
            <a:ext cx="65653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" name="Shape 4"/>
          <p:cNvSpPr/>
          <p:nvPr/>
        </p:nvSpPr>
        <p:spPr>
          <a:xfrm>
            <a:off x="694944" y="1600200"/>
            <a:ext cx="109728" cy="109728"/>
          </a:xfrm>
          <a:prstGeom prst="ellipse">
            <a:avLst/>
          </a:prstGeom>
          <a:solidFill>
            <a:srgbClr val="E0685A"/>
          </a:solidFill>
          <a:ln/>
        </p:spPr>
      </p:sp>
      <p:sp>
        <p:nvSpPr>
          <p:cNvPr id="7" name="Shape 5"/>
          <p:cNvSpPr/>
          <p:nvPr/>
        </p:nvSpPr>
        <p:spPr>
          <a:xfrm>
            <a:off x="877824" y="1600200"/>
            <a:ext cx="109728" cy="109728"/>
          </a:xfrm>
          <a:prstGeom prst="ellipse">
            <a:avLst/>
          </a:prstGeom>
          <a:solidFill>
            <a:srgbClr val="E8B44C"/>
          </a:solidFill>
          <a:ln/>
        </p:spPr>
      </p:sp>
      <p:sp>
        <p:nvSpPr>
          <p:cNvPr id="8" name="Shape 6"/>
          <p:cNvSpPr/>
          <p:nvPr/>
        </p:nvSpPr>
        <p:spPr>
          <a:xfrm>
            <a:off x="1060704" y="1600200"/>
            <a:ext cx="109728" cy="109728"/>
          </a:xfrm>
          <a:prstGeom prst="ellipse">
            <a:avLst/>
          </a:prstGeom>
          <a:solidFill>
            <a:srgbClr val="6BB86B"/>
          </a:solidFill>
          <a:ln/>
        </p:spPr>
      </p:sp>
      <p:sp>
        <p:nvSpPr>
          <p:cNvPr id="9" name="Shape 7"/>
          <p:cNvSpPr/>
          <p:nvPr/>
        </p:nvSpPr>
        <p:spPr>
          <a:xfrm>
            <a:off x="1280160" y="1536192"/>
            <a:ext cx="5669280" cy="246888"/>
          </a:xfrm>
          <a:prstGeom prst="roundRect">
            <a:avLst>
              <a:gd name="adj" fmla="val 48148"/>
            </a:avLst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417320" y="153619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console.cloud.google.com/auth/audience</a:t>
            </a:r>
            <a:endParaRPr lang="zh-TW" sz="1000" dirty="0"/>
          </a:p>
        </p:txBody>
      </p:sp>
      <p:sp>
        <p:nvSpPr>
          <p:cNvPr id="11" name="Shape 9"/>
          <p:cNvSpPr/>
          <p:nvPr/>
        </p:nvSpPr>
        <p:spPr>
          <a:xfrm>
            <a:off x="557784" y="1856232"/>
            <a:ext cx="1783080" cy="4078224"/>
          </a:xfrm>
          <a:prstGeom prst="rect">
            <a:avLst/>
          </a:prstGeom>
          <a:solidFill>
            <a:srgbClr val="F7F6F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13232" y="1984248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總覽 Overview</a:t>
            </a:r>
            <a:endParaRPr lang="zh-TW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2331720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品牌 Branding</a:t>
            </a:r>
            <a:endParaRPr lang="zh-TW" sz="1000" dirty="0"/>
          </a:p>
        </p:txBody>
      </p:sp>
      <p:sp>
        <p:nvSpPr>
          <p:cNvPr id="14" name="Shape 12"/>
          <p:cNvSpPr/>
          <p:nvPr/>
        </p:nvSpPr>
        <p:spPr>
          <a:xfrm>
            <a:off x="640080" y="2679192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E4F0F0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13232" y="2679192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accent1"/>
                </a:solidFill>
              </a:rPr>
              <a:t>目標對象 Audience</a:t>
            </a:r>
            <a:endParaRPr lang="zh-TW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713232" y="3026664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用戶端 Clients</a:t>
            </a:r>
            <a:endParaRPr lang="zh-TW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" y="3374136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資料存取 Data Access</a:t>
            </a:r>
            <a:endParaRPr lang="zh-TW" sz="1000" dirty="0"/>
          </a:p>
        </p:txBody>
      </p:sp>
      <p:sp>
        <p:nvSpPr>
          <p:cNvPr id="18" name="tag-mock"/>
          <p:cNvSpPr/>
          <p:nvPr/>
        </p:nvSpPr>
        <p:spPr>
          <a:xfrm>
            <a:off x="5212080" y="5559552"/>
            <a:ext cx="17830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12080" y="555955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chemeClr val="accent3"/>
                </a:solidFill>
              </a:rPr>
              <a:t>示意圖・依官方文件整理</a:t>
            </a:r>
            <a:endParaRPr lang="zh-TW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2560320" y="2011680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目標對象（Audience）</a:t>
            </a:r>
            <a:endParaRPr lang="zh-TW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2560320" y="2414016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2"/>
                </a:solidFill>
              </a:rPr>
              <a:t>發布狀態（Publishing status）：測試中（Testing）</a:t>
            </a:r>
            <a:endParaRPr lang="zh-TW" sz="1000" dirty="0"/>
          </a:p>
          <a:p>
            <a:pPr indent="0" marL="0">
              <a:buNone/>
            </a:pPr>
            <a:r>
              <a:rPr lang="zh-TW" altLang="en-US" sz="1000" dirty="0">
                <a:solidFill>
                  <a:schemeClr val="tx2"/>
                </a:solidFill>
              </a:rPr>
              <a:t>使用者類型：外部</a:t>
            </a:r>
            <a:endParaRPr lang="zh-TW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2560320" y="2999232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測試使用者（Test users）</a:t>
            </a:r>
            <a:endParaRPr lang="zh-TW" sz="1500" dirty="0"/>
          </a:p>
        </p:txBody>
      </p:sp>
      <p:sp>
        <p:nvSpPr>
          <p:cNvPr id="23" name="Shape 21"/>
          <p:cNvSpPr/>
          <p:nvPr/>
        </p:nvSpPr>
        <p:spPr>
          <a:xfrm>
            <a:off x="2560320" y="3401568"/>
            <a:ext cx="2103120" cy="310896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28575">
            <a:solidFill>
              <a:schemeClr val="accent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560320" y="340156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chemeClr val="accent1"/>
                </a:solidFill>
              </a:rPr>
              <a:t>+ 新增使用者 Add users</a:t>
            </a:r>
            <a:endParaRPr lang="zh-TW" sz="1050" dirty="0"/>
          </a:p>
        </p:txBody>
      </p:sp>
      <p:sp>
        <p:nvSpPr>
          <p:cNvPr id="25" name="marker-2"/>
          <p:cNvSpPr/>
          <p:nvPr/>
        </p:nvSpPr>
        <p:spPr>
          <a:xfrm>
            <a:off x="4718304" y="3419856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marker-2-text"/>
          <p:cNvSpPr txBox="1"/>
          <p:nvPr/>
        </p:nvSpPr>
        <p:spPr>
          <a:xfrm>
            <a:off x="4718304" y="34198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560320" y="385876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tx1"/>
                </a:solidFill>
              </a:rPr>
              <a:t>輸入電子郵件</a:t>
            </a:r>
            <a:endParaRPr lang="zh-TW" sz="1000" dirty="0"/>
          </a:p>
        </p:txBody>
      </p:sp>
      <p:sp>
        <p:nvSpPr>
          <p:cNvPr id="28" name="Shape 26"/>
          <p:cNvSpPr/>
          <p:nvPr/>
        </p:nvSpPr>
        <p:spPr>
          <a:xfrm>
            <a:off x="2560320" y="4078224"/>
            <a:ext cx="3840480" cy="310896"/>
          </a:xfrm>
          <a:prstGeom prst="roundRect">
            <a:avLst>
              <a:gd name="adj" fmla="val 11765"/>
            </a:avLst>
          </a:prstGeom>
          <a:solidFill>
            <a:schemeClr val="accent4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651760" y="40782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teacher@gmail.com, classmate@gmail.com</a:t>
            </a:r>
            <a:endParaRPr lang="zh-TW" sz="1050" dirty="0"/>
          </a:p>
        </p:txBody>
      </p:sp>
      <p:sp>
        <p:nvSpPr>
          <p:cNvPr id="30" name="marker-3"/>
          <p:cNvSpPr/>
          <p:nvPr/>
        </p:nvSpPr>
        <p:spPr>
          <a:xfrm>
            <a:off x="6455664" y="4096512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marker-3-text"/>
          <p:cNvSpPr txBox="1"/>
          <p:nvPr/>
        </p:nvSpPr>
        <p:spPr>
          <a:xfrm>
            <a:off x="6455664" y="4096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32" name="Shape 30"/>
          <p:cNvSpPr/>
          <p:nvPr/>
        </p:nvSpPr>
        <p:spPr>
          <a:xfrm>
            <a:off x="2560320" y="4498848"/>
            <a:ext cx="118872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 w="28575">
            <a:solidFill>
              <a:schemeClr val="accent3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560320" y="44988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chemeClr val="bg1"/>
                </a:solidFill>
              </a:rPr>
              <a:t>儲存 Save</a:t>
            </a:r>
            <a:endParaRPr lang="zh-TW" sz="1050" dirty="0"/>
          </a:p>
        </p:txBody>
      </p:sp>
      <p:sp>
        <p:nvSpPr>
          <p:cNvPr id="34" name="marker-3"/>
          <p:cNvSpPr/>
          <p:nvPr/>
        </p:nvSpPr>
        <p:spPr>
          <a:xfrm>
            <a:off x="3803904" y="4517136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marker-3-text"/>
          <p:cNvSpPr txBox="1"/>
          <p:nvPr/>
        </p:nvSpPr>
        <p:spPr>
          <a:xfrm>
            <a:off x="3803904" y="45171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36" name="marker-1"/>
          <p:cNvSpPr/>
          <p:nvPr/>
        </p:nvSpPr>
        <p:spPr>
          <a:xfrm>
            <a:off x="7452360" y="147218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marker-1-text"/>
          <p:cNvSpPr txBox="1"/>
          <p:nvPr/>
        </p:nvSpPr>
        <p:spPr>
          <a:xfrm>
            <a:off x="7452360" y="14721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7854696" y="1463040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左側點「目標對象」（Audience）</a:t>
            </a:r>
            <a:endParaRPr lang="zh-TW" sz="1450" dirty="0"/>
          </a:p>
        </p:txBody>
      </p:sp>
      <p:sp>
        <p:nvSpPr>
          <p:cNvPr id="39" name="Text 37"/>
          <p:cNvSpPr txBox="1"/>
          <p:nvPr/>
        </p:nvSpPr>
        <p:spPr>
          <a:xfrm>
            <a:off x="7854696" y="1779270"/>
            <a:ext cx="3788359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「發布狀態」維持「測試中」（Testing），先不要按「發布應用程式」（Publish app）。</a:t>
            </a:r>
            <a:endParaRPr lang="zh-TW" sz="1250" dirty="0"/>
          </a:p>
        </p:txBody>
      </p:sp>
      <p:sp>
        <p:nvSpPr>
          <p:cNvPr id="40" name="marker-2"/>
          <p:cNvSpPr/>
          <p:nvPr/>
        </p:nvSpPr>
        <p:spPr>
          <a:xfrm>
            <a:off x="7452360" y="2445258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1" name="marker-2-text"/>
          <p:cNvSpPr txBox="1"/>
          <p:nvPr/>
        </p:nvSpPr>
        <p:spPr>
          <a:xfrm>
            <a:off x="7452360" y="244525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7854696" y="2436114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按「新增使用者」（Add users）</a:t>
            </a:r>
            <a:endParaRPr lang="zh-TW" sz="1450" dirty="0"/>
          </a:p>
        </p:txBody>
      </p:sp>
      <p:sp>
        <p:nvSpPr>
          <p:cNvPr id="43" name="marker-3"/>
          <p:cNvSpPr/>
          <p:nvPr/>
        </p:nvSpPr>
        <p:spPr>
          <a:xfrm>
            <a:off x="7452360" y="2944368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4" name="marker-3-text"/>
          <p:cNvSpPr txBox="1"/>
          <p:nvPr/>
        </p:nvSpPr>
        <p:spPr>
          <a:xfrm>
            <a:off x="7452360" y="29443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7854696" y="2935224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貼上 Gmail 名單，按「儲存」（Save）</a:t>
            </a:r>
            <a:endParaRPr lang="zh-TW" sz="1450" dirty="0"/>
          </a:p>
        </p:txBody>
      </p:sp>
      <p:sp>
        <p:nvSpPr>
          <p:cNvPr id="46" name="Text 44"/>
          <p:cNvSpPr txBox="1"/>
          <p:nvPr/>
        </p:nvSpPr>
        <p:spPr>
          <a:xfrm>
            <a:off x="7854696" y="3251454"/>
            <a:ext cx="3788359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記得也加上你自己，最多 100 人。</a:t>
            </a:r>
            <a:endParaRPr lang="zh-TW" sz="1250" dirty="0"/>
          </a:p>
        </p:txBody>
      </p:sp>
      <p:sp>
        <p:nvSpPr>
          <p:cNvPr id="47" name="paste"/>
          <p:cNvSpPr/>
          <p:nvPr/>
        </p:nvSpPr>
        <p:spPr>
          <a:xfrm>
            <a:off x="7854696" y="3515868"/>
            <a:ext cx="3788359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 w="9525">
            <a:solidFill>
              <a:srgbClr val="E6CF7A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946136" y="3515868"/>
            <a:ext cx="289224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你的Gmail, 老師的Gmail, 同學的Gmail</a:t>
            </a:r>
            <a:endParaRPr lang="zh-TW" sz="1150" dirty="0"/>
          </a:p>
        </p:txBody>
      </p:sp>
      <p:sp>
        <p:nvSpPr>
          <p:cNvPr id="49" name="Text 47"/>
          <p:cNvSpPr txBox="1"/>
          <p:nvPr/>
        </p:nvSpPr>
        <p:spPr>
          <a:xfrm>
            <a:off x="10874959" y="351586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50" b="1" dirty="0">
                <a:solidFill>
                  <a:schemeClr val="accent3"/>
                </a:solidFill>
              </a:rPr>
              <a:t>換成你的</a:t>
            </a:r>
            <a:endParaRPr lang="zh-TW" sz="950" dirty="0"/>
          </a:p>
        </p:txBody>
      </p:sp>
      <p:sp>
        <p:nvSpPr>
          <p:cNvPr id="50" name="note"/>
          <p:cNvSpPr/>
          <p:nvPr/>
        </p:nvSpPr>
        <p:spPr>
          <a:xfrm>
            <a:off x="7452360" y="4110228"/>
            <a:ext cx="4190695" cy="816102"/>
          </a:xfrm>
          <a:prstGeom prst="roundRect">
            <a:avLst>
              <a:gd name="adj" fmla="val 6723"/>
            </a:avLst>
          </a:prstGeom>
          <a:solidFill>
            <a:srgbClr val="EEF4F4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7598664" y="4201668"/>
            <a:ext cx="3898087" cy="633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50" dirty="0">
                <a:solidFill>
                  <a:srgbClr val="1D3B3D"/>
                </a:solidFill>
              </a:rPr>
              <a:t>測試中的限制：只有名單上的人能登入。登入時會看到「Google 尚未驗證這個應用程式」，按「繼續」即可。同意 7 天後要再按一次同意。要開放給所有人見 A7。</a:t>
            </a:r>
            <a:endParaRPr lang="zh-TW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2764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A4　Google Auth Platform</a:t>
            </a:r>
            <a:endParaRPr lang="zh-TW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0350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建立 OAuth 用戶端，複製「用戶端 ID」</a:t>
            </a:r>
            <a:endParaRPr lang="zh-TW" sz="2800" dirty="0"/>
          </a:p>
        </p:txBody>
      </p:sp>
      <p:sp>
        <p:nvSpPr>
          <p:cNvPr id="4" name="mock-window"/>
          <p:cNvSpPr/>
          <p:nvPr/>
        </p:nvSpPr>
        <p:spPr>
          <a:xfrm>
            <a:off x="548640" y="1463040"/>
            <a:ext cx="6583680" cy="4709160"/>
          </a:xfrm>
          <a:prstGeom prst="roundRect">
            <a:avLst>
              <a:gd name="adj" fmla="val 1553"/>
            </a:avLst>
          </a:prstGeom>
          <a:solidFill>
            <a:srgbClr val="FFFFFF"/>
          </a:solidFill>
          <a:ln w="12700">
            <a:solidFill>
              <a:srgbClr val="C9C3B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mock-bar"/>
          <p:cNvSpPr/>
          <p:nvPr/>
        </p:nvSpPr>
        <p:spPr>
          <a:xfrm>
            <a:off x="557784" y="1472184"/>
            <a:ext cx="65653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" name="Shape 4"/>
          <p:cNvSpPr/>
          <p:nvPr/>
        </p:nvSpPr>
        <p:spPr>
          <a:xfrm>
            <a:off x="694944" y="1600200"/>
            <a:ext cx="109728" cy="109728"/>
          </a:xfrm>
          <a:prstGeom prst="ellipse">
            <a:avLst/>
          </a:prstGeom>
          <a:solidFill>
            <a:srgbClr val="E0685A"/>
          </a:solidFill>
          <a:ln/>
        </p:spPr>
      </p:sp>
      <p:sp>
        <p:nvSpPr>
          <p:cNvPr id="7" name="Shape 5"/>
          <p:cNvSpPr/>
          <p:nvPr/>
        </p:nvSpPr>
        <p:spPr>
          <a:xfrm>
            <a:off x="877824" y="1600200"/>
            <a:ext cx="109728" cy="109728"/>
          </a:xfrm>
          <a:prstGeom prst="ellipse">
            <a:avLst/>
          </a:prstGeom>
          <a:solidFill>
            <a:srgbClr val="E8B44C"/>
          </a:solidFill>
          <a:ln/>
        </p:spPr>
      </p:sp>
      <p:sp>
        <p:nvSpPr>
          <p:cNvPr id="8" name="Shape 6"/>
          <p:cNvSpPr/>
          <p:nvPr/>
        </p:nvSpPr>
        <p:spPr>
          <a:xfrm>
            <a:off x="1060704" y="1600200"/>
            <a:ext cx="109728" cy="109728"/>
          </a:xfrm>
          <a:prstGeom prst="ellipse">
            <a:avLst/>
          </a:prstGeom>
          <a:solidFill>
            <a:srgbClr val="6BB86B"/>
          </a:solidFill>
          <a:ln/>
        </p:spPr>
      </p:sp>
      <p:sp>
        <p:nvSpPr>
          <p:cNvPr id="9" name="Shape 7"/>
          <p:cNvSpPr/>
          <p:nvPr/>
        </p:nvSpPr>
        <p:spPr>
          <a:xfrm>
            <a:off x="1280160" y="1536192"/>
            <a:ext cx="5669280" cy="246888"/>
          </a:xfrm>
          <a:prstGeom prst="roundRect">
            <a:avLst>
              <a:gd name="adj" fmla="val 48148"/>
            </a:avLst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417320" y="153619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console.cloud.google.com/auth/clients/create</a:t>
            </a:r>
            <a:endParaRPr lang="zh-TW" sz="1000" dirty="0"/>
          </a:p>
        </p:txBody>
      </p:sp>
      <p:sp>
        <p:nvSpPr>
          <p:cNvPr id="11" name="Shape 9"/>
          <p:cNvSpPr/>
          <p:nvPr/>
        </p:nvSpPr>
        <p:spPr>
          <a:xfrm>
            <a:off x="557784" y="1856232"/>
            <a:ext cx="1783080" cy="4306824"/>
          </a:xfrm>
          <a:prstGeom prst="rect">
            <a:avLst/>
          </a:prstGeom>
          <a:solidFill>
            <a:srgbClr val="F7F6F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13232" y="1984248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總覽 Overview</a:t>
            </a:r>
            <a:endParaRPr lang="zh-TW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2331720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品牌 Branding</a:t>
            </a:r>
            <a:endParaRPr lang="zh-TW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2679192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目標對象 Audience</a:t>
            </a:r>
            <a:endParaRPr lang="zh-TW" sz="1000" dirty="0"/>
          </a:p>
        </p:txBody>
      </p:sp>
      <p:sp>
        <p:nvSpPr>
          <p:cNvPr id="15" name="Shape 13"/>
          <p:cNvSpPr/>
          <p:nvPr/>
        </p:nvSpPr>
        <p:spPr>
          <a:xfrm>
            <a:off x="640080" y="30266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E4F0F0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3232" y="3026664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accent1"/>
                </a:solidFill>
              </a:rPr>
              <a:t>用戶端 Clients</a:t>
            </a:r>
            <a:endParaRPr lang="zh-TW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" y="3374136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資料存取 Data Access</a:t>
            </a:r>
            <a:endParaRPr lang="zh-TW" sz="1000" dirty="0"/>
          </a:p>
        </p:txBody>
      </p:sp>
      <p:sp>
        <p:nvSpPr>
          <p:cNvPr id="18" name="tag-mock"/>
          <p:cNvSpPr/>
          <p:nvPr/>
        </p:nvSpPr>
        <p:spPr>
          <a:xfrm>
            <a:off x="5212080" y="5788152"/>
            <a:ext cx="17830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12080" y="578815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chemeClr val="accent3"/>
                </a:solidFill>
              </a:rPr>
              <a:t>示意圖・依官方文件整理</a:t>
            </a:r>
            <a:endParaRPr lang="zh-TW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2560320" y="2011680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tx1"/>
                </a:solidFill>
              </a:rPr>
              <a:t>應用程式類型 Application type</a:t>
            </a:r>
            <a:endParaRPr lang="zh-TW" sz="1000" dirty="0"/>
          </a:p>
        </p:txBody>
      </p:sp>
      <p:sp>
        <p:nvSpPr>
          <p:cNvPr id="21" name="Shape 19"/>
          <p:cNvSpPr/>
          <p:nvPr/>
        </p:nvSpPr>
        <p:spPr>
          <a:xfrm>
            <a:off x="2560320" y="2231136"/>
            <a:ext cx="3840480" cy="310896"/>
          </a:xfrm>
          <a:prstGeom prst="roundRect">
            <a:avLst>
              <a:gd name="adj" fmla="val 11765"/>
            </a:avLst>
          </a:prstGeom>
          <a:solidFill>
            <a:schemeClr val="accent4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651760" y="223113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</a:rPr>
              <a:t>網頁應用程式 Web application</a:t>
            </a:r>
            <a:endParaRPr lang="zh-TW" sz="1050" dirty="0"/>
          </a:p>
        </p:txBody>
      </p:sp>
      <p:sp>
        <p:nvSpPr>
          <p:cNvPr id="23" name="marker-2"/>
          <p:cNvSpPr/>
          <p:nvPr/>
        </p:nvSpPr>
        <p:spPr>
          <a:xfrm>
            <a:off x="6455664" y="2249424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marker-2-text"/>
          <p:cNvSpPr txBox="1"/>
          <p:nvPr/>
        </p:nvSpPr>
        <p:spPr>
          <a:xfrm>
            <a:off x="6455664" y="224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2560320" y="2651760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tx1"/>
                </a:solidFill>
              </a:rPr>
              <a:t>已授權的 JavaScript 來源 Authorized JavaScript origins</a:t>
            </a:r>
            <a:endParaRPr lang="zh-TW" sz="1000" dirty="0"/>
          </a:p>
        </p:txBody>
      </p:sp>
      <p:sp>
        <p:nvSpPr>
          <p:cNvPr id="26" name="Shape 24"/>
          <p:cNvSpPr/>
          <p:nvPr/>
        </p:nvSpPr>
        <p:spPr>
          <a:xfrm>
            <a:off x="2560320" y="2871216"/>
            <a:ext cx="3840480" cy="310896"/>
          </a:xfrm>
          <a:prstGeom prst="roundRect">
            <a:avLst>
              <a:gd name="adj" fmla="val 11765"/>
            </a:avLst>
          </a:prstGeom>
          <a:solidFill>
            <a:schemeClr val="accent4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651760" y="287121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https://journal-article-memory-tool.vercel.app</a:t>
            </a:r>
            <a:endParaRPr lang="zh-TW" sz="1050" dirty="0"/>
          </a:p>
        </p:txBody>
      </p:sp>
      <p:sp>
        <p:nvSpPr>
          <p:cNvPr id="28" name="marker-3"/>
          <p:cNvSpPr/>
          <p:nvPr/>
        </p:nvSpPr>
        <p:spPr>
          <a:xfrm>
            <a:off x="6455664" y="2889504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9" name="marker-3-text"/>
          <p:cNvSpPr txBox="1"/>
          <p:nvPr/>
        </p:nvSpPr>
        <p:spPr>
          <a:xfrm>
            <a:off x="6455664" y="28895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30" name="Shape 28"/>
          <p:cNvSpPr/>
          <p:nvPr/>
        </p:nvSpPr>
        <p:spPr>
          <a:xfrm>
            <a:off x="2560320" y="3291840"/>
            <a:ext cx="3840480" cy="310896"/>
          </a:xfrm>
          <a:prstGeom prst="roundRect">
            <a:avLst>
              <a:gd name="adj" fmla="val 11765"/>
            </a:avLst>
          </a:prstGeom>
          <a:solidFill>
            <a:schemeClr val="accent4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651760" y="329184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https://charleslin2003-prog.github.io</a:t>
            </a:r>
            <a:endParaRPr lang="zh-TW" sz="1050" dirty="0"/>
          </a:p>
        </p:txBody>
      </p:sp>
      <p:sp>
        <p:nvSpPr>
          <p:cNvPr id="32" name="Shape 30"/>
          <p:cNvSpPr/>
          <p:nvPr/>
        </p:nvSpPr>
        <p:spPr>
          <a:xfrm>
            <a:off x="2560320" y="3712464"/>
            <a:ext cx="1920240" cy="310896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28575">
            <a:solidFill>
              <a:schemeClr val="accent3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560320" y="3712464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chemeClr val="accent1"/>
                </a:solidFill>
              </a:rPr>
              <a:t>+ 新增 URI（Add URI）</a:t>
            </a:r>
            <a:endParaRPr lang="zh-TW" sz="1050" dirty="0"/>
          </a:p>
        </p:txBody>
      </p:sp>
      <p:sp>
        <p:nvSpPr>
          <p:cNvPr id="34" name="marker-3"/>
          <p:cNvSpPr/>
          <p:nvPr/>
        </p:nvSpPr>
        <p:spPr>
          <a:xfrm>
            <a:off x="4535424" y="3730752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marker-3-text"/>
          <p:cNvSpPr txBox="1"/>
          <p:nvPr/>
        </p:nvSpPr>
        <p:spPr>
          <a:xfrm>
            <a:off x="4535424" y="37307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2560320" y="4169664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tx1"/>
                </a:solidFill>
              </a:rPr>
              <a:t>已授權的重新導向 URI Authorized redirect URIs</a:t>
            </a:r>
            <a:endParaRPr lang="zh-TW" sz="1000" dirty="0"/>
          </a:p>
        </p:txBody>
      </p:sp>
      <p:sp>
        <p:nvSpPr>
          <p:cNvPr id="37" name="Shape 35"/>
          <p:cNvSpPr/>
          <p:nvPr/>
        </p:nvSpPr>
        <p:spPr>
          <a:xfrm>
            <a:off x="2560320" y="4389120"/>
            <a:ext cx="3840480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2651760" y="438912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rgbClr val="A8A196"/>
                </a:solidFill>
              </a:rPr>
              <a:t>（留空）</a:t>
            </a:r>
            <a:endParaRPr lang="zh-TW" sz="1050" dirty="0"/>
          </a:p>
        </p:txBody>
      </p:sp>
      <p:sp>
        <p:nvSpPr>
          <p:cNvPr id="39" name="marker-4"/>
          <p:cNvSpPr/>
          <p:nvPr/>
        </p:nvSpPr>
        <p:spPr>
          <a:xfrm>
            <a:off x="6455664" y="4407408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0" name="marker-4-text"/>
          <p:cNvSpPr txBox="1"/>
          <p:nvPr/>
        </p:nvSpPr>
        <p:spPr>
          <a:xfrm>
            <a:off x="6455664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4</a:t>
            </a:r>
            <a:endParaRPr lang="zh-TW" sz="1200" dirty="0"/>
          </a:p>
        </p:txBody>
      </p:sp>
      <p:sp>
        <p:nvSpPr>
          <p:cNvPr id="41" name="Shape 39"/>
          <p:cNvSpPr/>
          <p:nvPr/>
        </p:nvSpPr>
        <p:spPr>
          <a:xfrm>
            <a:off x="2560320" y="4864608"/>
            <a:ext cx="16459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A8A19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2816352" y="4809744"/>
            <a:ext cx="3621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</a:rPr>
              <a:t>Use this client for an AI-powered agent（不要勾）</a:t>
            </a:r>
            <a:endParaRPr lang="zh-TW" sz="1050" dirty="0"/>
          </a:p>
        </p:txBody>
      </p:sp>
      <p:sp>
        <p:nvSpPr>
          <p:cNvPr id="43" name="Shape 41"/>
          <p:cNvSpPr/>
          <p:nvPr/>
        </p:nvSpPr>
        <p:spPr>
          <a:xfrm>
            <a:off x="2505456" y="4773168"/>
            <a:ext cx="3931920" cy="347472"/>
          </a:xfrm>
          <a:prstGeom prst="roundRect">
            <a:avLst>
              <a:gd name="adj" fmla="val 13158"/>
            </a:avLst>
          </a:prstGeom>
          <a:ln w="25400">
            <a:solidFill>
              <a:schemeClr val="accent3"/>
            </a:solidFill>
            <a:prstDash val="solid"/>
          </a:ln>
        </p:spPr>
      </p:sp>
      <p:sp>
        <p:nvSpPr>
          <p:cNvPr id="44" name="marker-4"/>
          <p:cNvSpPr/>
          <p:nvPr/>
        </p:nvSpPr>
        <p:spPr>
          <a:xfrm>
            <a:off x="6510528" y="4809744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5" name="marker-4-text"/>
          <p:cNvSpPr txBox="1"/>
          <p:nvPr/>
        </p:nvSpPr>
        <p:spPr>
          <a:xfrm>
            <a:off x="6510528" y="48097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4</a:t>
            </a:r>
            <a:endParaRPr lang="zh-TW" sz="1200" dirty="0"/>
          </a:p>
        </p:txBody>
      </p:sp>
      <p:sp>
        <p:nvSpPr>
          <p:cNvPr id="46" name="Shape 44"/>
          <p:cNvSpPr/>
          <p:nvPr/>
        </p:nvSpPr>
        <p:spPr>
          <a:xfrm>
            <a:off x="2560320" y="5193792"/>
            <a:ext cx="118872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 w="28575">
            <a:solidFill>
              <a:schemeClr val="accent3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2560320" y="519379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chemeClr val="bg1"/>
                </a:solidFill>
              </a:rPr>
              <a:t>建立 Create</a:t>
            </a:r>
            <a:endParaRPr lang="zh-TW" sz="1050" dirty="0"/>
          </a:p>
        </p:txBody>
      </p:sp>
      <p:sp>
        <p:nvSpPr>
          <p:cNvPr id="48" name="marker-5"/>
          <p:cNvSpPr/>
          <p:nvPr/>
        </p:nvSpPr>
        <p:spPr>
          <a:xfrm>
            <a:off x="3803904" y="5212080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marker-5-text"/>
          <p:cNvSpPr txBox="1"/>
          <p:nvPr/>
        </p:nvSpPr>
        <p:spPr>
          <a:xfrm>
            <a:off x="3803904" y="5212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5</a:t>
            </a:r>
            <a:endParaRPr lang="zh-TW" sz="1200" dirty="0"/>
          </a:p>
        </p:txBody>
      </p:sp>
      <p:sp>
        <p:nvSpPr>
          <p:cNvPr id="50" name="marker-1"/>
          <p:cNvSpPr/>
          <p:nvPr/>
        </p:nvSpPr>
        <p:spPr>
          <a:xfrm>
            <a:off x="7452360" y="147218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1" name="marker-1-text"/>
          <p:cNvSpPr txBox="1"/>
          <p:nvPr/>
        </p:nvSpPr>
        <p:spPr>
          <a:xfrm>
            <a:off x="7452360" y="14721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7854696" y="1463040"/>
            <a:ext cx="3788359" cy="252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左側點「用戶端」→「建立用戶端」</a:t>
            </a:r>
            <a:endParaRPr lang="zh-TW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7854696" y="1770888"/>
            <a:ext cx="37883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tx2"/>
                </a:solidFill>
              </a:rPr>
              <a:t>（Clients → Create client）</a:t>
            </a:r>
            <a:endParaRPr lang="zh-TW" sz="1200" dirty="0"/>
          </a:p>
        </p:txBody>
      </p:sp>
      <p:sp>
        <p:nvSpPr>
          <p:cNvPr id="54" name="marker-2"/>
          <p:cNvSpPr/>
          <p:nvPr/>
        </p:nvSpPr>
        <p:spPr>
          <a:xfrm>
            <a:off x="7452360" y="2118360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5" name="marker-2-text"/>
          <p:cNvSpPr txBox="1"/>
          <p:nvPr/>
        </p:nvSpPr>
        <p:spPr>
          <a:xfrm>
            <a:off x="7452360" y="2118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7854696" y="2109216"/>
            <a:ext cx="3788359" cy="252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類型選「網頁應用程式」</a:t>
            </a:r>
            <a:endParaRPr lang="zh-TW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7854696" y="2417064"/>
            <a:ext cx="37883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tx2"/>
                </a:solidFill>
              </a:rPr>
              <a:t>名稱隨意，例如「論憶 Web」。</a:t>
            </a:r>
            <a:endParaRPr lang="zh-TW" sz="1200" dirty="0"/>
          </a:p>
        </p:txBody>
      </p:sp>
      <p:sp>
        <p:nvSpPr>
          <p:cNvPr id="58" name="marker-3"/>
          <p:cNvSpPr/>
          <p:nvPr/>
        </p:nvSpPr>
        <p:spPr>
          <a:xfrm>
            <a:off x="7452360" y="2764536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9" name="marker-3-text"/>
          <p:cNvSpPr txBox="1"/>
          <p:nvPr/>
        </p:nvSpPr>
        <p:spPr>
          <a:xfrm>
            <a:off x="7452360" y="2764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7854696" y="2755392"/>
            <a:ext cx="3788359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「已授權的 JavaScript 來源」按兩次「新增 URI」（Add URI）</a:t>
            </a:r>
            <a:endParaRPr lang="zh-TW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7854696" y="3297936"/>
            <a:ext cx="37883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tx2"/>
                </a:solidFill>
              </a:rPr>
              <a:t>各貼一個。只有網域，最後不要加「/」。</a:t>
            </a:r>
            <a:endParaRPr lang="zh-TW" sz="1200" dirty="0"/>
          </a:p>
        </p:txBody>
      </p:sp>
      <p:sp>
        <p:nvSpPr>
          <p:cNvPr id="62" name="paste"/>
          <p:cNvSpPr/>
          <p:nvPr/>
        </p:nvSpPr>
        <p:spPr>
          <a:xfrm>
            <a:off x="7854696" y="3553968"/>
            <a:ext cx="3788359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 w="9525">
            <a:solidFill>
              <a:srgbClr val="E6CF7A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7946136" y="3553968"/>
            <a:ext cx="3184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https://journal-article-memory-tool.vercel.app</a:t>
            </a:r>
            <a:endParaRPr lang="zh-TW" sz="950" dirty="0"/>
          </a:p>
        </p:txBody>
      </p:sp>
      <p:sp>
        <p:nvSpPr>
          <p:cNvPr id="64" name="Text 62"/>
          <p:cNvSpPr txBox="1"/>
          <p:nvPr/>
        </p:nvSpPr>
        <p:spPr>
          <a:xfrm>
            <a:off x="11167567" y="3553968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50" b="1" dirty="0">
                <a:solidFill>
                  <a:schemeClr val="tx2"/>
                </a:solidFill>
              </a:rPr>
              <a:t>貼上</a:t>
            </a:r>
            <a:endParaRPr lang="zh-TW" sz="950" dirty="0"/>
          </a:p>
        </p:txBody>
      </p:sp>
      <p:sp>
        <p:nvSpPr>
          <p:cNvPr id="65" name="paste"/>
          <p:cNvSpPr/>
          <p:nvPr/>
        </p:nvSpPr>
        <p:spPr>
          <a:xfrm>
            <a:off x="7854696" y="3919728"/>
            <a:ext cx="3788359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 w="9525">
            <a:solidFill>
              <a:srgbClr val="E6CF7A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7946136" y="3919728"/>
            <a:ext cx="3184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https://charleslin2003-prog.github.io</a:t>
            </a:r>
            <a:endParaRPr lang="zh-TW" sz="1150" dirty="0"/>
          </a:p>
        </p:txBody>
      </p:sp>
      <p:sp>
        <p:nvSpPr>
          <p:cNvPr id="67" name="Text 65"/>
          <p:cNvSpPr txBox="1"/>
          <p:nvPr/>
        </p:nvSpPr>
        <p:spPr>
          <a:xfrm>
            <a:off x="11167567" y="3919728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50" b="1" dirty="0">
                <a:solidFill>
                  <a:schemeClr val="tx2"/>
                </a:solidFill>
              </a:rPr>
              <a:t>貼上</a:t>
            </a:r>
            <a:endParaRPr lang="zh-TW" sz="950" dirty="0"/>
          </a:p>
        </p:txBody>
      </p:sp>
      <p:sp>
        <p:nvSpPr>
          <p:cNvPr id="68" name="marker-4"/>
          <p:cNvSpPr/>
          <p:nvPr/>
        </p:nvSpPr>
        <p:spPr>
          <a:xfrm>
            <a:off x="7452360" y="4376928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9" name="marker-4-text"/>
          <p:cNvSpPr txBox="1"/>
          <p:nvPr/>
        </p:nvSpPr>
        <p:spPr>
          <a:xfrm>
            <a:off x="7452360" y="43769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4</a:t>
            </a:r>
            <a:endParaRPr lang="zh-TW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7854696" y="4367784"/>
            <a:ext cx="3788359" cy="252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「已授權的重新導向 URI」留空</a:t>
            </a:r>
            <a:endParaRPr lang="zh-TW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854696" y="4675632"/>
            <a:ext cx="378835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tx2"/>
                </a:solidFill>
              </a:rPr>
              <a:t>也不要勾「Use this client for an AI-powered agent」，建立後就不能改。</a:t>
            </a:r>
            <a:endParaRPr lang="zh-TW" sz="1200" dirty="0"/>
          </a:p>
        </p:txBody>
      </p:sp>
      <p:sp>
        <p:nvSpPr>
          <p:cNvPr id="72" name="marker-5"/>
          <p:cNvSpPr/>
          <p:nvPr/>
        </p:nvSpPr>
        <p:spPr>
          <a:xfrm>
            <a:off x="7452360" y="5224272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3" name="marker-5-text"/>
          <p:cNvSpPr txBox="1"/>
          <p:nvPr/>
        </p:nvSpPr>
        <p:spPr>
          <a:xfrm>
            <a:off x="7452360" y="5224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5</a:t>
            </a:r>
            <a:endParaRPr lang="zh-TW" sz="1200" dirty="0"/>
          </a:p>
        </p:txBody>
      </p:sp>
      <p:sp>
        <p:nvSpPr>
          <p:cNvPr id="74" name="Text 72"/>
          <p:cNvSpPr txBox="1"/>
          <p:nvPr/>
        </p:nvSpPr>
        <p:spPr>
          <a:xfrm>
            <a:off x="7854696" y="5215128"/>
            <a:ext cx="3788359" cy="252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按「建立」，複製「用戶端 ID」</a:t>
            </a:r>
            <a:endParaRPr lang="zh-TW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7854696" y="5522976"/>
            <a:ext cx="378835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tx2"/>
                </a:solidFill>
              </a:rPr>
              <a:t>結尾是 .apps.googleusercontent.com。用戶端密鑰（Client secret）用不到，也不用下載 JSON。</a:t>
            </a:r>
            <a:endParaRPr lang="zh-TW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2764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A5　論憶</a:t>
            </a:r>
            <a:endParaRPr lang="zh-TW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0350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先在自己的瀏覽器貼上用戶端 ID 試用</a:t>
            </a:r>
            <a:endParaRPr lang="zh-TW" sz="2800" dirty="0"/>
          </a:p>
        </p:txBody>
      </p:sp>
      <p:sp>
        <p:nvSpPr>
          <p:cNvPr id="4" name="_login-alert.png-frame"/>
          <p:cNvSpPr/>
          <p:nvPr/>
        </p:nvSpPr>
        <p:spPr>
          <a:xfrm>
            <a:off x="548640" y="1481328"/>
            <a:ext cx="4023360" cy="1872778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5" name="_login-alert.png" descr="_login-ale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4023360" cy="1872778"/>
          </a:xfrm>
          <a:prstGeom prst="rect">
            <a:avLst/>
          </a:prstGeom>
        </p:spPr>
      </p:pic>
      <p:sp>
        <p:nvSpPr>
          <p:cNvPr id="6" name="hl-1"/>
          <p:cNvSpPr/>
          <p:nvPr/>
        </p:nvSpPr>
        <p:spPr>
          <a:xfrm>
            <a:off x="866067" y="1629752"/>
            <a:ext cx="3388505" cy="495703"/>
          </a:xfrm>
          <a:prstGeom prst="roundRect">
            <a:avLst>
              <a:gd name="adj" fmla="val 11068"/>
            </a:avLst>
          </a:prstGeom>
          <a:ln w="28575">
            <a:solidFill>
              <a:schemeClr val="accent3"/>
            </a:solidFill>
            <a:prstDash val="solid"/>
          </a:ln>
        </p:spPr>
      </p:sp>
      <p:sp>
        <p:nvSpPr>
          <p:cNvPr id="7" name="marker-1"/>
          <p:cNvSpPr/>
          <p:nvPr/>
        </p:nvSpPr>
        <p:spPr>
          <a:xfrm>
            <a:off x="4291149" y="1722156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marker-1-text"/>
          <p:cNvSpPr txBox="1"/>
          <p:nvPr/>
        </p:nvSpPr>
        <p:spPr>
          <a:xfrm>
            <a:off x="4291149" y="17221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9" name="hl-2"/>
          <p:cNvSpPr/>
          <p:nvPr/>
        </p:nvSpPr>
        <p:spPr>
          <a:xfrm>
            <a:off x="999744" y="2997651"/>
            <a:ext cx="2153630" cy="235882"/>
          </a:xfrm>
          <a:prstGeom prst="roundRect">
            <a:avLst>
              <a:gd name="adj" fmla="val 23259"/>
            </a:avLst>
          </a:prstGeom>
          <a:ln w="28575">
            <a:solidFill>
              <a:schemeClr val="accent3"/>
            </a:solidFill>
            <a:prstDash val="solid"/>
          </a:ln>
        </p:spPr>
      </p:sp>
      <p:sp>
        <p:nvSpPr>
          <p:cNvPr id="10" name="marker-2"/>
          <p:cNvSpPr/>
          <p:nvPr/>
        </p:nvSpPr>
        <p:spPr>
          <a:xfrm>
            <a:off x="3189950" y="2960144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marker-2-text"/>
          <p:cNvSpPr txBox="1"/>
          <p:nvPr/>
        </p:nvSpPr>
        <p:spPr>
          <a:xfrm>
            <a:off x="3189950" y="29601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3463834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00" b="1" dirty="0">
                <a:solidFill>
                  <a:schemeClr val="accent3"/>
                </a:solidFill>
              </a:rPr>
              <a:t>↓ 打開「設定與備份 → 進階」</a:t>
            </a:r>
            <a:endParaRPr lang="zh-TW" sz="1200" dirty="0"/>
          </a:p>
        </p:txBody>
      </p:sp>
      <p:sp>
        <p:nvSpPr>
          <p:cNvPr id="13" name="card-client.png-frame"/>
          <p:cNvSpPr/>
          <p:nvPr/>
        </p:nvSpPr>
        <p:spPr>
          <a:xfrm>
            <a:off x="548640" y="3857026"/>
            <a:ext cx="6629400" cy="1956742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4" name="card-client.png" descr="card-cli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57026"/>
            <a:ext cx="6629400" cy="1956742"/>
          </a:xfrm>
          <a:prstGeom prst="rect">
            <a:avLst/>
          </a:prstGeom>
        </p:spPr>
      </p:pic>
      <p:sp>
        <p:nvSpPr>
          <p:cNvPr id="15" name="hl-3"/>
          <p:cNvSpPr/>
          <p:nvPr/>
        </p:nvSpPr>
        <p:spPr>
          <a:xfrm>
            <a:off x="681597" y="4788519"/>
            <a:ext cx="6363487" cy="473304"/>
          </a:xfrm>
          <a:prstGeom prst="roundRect">
            <a:avLst>
              <a:gd name="adj" fmla="val 11592"/>
            </a:avLst>
          </a:prstGeom>
          <a:ln w="28575">
            <a:solidFill>
              <a:schemeClr val="accent3"/>
            </a:solidFill>
            <a:prstDash val="solid"/>
          </a:ln>
        </p:spPr>
      </p:sp>
      <p:sp>
        <p:nvSpPr>
          <p:cNvPr id="16" name="marker-3"/>
          <p:cNvSpPr/>
          <p:nvPr/>
        </p:nvSpPr>
        <p:spPr>
          <a:xfrm>
            <a:off x="334125" y="4869723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marker-3-text"/>
          <p:cNvSpPr txBox="1"/>
          <p:nvPr/>
        </p:nvSpPr>
        <p:spPr>
          <a:xfrm>
            <a:off x="334125" y="486972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18" name="hl-4"/>
          <p:cNvSpPr/>
          <p:nvPr/>
        </p:nvSpPr>
        <p:spPr>
          <a:xfrm>
            <a:off x="681597" y="5292792"/>
            <a:ext cx="610878" cy="387470"/>
          </a:xfrm>
          <a:prstGeom prst="roundRect">
            <a:avLst>
              <a:gd name="adj" fmla="val 14160"/>
            </a:avLst>
          </a:prstGeom>
          <a:ln w="28575">
            <a:solidFill>
              <a:schemeClr val="accent3"/>
            </a:solidFill>
            <a:prstDash val="solid"/>
          </a:ln>
        </p:spPr>
      </p:sp>
      <p:sp>
        <p:nvSpPr>
          <p:cNvPr id="19" name="marker-4"/>
          <p:cNvSpPr/>
          <p:nvPr/>
        </p:nvSpPr>
        <p:spPr>
          <a:xfrm>
            <a:off x="1329051" y="5331079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marker-4-text"/>
          <p:cNvSpPr txBox="1"/>
          <p:nvPr/>
        </p:nvSpPr>
        <p:spPr>
          <a:xfrm>
            <a:off x="1329051" y="533107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4</a:t>
            </a:r>
            <a:endParaRPr lang="zh-TW" sz="1200" dirty="0"/>
          </a:p>
        </p:txBody>
      </p:sp>
      <p:sp>
        <p:nvSpPr>
          <p:cNvPr id="21" name="tag-real"/>
          <p:cNvSpPr/>
          <p:nvPr/>
        </p:nvSpPr>
        <p:spPr>
          <a:xfrm>
            <a:off x="548640" y="5886921"/>
            <a:ext cx="868680" cy="25603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48640" y="5886921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chemeClr val="bg1"/>
                </a:solidFill>
              </a:rPr>
              <a:t>實際畫面</a:t>
            </a:r>
            <a:endParaRPr lang="zh-TW" sz="1000" dirty="0"/>
          </a:p>
        </p:txBody>
      </p:sp>
      <p:sp>
        <p:nvSpPr>
          <p:cNvPr id="23" name="marker-1"/>
          <p:cNvSpPr/>
          <p:nvPr/>
        </p:nvSpPr>
        <p:spPr>
          <a:xfrm>
            <a:off x="7452360" y="147218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marker-1-text"/>
          <p:cNvSpPr txBox="1"/>
          <p:nvPr/>
        </p:nvSpPr>
        <p:spPr>
          <a:xfrm>
            <a:off x="7452360" y="14721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7854696" y="1463040"/>
            <a:ext cx="3788359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按左上角頭像，在登入視窗先按灰色的「繼續使用 Google」</a:t>
            </a:r>
            <a:endParaRPr lang="zh-TW" sz="1450" dirty="0"/>
          </a:p>
        </p:txBody>
      </p:sp>
      <p:sp>
        <p:nvSpPr>
          <p:cNvPr id="26" name="Text 22"/>
          <p:cNvSpPr txBox="1"/>
          <p:nvPr/>
        </p:nvSpPr>
        <p:spPr>
          <a:xfrm>
            <a:off x="7854696" y="2022348"/>
            <a:ext cx="3788359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這時還不能登入，會跳出紅色提示框。</a:t>
            </a:r>
            <a:endParaRPr lang="zh-TW" sz="1250" dirty="0"/>
          </a:p>
        </p:txBody>
      </p:sp>
      <p:sp>
        <p:nvSpPr>
          <p:cNvPr id="27" name="marker-2"/>
          <p:cNvSpPr/>
          <p:nvPr/>
        </p:nvSpPr>
        <p:spPr>
          <a:xfrm>
            <a:off x="7452360" y="2442210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marker-2-text"/>
          <p:cNvSpPr txBox="1"/>
          <p:nvPr/>
        </p:nvSpPr>
        <p:spPr>
          <a:xfrm>
            <a:off x="7452360" y="244221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29" name="Text 25"/>
          <p:cNvSpPr txBox="1"/>
          <p:nvPr/>
        </p:nvSpPr>
        <p:spPr>
          <a:xfrm>
            <a:off x="7854696" y="2433066"/>
            <a:ext cx="3788359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點紅框裡的「我是網站管理者：在這台瀏覽器先試用」</a:t>
            </a:r>
            <a:endParaRPr lang="zh-TW" sz="1450" dirty="0"/>
          </a:p>
        </p:txBody>
      </p:sp>
      <p:sp>
        <p:nvSpPr>
          <p:cNvPr id="30" name="Text 26"/>
          <p:cNvSpPr txBox="1"/>
          <p:nvPr/>
        </p:nvSpPr>
        <p:spPr>
          <a:xfrm>
            <a:off x="7854696" y="2992374"/>
            <a:ext cx="3788359" cy="646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會打開「設定與備份」→「進階」。也可以自己從左側進去，捲到最下面的「Google OAuth 用戶端 ID」卡片。</a:t>
            </a:r>
            <a:endParaRPr lang="zh-TW" sz="1250" dirty="0"/>
          </a:p>
        </p:txBody>
      </p:sp>
      <p:sp>
        <p:nvSpPr>
          <p:cNvPr id="31" name="marker-3"/>
          <p:cNvSpPr/>
          <p:nvPr/>
        </p:nvSpPr>
        <p:spPr>
          <a:xfrm>
            <a:off x="7452360" y="3831336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marker-3-text"/>
          <p:cNvSpPr txBox="1"/>
          <p:nvPr/>
        </p:nvSpPr>
        <p:spPr>
          <a:xfrm>
            <a:off x="7452360" y="3831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33" name="Text 29"/>
          <p:cNvSpPr txBox="1"/>
          <p:nvPr/>
        </p:nvSpPr>
        <p:spPr>
          <a:xfrm>
            <a:off x="7854696" y="3822192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在「Google OAuth 用戶端 ID」貼上 ID</a:t>
            </a:r>
            <a:endParaRPr lang="zh-TW" sz="1450" dirty="0"/>
          </a:p>
        </p:txBody>
      </p:sp>
      <p:sp>
        <p:nvSpPr>
          <p:cNvPr id="34" name="Text 30"/>
          <p:cNvSpPr txBox="1"/>
          <p:nvPr/>
        </p:nvSpPr>
        <p:spPr>
          <a:xfrm>
            <a:off x="7854696" y="4138422"/>
            <a:ext cx="3788359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就是 A4 複製的那一串。</a:t>
            </a:r>
            <a:endParaRPr lang="zh-TW" sz="1250" dirty="0"/>
          </a:p>
        </p:txBody>
      </p:sp>
      <p:sp>
        <p:nvSpPr>
          <p:cNvPr id="35" name="paste"/>
          <p:cNvSpPr/>
          <p:nvPr/>
        </p:nvSpPr>
        <p:spPr>
          <a:xfrm>
            <a:off x="7854696" y="4402836"/>
            <a:ext cx="3788359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 w="9525">
            <a:solidFill>
              <a:srgbClr val="E6CF7A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7946136" y="4402836"/>
            <a:ext cx="289224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123456789-xxxx.apps.googleusercontent.com</a:t>
            </a:r>
            <a:endParaRPr lang="zh-TW" sz="950" dirty="0"/>
          </a:p>
        </p:txBody>
      </p:sp>
      <p:sp>
        <p:nvSpPr>
          <p:cNvPr id="37" name="Text 33"/>
          <p:cNvSpPr txBox="1"/>
          <p:nvPr/>
        </p:nvSpPr>
        <p:spPr>
          <a:xfrm>
            <a:off x="10874959" y="44028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50" b="1" dirty="0">
                <a:solidFill>
                  <a:schemeClr val="accent3"/>
                </a:solidFill>
              </a:rPr>
              <a:t>換成你的</a:t>
            </a:r>
            <a:endParaRPr lang="zh-TW" sz="950" dirty="0"/>
          </a:p>
        </p:txBody>
      </p:sp>
      <p:sp>
        <p:nvSpPr>
          <p:cNvPr id="38" name="marker-4"/>
          <p:cNvSpPr/>
          <p:nvPr/>
        </p:nvSpPr>
        <p:spPr>
          <a:xfrm>
            <a:off x="7452360" y="492404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marker-4-text"/>
          <p:cNvSpPr txBox="1"/>
          <p:nvPr/>
        </p:nvSpPr>
        <p:spPr>
          <a:xfrm>
            <a:off x="7452360" y="49240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4</a:t>
            </a:r>
            <a:endParaRPr lang="zh-TW" sz="1200" dirty="0"/>
          </a:p>
        </p:txBody>
      </p:sp>
      <p:sp>
        <p:nvSpPr>
          <p:cNvPr id="40" name="Text 36"/>
          <p:cNvSpPr txBox="1"/>
          <p:nvPr/>
        </p:nvSpPr>
        <p:spPr>
          <a:xfrm>
            <a:off x="7854696" y="4914900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按「儲存」</a:t>
            </a:r>
            <a:endParaRPr lang="zh-TW" sz="1450" dirty="0"/>
          </a:p>
        </p:txBody>
      </p:sp>
      <p:sp>
        <p:nvSpPr>
          <p:cNvPr id="41" name="Text 37"/>
          <p:cNvSpPr txBox="1"/>
          <p:nvPr/>
        </p:nvSpPr>
        <p:spPr>
          <a:xfrm>
            <a:off x="7854696" y="5231130"/>
            <a:ext cx="3788359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畫面提示「已儲存 Google 用戶端 ID」。這裡填的只對這台瀏覽器有效，其他人還不能用。</a:t>
            </a:r>
            <a:endParaRPr lang="zh-TW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2764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A6　論憶</a:t>
            </a:r>
            <a:endParaRPr lang="zh-TW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0350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確認登得進去，再把 ID 寫進程式給所有人用</a:t>
            </a:r>
            <a:endParaRPr lang="zh-TW" sz="2800" dirty="0"/>
          </a:p>
        </p:txBody>
      </p:sp>
      <p:sp>
        <p:nvSpPr>
          <p:cNvPr id="4" name="login-on.png-frame"/>
          <p:cNvSpPr/>
          <p:nvPr/>
        </p:nvSpPr>
        <p:spPr>
          <a:xfrm>
            <a:off x="548640" y="1481328"/>
            <a:ext cx="3383280" cy="3624943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5" name="login-on.png" descr="login-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3383280" cy="3624943"/>
          </a:xfrm>
          <a:prstGeom prst="rect">
            <a:avLst/>
          </a:prstGeom>
        </p:spPr>
      </p:pic>
      <p:sp>
        <p:nvSpPr>
          <p:cNvPr id="6" name="hl-2"/>
          <p:cNvSpPr/>
          <p:nvPr/>
        </p:nvSpPr>
        <p:spPr>
          <a:xfrm>
            <a:off x="802059" y="2865916"/>
            <a:ext cx="2876441" cy="442919"/>
          </a:xfrm>
          <a:prstGeom prst="roundRect">
            <a:avLst>
              <a:gd name="adj" fmla="val 12387"/>
            </a:avLst>
          </a:prstGeom>
          <a:ln w="28575">
            <a:solidFill>
              <a:schemeClr val="accent3"/>
            </a:solidFill>
            <a:prstDash val="solid"/>
          </a:ln>
        </p:spPr>
      </p:sp>
      <p:sp>
        <p:nvSpPr>
          <p:cNvPr id="7" name="marker-2"/>
          <p:cNvSpPr/>
          <p:nvPr/>
        </p:nvSpPr>
        <p:spPr>
          <a:xfrm>
            <a:off x="3715077" y="2931928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marker-2-text"/>
          <p:cNvSpPr txBox="1"/>
          <p:nvPr/>
        </p:nvSpPr>
        <p:spPr>
          <a:xfrm>
            <a:off x="3715077" y="29319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9" name="tag-real"/>
          <p:cNvSpPr/>
          <p:nvPr/>
        </p:nvSpPr>
        <p:spPr>
          <a:xfrm>
            <a:off x="640080" y="5197711"/>
            <a:ext cx="868680" cy="25603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5197711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chemeClr val="bg1"/>
                </a:solidFill>
              </a:rPr>
              <a:t>實際畫面</a:t>
            </a:r>
            <a:endParaRPr lang="zh-TW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251960" y="148132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00" b="1" dirty="0">
                <a:solidFill>
                  <a:schemeClr val="tx2"/>
                </a:solidFill>
              </a:rPr>
              <a:t>src/app.html（搜尋 GOOGLE_CLIENT_ID）</a:t>
            </a:r>
            <a:endParaRPr lang="zh-TW" sz="1100" dirty="0"/>
          </a:p>
        </p:txBody>
      </p:sp>
      <p:sp>
        <p:nvSpPr>
          <p:cNvPr id="12" name="code"/>
          <p:cNvSpPr/>
          <p:nvPr/>
        </p:nvSpPr>
        <p:spPr>
          <a:xfrm>
            <a:off x="4251960" y="1783080"/>
            <a:ext cx="2971800" cy="1097280"/>
          </a:xfrm>
          <a:prstGeom prst="roundRect">
            <a:avLst>
              <a:gd name="adj" fmla="val 5000"/>
            </a:avLst>
          </a:prstGeom>
          <a:solidFill>
            <a:schemeClr val="tx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389120" y="182880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rgbClr val="A8A1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改前</a:t>
            </a:r>
            <a:endParaRPr lang="zh-TW" sz="1050" dirty="0"/>
          </a:p>
          <a:p>
            <a:pPr indent="0" marL="0">
              <a:buNone/>
            </a:pPr>
            <a:r>
              <a:rPr lang="zh-TW" altLang="en-US" sz="1050" dirty="0">
                <a:solidFill>
                  <a:srgbClr val="F4F2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GOOGLE_CLIENT_ID = '';</a:t>
            </a:r>
            <a:endParaRPr lang="zh-TW" sz="1050" dirty="0"/>
          </a:p>
          <a:p>
            <a:pPr indent="0" marL="0">
              <a:buNone/>
            </a:pPr>
            <a:r>
              <a:rPr lang="zh-TW" altLang="en-US" sz="1050" dirty="0">
                <a:solidFill>
                  <a:srgbClr val="A8A1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改後</a:t>
            </a:r>
            <a:endParaRPr lang="zh-TW" sz="1050" dirty="0"/>
          </a:p>
          <a:p>
            <a:pPr indent="0" marL="0">
              <a:buNone/>
            </a:pPr>
            <a:r>
              <a:rPr lang="zh-TW" altLang="en-US" sz="1050" dirty="0">
                <a:solidFill>
                  <a:srgbClr val="FAEC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GOOGLE_CLIENT_ID = '</a:t>
            </a:r>
            <a:pPr indent="0" marL="0">
              <a:buNone/>
            </a:pPr>
            <a:r>
              <a:rPr lang="zh-TW" altLang="en-US" sz="1050" b="1" dirty="0">
                <a:solidFill>
                  <a:srgbClr val="FAEC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你的ID</a:t>
            </a:r>
            <a:pPr indent="0" marL="0">
              <a:buNone/>
            </a:pPr>
            <a:r>
              <a:rPr lang="zh-TW" altLang="en-US" sz="1050" dirty="0">
                <a:solidFill>
                  <a:srgbClr val="FAEC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';</a:t>
            </a:r>
            <a:endParaRPr lang="zh-TW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251960" y="29718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改完執行 python tools/build.py，把 src/app.html 和 index.html 一起 commit，再 push 到 main，Vercel 會自動更新。</a:t>
            </a:r>
            <a:endParaRPr lang="zh-TW" sz="1150" dirty="0"/>
          </a:p>
        </p:txBody>
      </p:sp>
      <p:sp>
        <p:nvSpPr>
          <p:cNvPr id="15" name="note"/>
          <p:cNvSpPr/>
          <p:nvPr/>
        </p:nvSpPr>
        <p:spPr>
          <a:xfrm>
            <a:off x="4251960" y="3794760"/>
            <a:ext cx="2971800" cy="640080"/>
          </a:xfrm>
          <a:prstGeom prst="roundRect">
            <a:avLst>
              <a:gd name="adj" fmla="val 8571"/>
            </a:avLst>
          </a:prstGeom>
          <a:solidFill>
            <a:srgbClr val="EEF4F4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398264" y="3886200"/>
            <a:ext cx="2679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00" dirty="0">
                <a:solidFill>
                  <a:srgbClr val="1D3B3D"/>
                </a:solidFill>
              </a:rPr>
              <a:t>不想自己改程式：把用戶端 ID 直接貼給 Claude，請它寫進程式並發布。</a:t>
            </a:r>
            <a:endParaRPr lang="zh-TW" sz="1200" dirty="0"/>
          </a:p>
        </p:txBody>
      </p:sp>
      <p:sp>
        <p:nvSpPr>
          <p:cNvPr id="17" name="marker-1"/>
          <p:cNvSpPr/>
          <p:nvPr/>
        </p:nvSpPr>
        <p:spPr>
          <a:xfrm>
            <a:off x="7452360" y="147218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marker-1-text"/>
          <p:cNvSpPr txBox="1"/>
          <p:nvPr/>
        </p:nvSpPr>
        <p:spPr>
          <a:xfrm>
            <a:off x="7452360" y="14721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7854696" y="1463040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等 5 分鐘以上</a:t>
            </a:r>
            <a:endParaRPr lang="zh-TW" sz="1450" dirty="0"/>
          </a:p>
        </p:txBody>
      </p:sp>
      <p:sp>
        <p:nvSpPr>
          <p:cNvPr id="20" name="Text 17"/>
          <p:cNvSpPr txBox="1"/>
          <p:nvPr/>
        </p:nvSpPr>
        <p:spPr>
          <a:xfrm>
            <a:off x="7854696" y="1779270"/>
            <a:ext cx="3788359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Google 的設定要 5 分鐘到幾小時才會生效。</a:t>
            </a:r>
            <a:endParaRPr lang="zh-TW" sz="1250" dirty="0"/>
          </a:p>
        </p:txBody>
      </p:sp>
      <p:sp>
        <p:nvSpPr>
          <p:cNvPr id="21" name="marker-2"/>
          <p:cNvSpPr/>
          <p:nvPr/>
        </p:nvSpPr>
        <p:spPr>
          <a:xfrm>
            <a:off x="7452360" y="2235708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marker-2-text"/>
          <p:cNvSpPr txBox="1"/>
          <p:nvPr/>
        </p:nvSpPr>
        <p:spPr>
          <a:xfrm>
            <a:off x="7452360" y="22357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7854696" y="2226564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在 A5 的同一個瀏覽器按「繼續使用 Google」</a:t>
            </a:r>
            <a:endParaRPr lang="zh-TW" sz="1450" dirty="0"/>
          </a:p>
        </p:txBody>
      </p:sp>
      <p:sp>
        <p:nvSpPr>
          <p:cNvPr id="24" name="Text 21"/>
          <p:cNvSpPr txBox="1"/>
          <p:nvPr/>
        </p:nvSpPr>
        <p:spPr>
          <a:xfrm>
            <a:off x="7854696" y="2542794"/>
            <a:ext cx="3788359" cy="856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不要用無痕視窗：無痕視窗沒有 A5 存的 ID。選一個測試使用者的帳號，看到「Google 尚未驗證這個應用程式」時按「繼續」，再按同意。左上角出現你的頭像就成功了。</a:t>
            </a:r>
            <a:endParaRPr lang="zh-TW" sz="1250" dirty="0"/>
          </a:p>
        </p:txBody>
      </p:sp>
      <p:sp>
        <p:nvSpPr>
          <p:cNvPr id="25" name="marker-3"/>
          <p:cNvSpPr/>
          <p:nvPr/>
        </p:nvSpPr>
        <p:spPr>
          <a:xfrm>
            <a:off x="7452360" y="3627882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marker-3-text"/>
          <p:cNvSpPr txBox="1"/>
          <p:nvPr/>
        </p:nvSpPr>
        <p:spPr>
          <a:xfrm>
            <a:off x="7452360" y="362788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7854696" y="3618738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寫進程式並發布</a:t>
            </a:r>
            <a:endParaRPr lang="zh-TW" sz="1450" dirty="0"/>
          </a:p>
        </p:txBody>
      </p:sp>
      <p:sp>
        <p:nvSpPr>
          <p:cNvPr id="28" name="Text 25"/>
          <p:cNvSpPr txBox="1"/>
          <p:nvPr/>
        </p:nvSpPr>
        <p:spPr>
          <a:xfrm>
            <a:off x="7854696" y="3934968"/>
            <a:ext cx="3788359" cy="646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照左邊的方法，或交給 Claude。發布後開無痕視窗再試一次：不用貼 ID 也能登入，才代表所有人都能用。</a:t>
            </a:r>
            <a:endParaRPr lang="zh-TW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2764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A7　要讓更多人登入</a:t>
            </a:r>
            <a:endParaRPr lang="zh-TW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0350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維持「測試中」，還是「發布應用程式」？</a:t>
            </a:r>
            <a:endParaRPr lang="zh-TW" sz="2800" dirty="0"/>
          </a:p>
        </p:txBody>
      </p:sp>
      <p:graphicFrame>
        <p:nvGraphicFramePr>
          <p:cNvPr id="11" name="publish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434840"/>
                <a:gridCol w="455371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zh-TW" sz="1300" dirty="0"/>
                    </a:p>
                  </a:txBody>
                  <a:tcPr marL="128016" marR="128016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300" b="1" dirty="0">
                          <a:solidFill>
                            <a:schemeClr val="bg1"/>
                          </a:solidFill>
                        </a:rPr>
                        <a:t>維持「測試中」（Testing）</a:t>
                      </a:r>
                      <a:endParaRPr lang="zh-TW" sz="1300" dirty="0"/>
                    </a:p>
                  </a:txBody>
                  <a:tcPr marL="128016" marR="128016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300" b="1" dirty="0">
                          <a:solidFill>
                            <a:schemeClr val="bg1"/>
                          </a:solidFill>
                        </a:rPr>
                        <a:t>按「發布應用程式」（Publish app）</a:t>
                      </a:r>
                      <a:endParaRPr lang="zh-TW" sz="1300" dirty="0"/>
                    </a:p>
                  </a:txBody>
                  <a:tcPr marL="128016" marR="128016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250" b="1" dirty="0">
                          <a:solidFill>
                            <a:schemeClr val="tx1"/>
                          </a:solidFill>
                        </a:rPr>
                        <a:t>誰能登入</a:t>
                      </a:r>
                      <a:endParaRPr lang="zh-TW" sz="1250" dirty="0"/>
                    </a:p>
                  </a:txBody>
                  <a:tcPr marL="128016" marR="128016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250" dirty="0">
                          <a:solidFill>
                            <a:schemeClr val="tx1"/>
                          </a:solidFill>
                        </a:rPr>
                        <a:t>只有測試使用者名單上的人（最多 100 人）</a:t>
                      </a:r>
                      <a:endParaRPr lang="zh-TW" sz="1250" dirty="0"/>
                    </a:p>
                  </a:txBody>
                  <a:tcPr marL="128016" marR="128016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250" dirty="0">
                          <a:solidFill>
                            <a:schemeClr val="tx1"/>
                          </a:solidFill>
                        </a:rPr>
                        <a:t>任何 Google 帳號</a:t>
                      </a:r>
                      <a:endParaRPr lang="zh-TW" sz="1250" dirty="0"/>
                    </a:p>
                  </a:txBody>
                  <a:tcPr marL="128016" marR="128016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250" b="1" dirty="0">
                          <a:solidFill>
                            <a:schemeClr val="tx1"/>
                          </a:solidFill>
                        </a:rPr>
                        <a:t>要不要送 Google 審查</a:t>
                      </a:r>
                      <a:endParaRPr lang="zh-TW" sz="1250" dirty="0"/>
                    </a:p>
                  </a:txBody>
                  <a:tcPr marL="128016" marR="128016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250" dirty="0">
                          <a:solidFill>
                            <a:schemeClr val="tx1"/>
                          </a:solidFill>
                        </a:rPr>
                        <a:t>不用</a:t>
                      </a:r>
                      <a:endParaRPr lang="zh-TW" sz="1250" dirty="0"/>
                    </a:p>
                  </a:txBody>
                  <a:tcPr marL="128016" marR="128016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250" dirty="0">
                          <a:solidFill>
                            <a:schemeClr val="tx1"/>
                          </a:solidFill>
                        </a:rPr>
                        <a:t>只用登入、雲端硬碟同步、匯出文件：不用。</a:t>
                      </a:r>
                      <a:endParaRPr lang="zh-TW" sz="1250" dirty="0"/>
                    </a:p>
                    <a:p>
                      <a:pPr indent="0" marL="0">
                        <a:buNone/>
                      </a:pPr>
                      <a:r>
                        <a:rPr lang="zh-TW" altLang="en-US" sz="1250" dirty="0">
                          <a:solidFill>
                            <a:schemeClr val="tx1"/>
                          </a:solidFill>
                        </a:rPr>
                        <a:t>「匯入 PDF」「排入日曆」要通過驗證才不會跳警告。</a:t>
                      </a:r>
                      <a:endParaRPr lang="zh-TW" sz="1250" dirty="0"/>
                    </a:p>
                  </a:txBody>
                  <a:tcPr marL="128016" marR="128016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250" b="1" dirty="0">
                          <a:solidFill>
                            <a:schemeClr val="tx1"/>
                          </a:solidFill>
                        </a:rPr>
                        <a:t>使用者會看到</a:t>
                      </a:r>
                      <a:endParaRPr lang="zh-TW" sz="1250" dirty="0"/>
                    </a:p>
                  </a:txBody>
                  <a:tcPr marL="128016" marR="128016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250" dirty="0">
                          <a:solidFill>
                            <a:schemeClr val="tx1"/>
                          </a:solidFill>
                        </a:rPr>
                        <a:t>「Google 尚未驗證這個應用程式」，按「繼續」。</a:t>
                      </a:r>
                      <a:endParaRPr lang="zh-TW" sz="1250" dirty="0"/>
                    </a:p>
                    <a:p>
                      <a:pPr indent="0" marL="0">
                        <a:buNone/>
                      </a:pPr>
                      <a:r>
                        <a:rPr lang="zh-TW" altLang="en-US" sz="1250" dirty="0">
                          <a:solidFill>
                            <a:schemeClr val="tx1"/>
                          </a:solidFill>
                        </a:rPr>
                        <a:t>同意 7 天後要再按一次。</a:t>
                      </a:r>
                      <a:endParaRPr lang="zh-TW" sz="1250" dirty="0"/>
                    </a:p>
                  </a:txBody>
                  <a:tcPr marL="128016" marR="128016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250" dirty="0">
                          <a:solidFill>
                            <a:schemeClr val="tx1"/>
                          </a:solidFill>
                        </a:rPr>
                        <a:t>匯入 PDF（受限權限）、排入日曆（敏感權限）在驗證前會跳出未驗證警告，最多 100 位新使用者。</a:t>
                      </a:r>
                      <a:endParaRPr lang="zh-TW" sz="1250" dirty="0"/>
                    </a:p>
                  </a:txBody>
                  <a:tcPr marL="128016" marR="128016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250" b="1" dirty="0">
                          <a:solidFill>
                            <a:schemeClr val="tx1"/>
                          </a:solidFill>
                        </a:rPr>
                        <a:t>還要準備</a:t>
                      </a:r>
                      <a:endParaRPr lang="zh-TW" sz="1250" dirty="0"/>
                    </a:p>
                  </a:txBody>
                  <a:tcPr marL="128016" marR="128016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250" dirty="0">
                          <a:solidFill>
                            <a:schemeClr val="tx1"/>
                          </a:solidFill>
                        </a:rPr>
                        <a:t>把要登入的人加進名單</a:t>
                      </a:r>
                      <a:endParaRPr lang="zh-TW" sz="1250" dirty="0"/>
                    </a:p>
                  </a:txBody>
                  <a:tcPr marL="128016" marR="128016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250" dirty="0">
                          <a:solidFill>
                            <a:schemeClr val="tx1"/>
                          </a:solidFill>
                        </a:rPr>
                        <a:t>首頁與隱私權政策連結（外部應用程式上線必備）</a:t>
                      </a:r>
                      <a:endParaRPr lang="zh-TW" sz="1250" dirty="0"/>
                    </a:p>
                  </a:txBody>
                  <a:tcPr marL="128016" marR="128016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250" b="1" dirty="0">
                          <a:solidFill>
                            <a:schemeClr val="tx1"/>
                          </a:solidFill>
                        </a:rPr>
                        <a:t>適合</a:t>
                      </a:r>
                      <a:endParaRPr lang="zh-TW" sz="1250" dirty="0"/>
                    </a:p>
                  </a:txBody>
                  <a:tcPr marL="128016" marR="128016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250" dirty="0">
                          <a:solidFill>
                            <a:schemeClr val="tx1"/>
                          </a:solidFill>
                        </a:rPr>
                        <a:t>課堂展示、期末報告（建議）</a:t>
                      </a:r>
                      <a:endParaRPr lang="zh-TW" sz="1250" dirty="0"/>
                    </a:p>
                  </a:txBody>
                  <a:tcPr marL="128016" marR="128016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250" dirty="0">
                          <a:solidFill>
                            <a:schemeClr val="tx1"/>
                          </a:solidFill>
                        </a:rPr>
                        <a:t>真的要公開給所有人時</a:t>
                      </a:r>
                      <a:endParaRPr lang="zh-TW" sz="1250" dirty="0"/>
                    </a:p>
                  </a:txBody>
                  <a:tcPr marL="128016" marR="128016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note"/>
          <p:cNvSpPr/>
          <p:nvPr/>
        </p:nvSpPr>
        <p:spPr>
          <a:xfrm>
            <a:off x="548640" y="5394960"/>
            <a:ext cx="11094415" cy="430530"/>
          </a:xfrm>
          <a:prstGeom prst="roundRect">
            <a:avLst>
              <a:gd name="adj" fmla="val 12743"/>
            </a:avLst>
          </a:prstGeom>
          <a:solidFill>
            <a:srgbClr val="EEF4F4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94944" y="5486400"/>
            <a:ext cx="1080180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50" dirty="0">
                <a:solidFill>
                  <a:srgbClr val="1D3B3D"/>
                </a:solidFill>
              </a:rPr>
              <a:t>在哪裡切換：Google Auth Platform →「目標對象」（Audience）→「發布狀態」。Google 會刪除連續 6 個月沒用的用戶端，久沒用先確認還在。</a:t>
            </a:r>
            <a:endParaRPr lang="zh-TW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2764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B1　Claude Console</a:t>
            </a:r>
            <a:endParaRPr lang="zh-TW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0350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先儲值、建立工作區，並設定每月花費上限</a:t>
            </a:r>
            <a:endParaRPr lang="zh-TW" sz="2800" dirty="0"/>
          </a:p>
        </p:txBody>
      </p:sp>
      <p:sp>
        <p:nvSpPr>
          <p:cNvPr id="4" name="mock-window"/>
          <p:cNvSpPr/>
          <p:nvPr/>
        </p:nvSpPr>
        <p:spPr>
          <a:xfrm>
            <a:off x="548640" y="1463040"/>
            <a:ext cx="658368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2700">
            <a:solidFill>
              <a:srgbClr val="C9C3B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mock-bar"/>
          <p:cNvSpPr/>
          <p:nvPr/>
        </p:nvSpPr>
        <p:spPr>
          <a:xfrm>
            <a:off x="557784" y="1472184"/>
            <a:ext cx="65653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" name="Shape 4"/>
          <p:cNvSpPr/>
          <p:nvPr/>
        </p:nvSpPr>
        <p:spPr>
          <a:xfrm>
            <a:off x="694944" y="1600200"/>
            <a:ext cx="109728" cy="109728"/>
          </a:xfrm>
          <a:prstGeom prst="ellipse">
            <a:avLst/>
          </a:prstGeom>
          <a:solidFill>
            <a:srgbClr val="E0685A"/>
          </a:solidFill>
          <a:ln/>
        </p:spPr>
      </p:sp>
      <p:sp>
        <p:nvSpPr>
          <p:cNvPr id="7" name="Shape 5"/>
          <p:cNvSpPr/>
          <p:nvPr/>
        </p:nvSpPr>
        <p:spPr>
          <a:xfrm>
            <a:off x="877824" y="1600200"/>
            <a:ext cx="109728" cy="109728"/>
          </a:xfrm>
          <a:prstGeom prst="ellipse">
            <a:avLst/>
          </a:prstGeom>
          <a:solidFill>
            <a:srgbClr val="E8B44C"/>
          </a:solidFill>
          <a:ln/>
        </p:spPr>
      </p:sp>
      <p:sp>
        <p:nvSpPr>
          <p:cNvPr id="8" name="Shape 6"/>
          <p:cNvSpPr/>
          <p:nvPr/>
        </p:nvSpPr>
        <p:spPr>
          <a:xfrm>
            <a:off x="1060704" y="1600200"/>
            <a:ext cx="109728" cy="109728"/>
          </a:xfrm>
          <a:prstGeom prst="ellipse">
            <a:avLst/>
          </a:prstGeom>
          <a:solidFill>
            <a:srgbClr val="6BB86B"/>
          </a:solidFill>
          <a:ln/>
        </p:spPr>
      </p:sp>
      <p:sp>
        <p:nvSpPr>
          <p:cNvPr id="9" name="Shape 7"/>
          <p:cNvSpPr/>
          <p:nvPr/>
        </p:nvSpPr>
        <p:spPr>
          <a:xfrm>
            <a:off x="1280160" y="1536192"/>
            <a:ext cx="5669280" cy="246888"/>
          </a:xfrm>
          <a:prstGeom prst="roundRect">
            <a:avLst>
              <a:gd name="adj" fmla="val 48148"/>
            </a:avLst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417320" y="153619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platform.claude.com/settings/workspaces</a:t>
            </a:r>
            <a:endParaRPr lang="zh-TW" sz="1000" dirty="0"/>
          </a:p>
        </p:txBody>
      </p:sp>
      <p:sp>
        <p:nvSpPr>
          <p:cNvPr id="11" name="Shape 9"/>
          <p:cNvSpPr/>
          <p:nvPr/>
        </p:nvSpPr>
        <p:spPr>
          <a:xfrm>
            <a:off x="557784" y="1856232"/>
            <a:ext cx="1783080" cy="4078224"/>
          </a:xfrm>
          <a:prstGeom prst="rect">
            <a:avLst/>
          </a:prstGeom>
          <a:solidFill>
            <a:srgbClr val="F7F6F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13232" y="1984248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Usage</a:t>
            </a:r>
            <a:endParaRPr lang="zh-TW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2331720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Cost</a:t>
            </a:r>
            <a:endParaRPr lang="zh-TW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2679192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Billing</a:t>
            </a:r>
            <a:endParaRPr lang="zh-TW" sz="1000" dirty="0"/>
          </a:p>
        </p:txBody>
      </p:sp>
      <p:sp>
        <p:nvSpPr>
          <p:cNvPr id="15" name="Shape 13"/>
          <p:cNvSpPr/>
          <p:nvPr/>
        </p:nvSpPr>
        <p:spPr>
          <a:xfrm>
            <a:off x="640080" y="30266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E4F0F0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3232" y="3026664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accent1"/>
                </a:solidFill>
              </a:rPr>
              <a:t>Workspaces</a:t>
            </a:r>
            <a:endParaRPr lang="zh-TW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" y="3374136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API keys</a:t>
            </a:r>
            <a:endParaRPr lang="zh-TW" sz="1000" dirty="0"/>
          </a:p>
        </p:txBody>
      </p:sp>
      <p:sp>
        <p:nvSpPr>
          <p:cNvPr id="18" name="tag-mock"/>
          <p:cNvSpPr/>
          <p:nvPr/>
        </p:nvSpPr>
        <p:spPr>
          <a:xfrm>
            <a:off x="5212080" y="5559552"/>
            <a:ext cx="17830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12080" y="555955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chemeClr val="accent3"/>
                </a:solidFill>
              </a:rPr>
              <a:t>示意圖・依官方文件整理</a:t>
            </a:r>
            <a:endParaRPr lang="zh-TW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2560320" y="2011680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Workspaces</a:t>
            </a:r>
            <a:endParaRPr lang="zh-TW" sz="1500" dirty="0"/>
          </a:p>
        </p:txBody>
      </p:sp>
      <p:sp>
        <p:nvSpPr>
          <p:cNvPr id="21" name="Shape 19"/>
          <p:cNvSpPr/>
          <p:nvPr/>
        </p:nvSpPr>
        <p:spPr>
          <a:xfrm>
            <a:off x="2560320" y="2414016"/>
            <a:ext cx="173736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 w="28575">
            <a:solidFill>
              <a:schemeClr val="accent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560320" y="2414016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chemeClr val="bg1"/>
                </a:solidFill>
              </a:rPr>
              <a:t>Create workspace</a:t>
            </a:r>
            <a:endParaRPr lang="zh-TW" sz="1050" dirty="0"/>
          </a:p>
        </p:txBody>
      </p:sp>
      <p:sp>
        <p:nvSpPr>
          <p:cNvPr id="23" name="marker-2"/>
          <p:cNvSpPr/>
          <p:nvPr/>
        </p:nvSpPr>
        <p:spPr>
          <a:xfrm>
            <a:off x="4352544" y="2432304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marker-2-text"/>
          <p:cNvSpPr txBox="1"/>
          <p:nvPr/>
        </p:nvSpPr>
        <p:spPr>
          <a:xfrm>
            <a:off x="4352544" y="24323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2560320" y="287121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tx1"/>
                </a:solidFill>
              </a:rPr>
              <a:t>Name</a:t>
            </a:r>
            <a:endParaRPr lang="zh-TW" sz="1000" dirty="0"/>
          </a:p>
        </p:txBody>
      </p:sp>
      <p:sp>
        <p:nvSpPr>
          <p:cNvPr id="26" name="Shape 24"/>
          <p:cNvSpPr/>
          <p:nvPr/>
        </p:nvSpPr>
        <p:spPr>
          <a:xfrm>
            <a:off x="2560320" y="3090672"/>
            <a:ext cx="3291840" cy="310896"/>
          </a:xfrm>
          <a:prstGeom prst="roundRect">
            <a:avLst>
              <a:gd name="adj" fmla="val 11765"/>
            </a:avLst>
          </a:prstGeom>
          <a:solidFill>
            <a:schemeClr val="accent4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651760" y="309067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lunyi</a:t>
            </a:r>
            <a:endParaRPr lang="zh-TW" sz="1050" dirty="0"/>
          </a:p>
        </p:txBody>
      </p:sp>
      <p:sp>
        <p:nvSpPr>
          <p:cNvPr id="28" name="marker-2"/>
          <p:cNvSpPr/>
          <p:nvPr/>
        </p:nvSpPr>
        <p:spPr>
          <a:xfrm>
            <a:off x="5907024" y="3108960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9" name="marker-2-text"/>
          <p:cNvSpPr txBox="1"/>
          <p:nvPr/>
        </p:nvSpPr>
        <p:spPr>
          <a:xfrm>
            <a:off x="5907024" y="3108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2560320" y="3511296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Spend limits（工作區 lunyi）</a:t>
            </a:r>
            <a:endParaRPr lang="zh-TW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2560320" y="3913632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tx1"/>
                </a:solidFill>
              </a:rPr>
              <a:t>Monthly limit　→ 按 Change limit</a:t>
            </a:r>
            <a:endParaRPr lang="zh-TW" sz="1000" dirty="0"/>
          </a:p>
        </p:txBody>
      </p:sp>
      <p:sp>
        <p:nvSpPr>
          <p:cNvPr id="32" name="Shape 30"/>
          <p:cNvSpPr/>
          <p:nvPr/>
        </p:nvSpPr>
        <p:spPr>
          <a:xfrm>
            <a:off x="2560320" y="4133088"/>
            <a:ext cx="3291840" cy="310896"/>
          </a:xfrm>
          <a:prstGeom prst="roundRect">
            <a:avLst>
              <a:gd name="adj" fmla="val 11765"/>
            </a:avLst>
          </a:prstGeom>
          <a:solidFill>
            <a:schemeClr val="accent4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51760" y="413308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</a:rPr>
              <a:t>10（美元，自己決定）</a:t>
            </a:r>
            <a:endParaRPr lang="zh-TW" sz="1050" dirty="0"/>
          </a:p>
        </p:txBody>
      </p:sp>
      <p:sp>
        <p:nvSpPr>
          <p:cNvPr id="34" name="marker-3"/>
          <p:cNvSpPr/>
          <p:nvPr/>
        </p:nvSpPr>
        <p:spPr>
          <a:xfrm>
            <a:off x="5907024" y="4151376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marker-3-text"/>
          <p:cNvSpPr txBox="1"/>
          <p:nvPr/>
        </p:nvSpPr>
        <p:spPr>
          <a:xfrm>
            <a:off x="5907024" y="41513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2560320" y="4553712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tx1"/>
                </a:solidFill>
              </a:rPr>
              <a:t>Email notification　→ 按 + Add notification</a:t>
            </a:r>
            <a:endParaRPr lang="zh-TW" sz="1000" dirty="0"/>
          </a:p>
        </p:txBody>
      </p:sp>
      <p:sp>
        <p:nvSpPr>
          <p:cNvPr id="37" name="Shape 35"/>
          <p:cNvSpPr/>
          <p:nvPr/>
        </p:nvSpPr>
        <p:spPr>
          <a:xfrm>
            <a:off x="2560320" y="4773168"/>
            <a:ext cx="3291840" cy="310896"/>
          </a:xfrm>
          <a:prstGeom prst="roundRect">
            <a:avLst>
              <a:gd name="adj" fmla="val 11765"/>
            </a:avLst>
          </a:prstGeom>
          <a:solidFill>
            <a:schemeClr val="accent4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2651760" y="477316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</a:rPr>
              <a:t>5（美元，先寄信提醒）</a:t>
            </a:r>
            <a:endParaRPr lang="zh-TW" sz="1050" dirty="0"/>
          </a:p>
        </p:txBody>
      </p:sp>
      <p:sp>
        <p:nvSpPr>
          <p:cNvPr id="39" name="marker-3"/>
          <p:cNvSpPr/>
          <p:nvPr/>
        </p:nvSpPr>
        <p:spPr>
          <a:xfrm>
            <a:off x="5907024" y="4791456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0" name="marker-3-text"/>
          <p:cNvSpPr txBox="1"/>
          <p:nvPr/>
        </p:nvSpPr>
        <p:spPr>
          <a:xfrm>
            <a:off x="5907024" y="4791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41" name="marker-1"/>
          <p:cNvSpPr/>
          <p:nvPr/>
        </p:nvSpPr>
        <p:spPr>
          <a:xfrm>
            <a:off x="7452360" y="147218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2" name="marker-1-text"/>
          <p:cNvSpPr txBox="1"/>
          <p:nvPr/>
        </p:nvSpPr>
        <p:spPr>
          <a:xfrm>
            <a:off x="7452360" y="14721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7854696" y="1463040"/>
            <a:ext cx="3788359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登入 platform.claude.com，到 Billing 按 Buy credits</a:t>
            </a:r>
            <a:endParaRPr lang="zh-TW" sz="1450" dirty="0"/>
          </a:p>
        </p:txBody>
      </p:sp>
      <p:sp>
        <p:nvSpPr>
          <p:cNvPr id="44" name="Text 42"/>
          <p:cNvSpPr txBox="1"/>
          <p:nvPr/>
        </p:nvSpPr>
        <p:spPr>
          <a:xfrm>
            <a:off x="7854696" y="2022348"/>
            <a:ext cx="3788359" cy="1066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用 Google 或 Email 登入（舊網址 console.anthropic.com 會自動轉過來）。第一次登入會先問組織名稱與用途，照實填即可。一定要先儲值，餘額用完 AI 就停；不要開 auto-reload，餘額本身就是上限。</a:t>
            </a:r>
            <a:endParaRPr lang="zh-TW" sz="1250" dirty="0"/>
          </a:p>
        </p:txBody>
      </p:sp>
      <p:sp>
        <p:nvSpPr>
          <p:cNvPr id="45" name="marker-2"/>
          <p:cNvSpPr/>
          <p:nvPr/>
        </p:nvSpPr>
        <p:spPr>
          <a:xfrm>
            <a:off x="7452360" y="3316986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marker-2-text"/>
          <p:cNvSpPr txBox="1"/>
          <p:nvPr/>
        </p:nvSpPr>
        <p:spPr>
          <a:xfrm>
            <a:off x="7452360" y="331698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7854696" y="3307842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Workspaces → Create workspace</a:t>
            </a:r>
            <a:endParaRPr lang="zh-TW" sz="1450" dirty="0"/>
          </a:p>
        </p:txBody>
      </p:sp>
      <p:sp>
        <p:nvSpPr>
          <p:cNvPr id="48" name="Text 46"/>
          <p:cNvSpPr txBox="1"/>
          <p:nvPr/>
        </p:nvSpPr>
        <p:spPr>
          <a:xfrm>
            <a:off x="7854696" y="3624072"/>
            <a:ext cx="3788359" cy="646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名稱填 lunyi、選一個顏色，再按一次 Create workspace。「Default Workspace」不能設上限，所以要另外建一個。</a:t>
            </a:r>
            <a:endParaRPr lang="zh-TW" sz="1250" dirty="0"/>
          </a:p>
        </p:txBody>
      </p:sp>
      <p:sp>
        <p:nvSpPr>
          <p:cNvPr id="49" name="marker-3"/>
          <p:cNvSpPr/>
          <p:nvPr/>
        </p:nvSpPr>
        <p:spPr>
          <a:xfrm>
            <a:off x="7452360" y="4499610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0" name="marker-3-text"/>
          <p:cNvSpPr txBox="1"/>
          <p:nvPr/>
        </p:nvSpPr>
        <p:spPr>
          <a:xfrm>
            <a:off x="7452360" y="449961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7854696" y="4490466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點進 lunyi → Spend limits</a:t>
            </a:r>
            <a:endParaRPr lang="zh-TW" sz="1450" dirty="0"/>
          </a:p>
        </p:txBody>
      </p:sp>
      <p:sp>
        <p:nvSpPr>
          <p:cNvPr id="52" name="Text 50"/>
          <p:cNvSpPr txBox="1"/>
          <p:nvPr/>
        </p:nvSpPr>
        <p:spPr>
          <a:xfrm>
            <a:off x="7854696" y="4806696"/>
            <a:ext cx="3788359" cy="646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Monthly limit 按 Change limit 填每月上限；Email notification 按 + Add notification 填提醒金額。上限在每月 1 日台灣時間早上 8 點重新計算。</a:t>
            </a:r>
            <a:endParaRPr lang="zh-TW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2764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B2　Claude Console</a:t>
            </a:r>
            <a:endParaRPr lang="zh-TW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0350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建立金鑰：一定要選工作區 lunyi</a:t>
            </a:r>
            <a:endParaRPr lang="zh-TW" sz="2800" dirty="0"/>
          </a:p>
        </p:txBody>
      </p:sp>
      <p:sp>
        <p:nvSpPr>
          <p:cNvPr id="4" name="mock-window"/>
          <p:cNvSpPr/>
          <p:nvPr/>
        </p:nvSpPr>
        <p:spPr>
          <a:xfrm>
            <a:off x="548640" y="1463040"/>
            <a:ext cx="6583680" cy="4709160"/>
          </a:xfrm>
          <a:prstGeom prst="roundRect">
            <a:avLst>
              <a:gd name="adj" fmla="val 1553"/>
            </a:avLst>
          </a:prstGeom>
          <a:solidFill>
            <a:srgbClr val="FFFFFF"/>
          </a:solidFill>
          <a:ln w="12700">
            <a:solidFill>
              <a:srgbClr val="C9C3B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mock-bar"/>
          <p:cNvSpPr/>
          <p:nvPr/>
        </p:nvSpPr>
        <p:spPr>
          <a:xfrm>
            <a:off x="557784" y="1472184"/>
            <a:ext cx="65653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" name="Shape 4"/>
          <p:cNvSpPr/>
          <p:nvPr/>
        </p:nvSpPr>
        <p:spPr>
          <a:xfrm>
            <a:off x="694944" y="1600200"/>
            <a:ext cx="109728" cy="109728"/>
          </a:xfrm>
          <a:prstGeom prst="ellipse">
            <a:avLst/>
          </a:prstGeom>
          <a:solidFill>
            <a:srgbClr val="E0685A"/>
          </a:solidFill>
          <a:ln/>
        </p:spPr>
      </p:sp>
      <p:sp>
        <p:nvSpPr>
          <p:cNvPr id="7" name="Shape 5"/>
          <p:cNvSpPr/>
          <p:nvPr/>
        </p:nvSpPr>
        <p:spPr>
          <a:xfrm>
            <a:off x="877824" y="1600200"/>
            <a:ext cx="109728" cy="109728"/>
          </a:xfrm>
          <a:prstGeom prst="ellipse">
            <a:avLst/>
          </a:prstGeom>
          <a:solidFill>
            <a:srgbClr val="E8B44C"/>
          </a:solidFill>
          <a:ln/>
        </p:spPr>
      </p:sp>
      <p:sp>
        <p:nvSpPr>
          <p:cNvPr id="8" name="Shape 6"/>
          <p:cNvSpPr/>
          <p:nvPr/>
        </p:nvSpPr>
        <p:spPr>
          <a:xfrm>
            <a:off x="1060704" y="1600200"/>
            <a:ext cx="109728" cy="109728"/>
          </a:xfrm>
          <a:prstGeom prst="ellipse">
            <a:avLst/>
          </a:prstGeom>
          <a:solidFill>
            <a:srgbClr val="6BB86B"/>
          </a:solidFill>
          <a:ln/>
        </p:spPr>
      </p:sp>
      <p:sp>
        <p:nvSpPr>
          <p:cNvPr id="9" name="Shape 7"/>
          <p:cNvSpPr/>
          <p:nvPr/>
        </p:nvSpPr>
        <p:spPr>
          <a:xfrm>
            <a:off x="1280160" y="1536192"/>
            <a:ext cx="5669280" cy="246888"/>
          </a:xfrm>
          <a:prstGeom prst="roundRect">
            <a:avLst>
              <a:gd name="adj" fmla="val 48148"/>
            </a:avLst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417320" y="153619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platform.claude.com/settings/keys</a:t>
            </a:r>
            <a:endParaRPr lang="zh-TW" sz="1000" dirty="0"/>
          </a:p>
        </p:txBody>
      </p:sp>
      <p:sp>
        <p:nvSpPr>
          <p:cNvPr id="11" name="Shape 9"/>
          <p:cNvSpPr/>
          <p:nvPr/>
        </p:nvSpPr>
        <p:spPr>
          <a:xfrm>
            <a:off x="557784" y="1856232"/>
            <a:ext cx="1783080" cy="4306824"/>
          </a:xfrm>
          <a:prstGeom prst="rect">
            <a:avLst/>
          </a:prstGeom>
          <a:solidFill>
            <a:srgbClr val="F7F6F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13232" y="1984248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Usage</a:t>
            </a:r>
            <a:endParaRPr lang="zh-TW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2331720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Cost</a:t>
            </a:r>
            <a:endParaRPr lang="zh-TW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2679192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Billing</a:t>
            </a:r>
            <a:endParaRPr lang="zh-TW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713232" y="3026664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Workspaces</a:t>
            </a:r>
            <a:endParaRPr lang="zh-TW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3374136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E4F0F0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13232" y="3374136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accent1"/>
                </a:solidFill>
              </a:rPr>
              <a:t>API keys</a:t>
            </a:r>
            <a:endParaRPr lang="zh-TW" sz="1000" dirty="0"/>
          </a:p>
        </p:txBody>
      </p:sp>
      <p:sp>
        <p:nvSpPr>
          <p:cNvPr id="18" name="tag-mock"/>
          <p:cNvSpPr/>
          <p:nvPr/>
        </p:nvSpPr>
        <p:spPr>
          <a:xfrm>
            <a:off x="5212080" y="5788152"/>
            <a:ext cx="17830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12080" y="578815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chemeClr val="accent3"/>
                </a:solidFill>
              </a:rPr>
              <a:t>示意圖・依官方文件整理</a:t>
            </a:r>
            <a:endParaRPr lang="zh-TW" sz="1000" dirty="0"/>
          </a:p>
        </p:txBody>
      </p:sp>
      <p:sp>
        <p:nvSpPr>
          <p:cNvPr id="20" name="Shape 18"/>
          <p:cNvSpPr/>
          <p:nvPr/>
        </p:nvSpPr>
        <p:spPr>
          <a:xfrm>
            <a:off x="2560320" y="2011680"/>
            <a:ext cx="137160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 w="28575">
            <a:solidFill>
              <a:schemeClr val="accent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560320" y="201168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chemeClr val="bg1"/>
                </a:solidFill>
              </a:rPr>
              <a:t>Create key</a:t>
            </a:r>
            <a:endParaRPr lang="zh-TW" sz="1050" dirty="0"/>
          </a:p>
        </p:txBody>
      </p:sp>
      <p:sp>
        <p:nvSpPr>
          <p:cNvPr id="22" name="marker-1"/>
          <p:cNvSpPr/>
          <p:nvPr/>
        </p:nvSpPr>
        <p:spPr>
          <a:xfrm>
            <a:off x="3986784" y="2029968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marker-1-text"/>
          <p:cNvSpPr txBox="1"/>
          <p:nvPr/>
        </p:nvSpPr>
        <p:spPr>
          <a:xfrm>
            <a:off x="3986784" y="20299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560320" y="2468880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tx1"/>
                </a:solidFill>
              </a:rPr>
              <a:t>Name</a:t>
            </a:r>
            <a:endParaRPr lang="zh-TW" sz="1000" dirty="0"/>
          </a:p>
        </p:txBody>
      </p:sp>
      <p:sp>
        <p:nvSpPr>
          <p:cNvPr id="25" name="Shape 23"/>
          <p:cNvSpPr/>
          <p:nvPr/>
        </p:nvSpPr>
        <p:spPr>
          <a:xfrm>
            <a:off x="2560320" y="2688336"/>
            <a:ext cx="3291840" cy="310896"/>
          </a:xfrm>
          <a:prstGeom prst="roundRect">
            <a:avLst>
              <a:gd name="adj" fmla="val 11765"/>
            </a:avLst>
          </a:prstGeom>
          <a:solidFill>
            <a:schemeClr val="accent4"/>
          </a:solidFill>
          <a:ln w="9525">
            <a:solidFill>
              <a:srgbClr val="BDB6A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651760" y="268833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lunyi-vercel</a:t>
            </a:r>
            <a:endParaRPr lang="zh-TW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2560320" y="3108960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tx1"/>
                </a:solidFill>
              </a:rPr>
              <a:t>Linked account</a:t>
            </a:r>
            <a:endParaRPr lang="zh-TW" sz="1000" dirty="0"/>
          </a:p>
        </p:txBody>
      </p:sp>
      <p:sp>
        <p:nvSpPr>
          <p:cNvPr id="28" name="Shape 26"/>
          <p:cNvSpPr/>
          <p:nvPr/>
        </p:nvSpPr>
        <p:spPr>
          <a:xfrm>
            <a:off x="2560320" y="3328416"/>
            <a:ext cx="3291840" cy="310896"/>
          </a:xfrm>
          <a:prstGeom prst="roundRect">
            <a:avLst>
              <a:gd name="adj" fmla="val 11765"/>
            </a:avLst>
          </a:prstGeom>
          <a:solidFill>
            <a:schemeClr val="accent4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651760" y="332841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</a:rPr>
              <a:t>你自己（personal key）</a:t>
            </a:r>
            <a:endParaRPr lang="zh-TW" sz="1050" dirty="0"/>
          </a:p>
        </p:txBody>
      </p:sp>
      <p:sp>
        <p:nvSpPr>
          <p:cNvPr id="30" name="marker-1"/>
          <p:cNvSpPr/>
          <p:nvPr/>
        </p:nvSpPr>
        <p:spPr>
          <a:xfrm>
            <a:off x="5907024" y="3346704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marker-1-text"/>
          <p:cNvSpPr txBox="1"/>
          <p:nvPr/>
        </p:nvSpPr>
        <p:spPr>
          <a:xfrm>
            <a:off x="5907024" y="33467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2560320" y="3749040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tx1"/>
                </a:solidFill>
              </a:rPr>
              <a:t>Workspace</a:t>
            </a:r>
            <a:endParaRPr lang="zh-TW" sz="1000" dirty="0"/>
          </a:p>
        </p:txBody>
      </p:sp>
      <p:sp>
        <p:nvSpPr>
          <p:cNvPr id="33" name="Shape 31"/>
          <p:cNvSpPr/>
          <p:nvPr/>
        </p:nvSpPr>
        <p:spPr>
          <a:xfrm>
            <a:off x="2560320" y="3968496"/>
            <a:ext cx="3291840" cy="310896"/>
          </a:xfrm>
          <a:prstGeom prst="roundRect">
            <a:avLst>
              <a:gd name="adj" fmla="val 11765"/>
            </a:avLst>
          </a:prstGeom>
          <a:solidFill>
            <a:schemeClr val="accent4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51760" y="396849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lunyi</a:t>
            </a:r>
            <a:endParaRPr lang="zh-TW" sz="1050" dirty="0"/>
          </a:p>
        </p:txBody>
      </p:sp>
      <p:sp>
        <p:nvSpPr>
          <p:cNvPr id="35" name="marker-2"/>
          <p:cNvSpPr/>
          <p:nvPr/>
        </p:nvSpPr>
        <p:spPr>
          <a:xfrm>
            <a:off x="5907024" y="3986784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marker-2-text"/>
          <p:cNvSpPr txBox="1"/>
          <p:nvPr/>
        </p:nvSpPr>
        <p:spPr>
          <a:xfrm>
            <a:off x="5907024" y="3986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2560320" y="4389120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tx1"/>
                </a:solidFill>
              </a:rPr>
              <a:t>Expiration</a:t>
            </a:r>
            <a:endParaRPr lang="zh-TW" sz="1000" dirty="0"/>
          </a:p>
        </p:txBody>
      </p:sp>
      <p:sp>
        <p:nvSpPr>
          <p:cNvPr id="38" name="Shape 36"/>
          <p:cNvSpPr/>
          <p:nvPr/>
        </p:nvSpPr>
        <p:spPr>
          <a:xfrm>
            <a:off x="2560320" y="4608576"/>
            <a:ext cx="3291840" cy="310896"/>
          </a:xfrm>
          <a:prstGeom prst="roundRect">
            <a:avLst>
              <a:gd name="adj" fmla="val 11765"/>
            </a:avLst>
          </a:prstGeom>
          <a:solidFill>
            <a:schemeClr val="accent4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651760" y="460857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Never</a:t>
            </a:r>
            <a:endParaRPr lang="zh-TW" sz="1050" dirty="0"/>
          </a:p>
        </p:txBody>
      </p:sp>
      <p:sp>
        <p:nvSpPr>
          <p:cNvPr id="40" name="marker-3"/>
          <p:cNvSpPr/>
          <p:nvPr/>
        </p:nvSpPr>
        <p:spPr>
          <a:xfrm>
            <a:off x="5907024" y="4626864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1" name="marker-3-text"/>
          <p:cNvSpPr txBox="1"/>
          <p:nvPr/>
        </p:nvSpPr>
        <p:spPr>
          <a:xfrm>
            <a:off x="5907024" y="46268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2560320" y="5029200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tx1"/>
                </a:solidFill>
              </a:rPr>
              <a:t>建立後只顯示這一次</a:t>
            </a:r>
            <a:endParaRPr lang="zh-TW" sz="1000" dirty="0"/>
          </a:p>
        </p:txBody>
      </p:sp>
      <p:sp>
        <p:nvSpPr>
          <p:cNvPr id="43" name="Shape 41"/>
          <p:cNvSpPr/>
          <p:nvPr/>
        </p:nvSpPr>
        <p:spPr>
          <a:xfrm>
            <a:off x="2560320" y="5248656"/>
            <a:ext cx="3291840" cy="310896"/>
          </a:xfrm>
          <a:prstGeom prst="roundRect">
            <a:avLst>
              <a:gd name="adj" fmla="val 11765"/>
            </a:avLst>
          </a:prstGeom>
          <a:solidFill>
            <a:schemeClr val="accent4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2651760" y="524865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sk-ant-api03-••••••••</a:t>
            </a:r>
            <a:endParaRPr lang="zh-TW" sz="1050" dirty="0"/>
          </a:p>
        </p:txBody>
      </p:sp>
      <p:sp>
        <p:nvSpPr>
          <p:cNvPr id="45" name="marker-4"/>
          <p:cNvSpPr/>
          <p:nvPr/>
        </p:nvSpPr>
        <p:spPr>
          <a:xfrm>
            <a:off x="5907024" y="5266944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marker-4-text"/>
          <p:cNvSpPr txBox="1"/>
          <p:nvPr/>
        </p:nvSpPr>
        <p:spPr>
          <a:xfrm>
            <a:off x="5907024" y="52669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4</a:t>
            </a:r>
            <a:endParaRPr lang="zh-TW" sz="1200" dirty="0"/>
          </a:p>
        </p:txBody>
      </p:sp>
      <p:sp>
        <p:nvSpPr>
          <p:cNvPr id="47" name="marker-1"/>
          <p:cNvSpPr/>
          <p:nvPr/>
        </p:nvSpPr>
        <p:spPr>
          <a:xfrm>
            <a:off x="7452360" y="147218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marker-1-text"/>
          <p:cNvSpPr txBox="1"/>
          <p:nvPr/>
        </p:nvSpPr>
        <p:spPr>
          <a:xfrm>
            <a:off x="7452360" y="14721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7854696" y="1463040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API keys → Create key</a:t>
            </a:r>
            <a:endParaRPr lang="zh-TW" sz="1450" dirty="0"/>
          </a:p>
        </p:txBody>
      </p:sp>
      <p:sp>
        <p:nvSpPr>
          <p:cNvPr id="50" name="Text 48"/>
          <p:cNvSpPr txBox="1"/>
          <p:nvPr/>
        </p:nvSpPr>
        <p:spPr>
          <a:xfrm>
            <a:off x="7854696" y="1779270"/>
            <a:ext cx="3788359" cy="646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名稱隨意，例如 lunyi-vercel。Linked account 選你自己（個人金鑰），不要選 service account。</a:t>
            </a:r>
            <a:endParaRPr lang="zh-TW" sz="1250" dirty="0"/>
          </a:p>
        </p:txBody>
      </p:sp>
      <p:sp>
        <p:nvSpPr>
          <p:cNvPr id="51" name="marker-2"/>
          <p:cNvSpPr/>
          <p:nvPr/>
        </p:nvSpPr>
        <p:spPr>
          <a:xfrm>
            <a:off x="7452360" y="2654808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marker-2-text"/>
          <p:cNvSpPr txBox="1"/>
          <p:nvPr/>
        </p:nvSpPr>
        <p:spPr>
          <a:xfrm>
            <a:off x="7452360" y="2654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7854696" y="2645664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Workspace 選 lunyi</a:t>
            </a:r>
            <a:endParaRPr lang="zh-TW" sz="1450" dirty="0"/>
          </a:p>
        </p:txBody>
      </p:sp>
      <p:sp>
        <p:nvSpPr>
          <p:cNvPr id="54" name="Text 52"/>
          <p:cNvSpPr txBox="1"/>
          <p:nvPr/>
        </p:nvSpPr>
        <p:spPr>
          <a:xfrm>
            <a:off x="7854696" y="2961894"/>
            <a:ext cx="3788359" cy="856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沒選工作區的金鑰會被拒絕，論憶會顯示「not scoped to a workspace」。表單裡沒有這一欄時，先在 API keys 頁上方的工作區選單選 lunyi，再按 Create key。</a:t>
            </a:r>
            <a:endParaRPr lang="zh-TW" sz="1250" dirty="0"/>
          </a:p>
        </p:txBody>
      </p:sp>
      <p:sp>
        <p:nvSpPr>
          <p:cNvPr id="55" name="marker-3"/>
          <p:cNvSpPr/>
          <p:nvPr/>
        </p:nvSpPr>
        <p:spPr>
          <a:xfrm>
            <a:off x="7452360" y="4046982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6" name="marker-3-text"/>
          <p:cNvSpPr txBox="1"/>
          <p:nvPr/>
        </p:nvSpPr>
        <p:spPr>
          <a:xfrm>
            <a:off x="7452360" y="404698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7854696" y="4037838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Expiration 選 Never</a:t>
            </a:r>
            <a:endParaRPr lang="zh-TW" sz="1450" dirty="0"/>
          </a:p>
        </p:txBody>
      </p:sp>
      <p:sp>
        <p:nvSpPr>
          <p:cNvPr id="58" name="Text 56"/>
          <p:cNvSpPr txBox="1"/>
          <p:nvPr/>
        </p:nvSpPr>
        <p:spPr>
          <a:xfrm>
            <a:off x="7854696" y="4354068"/>
            <a:ext cx="3788359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或選長一點的期限並記下日期。到期後網站的 AI 會停止，而且期限建立後不能改。</a:t>
            </a:r>
            <a:endParaRPr lang="zh-TW" sz="1250" dirty="0"/>
          </a:p>
        </p:txBody>
      </p:sp>
      <p:sp>
        <p:nvSpPr>
          <p:cNvPr id="59" name="marker-4"/>
          <p:cNvSpPr/>
          <p:nvPr/>
        </p:nvSpPr>
        <p:spPr>
          <a:xfrm>
            <a:off x="7452360" y="5020056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marker-4-text"/>
          <p:cNvSpPr txBox="1"/>
          <p:nvPr/>
        </p:nvSpPr>
        <p:spPr>
          <a:xfrm>
            <a:off x="7452360" y="50200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4</a:t>
            </a:r>
            <a:endParaRPr lang="zh-TW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7854696" y="5010912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立刻複製 sk-ant- 開頭的金鑰</a:t>
            </a:r>
            <a:endParaRPr lang="zh-TW" sz="1450" dirty="0"/>
          </a:p>
        </p:txBody>
      </p:sp>
      <p:sp>
        <p:nvSpPr>
          <p:cNvPr id="62" name="Text 60"/>
          <p:cNvSpPr txBox="1"/>
          <p:nvPr/>
        </p:nvSpPr>
        <p:spPr>
          <a:xfrm>
            <a:off x="7854696" y="5327142"/>
            <a:ext cx="3788359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只會顯示這一次。直接貼到下一頁的 Vercel；弄丟了就刪掉重建一把。</a:t>
            </a:r>
            <a:endParaRPr lang="zh-TW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2764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B3　Vercel</a:t>
            </a:r>
            <a:endParaRPr lang="zh-TW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0350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在 Vercel 加入兩個環境變數</a:t>
            </a:r>
            <a:endParaRPr lang="zh-TW" sz="2800" dirty="0"/>
          </a:p>
        </p:txBody>
      </p:sp>
      <p:sp>
        <p:nvSpPr>
          <p:cNvPr id="4" name="mock-window"/>
          <p:cNvSpPr/>
          <p:nvPr/>
        </p:nvSpPr>
        <p:spPr>
          <a:xfrm>
            <a:off x="548640" y="1463040"/>
            <a:ext cx="6583680" cy="4526280"/>
          </a:xfrm>
          <a:prstGeom prst="roundRect">
            <a:avLst>
              <a:gd name="adj" fmla="val 1616"/>
            </a:avLst>
          </a:prstGeom>
          <a:solidFill>
            <a:srgbClr val="FFFFFF"/>
          </a:solidFill>
          <a:ln w="12700">
            <a:solidFill>
              <a:srgbClr val="C9C3B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mock-bar"/>
          <p:cNvSpPr/>
          <p:nvPr/>
        </p:nvSpPr>
        <p:spPr>
          <a:xfrm>
            <a:off x="557784" y="1472184"/>
            <a:ext cx="65653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" name="Shape 4"/>
          <p:cNvSpPr/>
          <p:nvPr/>
        </p:nvSpPr>
        <p:spPr>
          <a:xfrm>
            <a:off x="694944" y="1600200"/>
            <a:ext cx="109728" cy="109728"/>
          </a:xfrm>
          <a:prstGeom prst="ellipse">
            <a:avLst/>
          </a:prstGeom>
          <a:solidFill>
            <a:srgbClr val="E0685A"/>
          </a:solidFill>
          <a:ln/>
        </p:spPr>
      </p:sp>
      <p:sp>
        <p:nvSpPr>
          <p:cNvPr id="7" name="Shape 5"/>
          <p:cNvSpPr/>
          <p:nvPr/>
        </p:nvSpPr>
        <p:spPr>
          <a:xfrm>
            <a:off x="877824" y="1600200"/>
            <a:ext cx="109728" cy="109728"/>
          </a:xfrm>
          <a:prstGeom prst="ellipse">
            <a:avLst/>
          </a:prstGeom>
          <a:solidFill>
            <a:srgbClr val="E8B44C"/>
          </a:solidFill>
          <a:ln/>
        </p:spPr>
      </p:sp>
      <p:sp>
        <p:nvSpPr>
          <p:cNvPr id="8" name="Shape 6"/>
          <p:cNvSpPr/>
          <p:nvPr/>
        </p:nvSpPr>
        <p:spPr>
          <a:xfrm>
            <a:off x="1060704" y="1600200"/>
            <a:ext cx="109728" cy="109728"/>
          </a:xfrm>
          <a:prstGeom prst="ellipse">
            <a:avLst/>
          </a:prstGeom>
          <a:solidFill>
            <a:srgbClr val="6BB86B"/>
          </a:solidFill>
          <a:ln/>
        </p:spPr>
      </p:sp>
      <p:sp>
        <p:nvSpPr>
          <p:cNvPr id="9" name="Shape 7"/>
          <p:cNvSpPr/>
          <p:nvPr/>
        </p:nvSpPr>
        <p:spPr>
          <a:xfrm>
            <a:off x="1280160" y="1536192"/>
            <a:ext cx="5669280" cy="246888"/>
          </a:xfrm>
          <a:prstGeom prst="roundRect">
            <a:avLst>
              <a:gd name="adj" fmla="val 48148"/>
            </a:avLst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417320" y="153619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vercel.com/…/journal-article-memory-tool/settings/environment-variables</a:t>
            </a:r>
            <a:endParaRPr lang="zh-TW" sz="1000" dirty="0"/>
          </a:p>
        </p:txBody>
      </p:sp>
      <p:sp>
        <p:nvSpPr>
          <p:cNvPr id="11" name="Shape 9"/>
          <p:cNvSpPr/>
          <p:nvPr/>
        </p:nvSpPr>
        <p:spPr>
          <a:xfrm>
            <a:off x="557784" y="1856232"/>
            <a:ext cx="2057400" cy="4123944"/>
          </a:xfrm>
          <a:prstGeom prst="rect">
            <a:avLst/>
          </a:prstGeom>
          <a:solidFill>
            <a:srgbClr val="F7F6F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13232" y="198424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Deployments</a:t>
            </a:r>
            <a:endParaRPr lang="zh-TW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23317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Logs</a:t>
            </a:r>
            <a:endParaRPr lang="zh-TW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2679192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Settings</a:t>
            </a:r>
            <a:endParaRPr lang="zh-TW" sz="1000" dirty="0"/>
          </a:p>
        </p:txBody>
      </p:sp>
      <p:sp>
        <p:nvSpPr>
          <p:cNvPr id="15" name="Shape 13"/>
          <p:cNvSpPr/>
          <p:nvPr/>
        </p:nvSpPr>
        <p:spPr>
          <a:xfrm>
            <a:off x="640080" y="3026664"/>
            <a:ext cx="1874520" cy="292608"/>
          </a:xfrm>
          <a:prstGeom prst="roundRect">
            <a:avLst>
              <a:gd name="adj" fmla="val 15625"/>
            </a:avLst>
          </a:prstGeom>
          <a:solidFill>
            <a:srgbClr val="E4F0F0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3232" y="3026664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accent1"/>
                </a:solidFill>
              </a:rPr>
              <a:t>　Environment Variables</a:t>
            </a:r>
            <a:endParaRPr lang="zh-TW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" y="337413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　Domains</a:t>
            </a:r>
            <a:endParaRPr lang="zh-TW" sz="1000" dirty="0"/>
          </a:p>
        </p:txBody>
      </p:sp>
      <p:sp>
        <p:nvSpPr>
          <p:cNvPr id="18" name="tag-mock"/>
          <p:cNvSpPr/>
          <p:nvPr/>
        </p:nvSpPr>
        <p:spPr>
          <a:xfrm>
            <a:off x="5212080" y="5605272"/>
            <a:ext cx="17830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12080" y="560527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chemeClr val="accent3"/>
                </a:solidFill>
              </a:rPr>
              <a:t>示意圖・依官方文件整理</a:t>
            </a:r>
            <a:endParaRPr lang="zh-TW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2834640" y="201168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Add Environment Variable</a:t>
            </a:r>
            <a:endParaRPr lang="zh-TW" sz="1500" dirty="0"/>
          </a:p>
        </p:txBody>
      </p:sp>
      <p:sp>
        <p:nvSpPr>
          <p:cNvPr id="21" name="Shape 19"/>
          <p:cNvSpPr/>
          <p:nvPr/>
        </p:nvSpPr>
        <p:spPr>
          <a:xfrm>
            <a:off x="2834640" y="2468880"/>
            <a:ext cx="164592" cy="16459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072384" y="241401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b="1" dirty="0">
                <a:solidFill>
                  <a:schemeClr val="tx1"/>
                </a:solidFill>
              </a:rPr>
              <a:t>Secret</a:t>
            </a:r>
            <a:endParaRPr lang="zh-TW" sz="1050" dirty="0"/>
          </a:p>
        </p:txBody>
      </p:sp>
      <p:sp>
        <p:nvSpPr>
          <p:cNvPr id="23" name="Shape 21"/>
          <p:cNvSpPr/>
          <p:nvPr/>
        </p:nvSpPr>
        <p:spPr>
          <a:xfrm>
            <a:off x="4114800" y="246888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A19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352544" y="241401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</a:rPr>
              <a:t>Config</a:t>
            </a:r>
            <a:endParaRPr lang="zh-TW" sz="1050" dirty="0"/>
          </a:p>
        </p:txBody>
      </p:sp>
      <p:sp>
        <p:nvSpPr>
          <p:cNvPr id="25" name="Shape 23"/>
          <p:cNvSpPr/>
          <p:nvPr/>
        </p:nvSpPr>
        <p:spPr>
          <a:xfrm>
            <a:off x="2779776" y="2377440"/>
            <a:ext cx="1188720" cy="347472"/>
          </a:xfrm>
          <a:prstGeom prst="roundRect">
            <a:avLst>
              <a:gd name="adj" fmla="val 13158"/>
            </a:avLst>
          </a:prstGeom>
          <a:ln w="25400">
            <a:solidFill>
              <a:schemeClr val="accent3"/>
            </a:solidFill>
            <a:prstDash val="solid"/>
          </a:ln>
        </p:spPr>
      </p:sp>
      <p:sp>
        <p:nvSpPr>
          <p:cNvPr id="26" name="marker-2"/>
          <p:cNvSpPr/>
          <p:nvPr/>
        </p:nvSpPr>
        <p:spPr>
          <a:xfrm>
            <a:off x="5394960" y="2414016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marker-2-text"/>
          <p:cNvSpPr txBox="1"/>
          <p:nvPr/>
        </p:nvSpPr>
        <p:spPr>
          <a:xfrm>
            <a:off x="5394960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2834640" y="281635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tx1"/>
                </a:solidFill>
              </a:rPr>
              <a:t>Key</a:t>
            </a:r>
            <a:endParaRPr lang="zh-TW" sz="1000" dirty="0"/>
          </a:p>
        </p:txBody>
      </p:sp>
      <p:sp>
        <p:nvSpPr>
          <p:cNvPr id="29" name="Shape 27"/>
          <p:cNvSpPr/>
          <p:nvPr/>
        </p:nvSpPr>
        <p:spPr>
          <a:xfrm>
            <a:off x="2834640" y="3035808"/>
            <a:ext cx="3291840" cy="310896"/>
          </a:xfrm>
          <a:prstGeom prst="roundRect">
            <a:avLst>
              <a:gd name="adj" fmla="val 11765"/>
            </a:avLst>
          </a:prstGeom>
          <a:solidFill>
            <a:schemeClr val="accent4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926080" y="303580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ANTHROPIC_API_KEY</a:t>
            </a:r>
            <a:endParaRPr lang="zh-TW" sz="1050" dirty="0"/>
          </a:p>
        </p:txBody>
      </p:sp>
      <p:sp>
        <p:nvSpPr>
          <p:cNvPr id="31" name="marker-2"/>
          <p:cNvSpPr/>
          <p:nvPr/>
        </p:nvSpPr>
        <p:spPr>
          <a:xfrm>
            <a:off x="6181344" y="3054096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marker-2-text"/>
          <p:cNvSpPr txBox="1"/>
          <p:nvPr/>
        </p:nvSpPr>
        <p:spPr>
          <a:xfrm>
            <a:off x="6181344" y="30540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2834640" y="34564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tx1"/>
                </a:solidFill>
              </a:rPr>
              <a:t>Value</a:t>
            </a:r>
            <a:endParaRPr lang="zh-TW" sz="1000" dirty="0"/>
          </a:p>
        </p:txBody>
      </p:sp>
      <p:sp>
        <p:nvSpPr>
          <p:cNvPr id="34" name="Shape 32"/>
          <p:cNvSpPr/>
          <p:nvPr/>
        </p:nvSpPr>
        <p:spPr>
          <a:xfrm>
            <a:off x="2834640" y="3675888"/>
            <a:ext cx="3291840" cy="310896"/>
          </a:xfrm>
          <a:prstGeom prst="roundRect">
            <a:avLst>
              <a:gd name="adj" fmla="val 11765"/>
            </a:avLst>
          </a:prstGeom>
          <a:solidFill>
            <a:schemeClr val="accent4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926080" y="367588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sk-ant-api03-…（B2 複製的金鑰）</a:t>
            </a:r>
            <a:endParaRPr lang="zh-TW" sz="1050" dirty="0"/>
          </a:p>
        </p:txBody>
      </p:sp>
      <p:sp>
        <p:nvSpPr>
          <p:cNvPr id="36" name="marker-2"/>
          <p:cNvSpPr/>
          <p:nvPr/>
        </p:nvSpPr>
        <p:spPr>
          <a:xfrm>
            <a:off x="6181344" y="3694176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marker-2-text"/>
          <p:cNvSpPr txBox="1"/>
          <p:nvPr/>
        </p:nvSpPr>
        <p:spPr>
          <a:xfrm>
            <a:off x="6181344" y="36941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2834640" y="409651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tx1"/>
                </a:solidFill>
              </a:rPr>
              <a:t>Environments</a:t>
            </a:r>
            <a:endParaRPr lang="zh-TW" sz="1000" dirty="0"/>
          </a:p>
        </p:txBody>
      </p:sp>
      <p:sp>
        <p:nvSpPr>
          <p:cNvPr id="39" name="Shape 37"/>
          <p:cNvSpPr/>
          <p:nvPr/>
        </p:nvSpPr>
        <p:spPr>
          <a:xfrm>
            <a:off x="2834640" y="4315968"/>
            <a:ext cx="3291840" cy="310896"/>
          </a:xfrm>
          <a:prstGeom prst="roundRect">
            <a:avLst>
              <a:gd name="adj" fmla="val 11765"/>
            </a:avLst>
          </a:prstGeom>
          <a:solidFill>
            <a:schemeClr val="accent4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2926080" y="431596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</a:rPr>
              <a:t>Production</a:t>
            </a:r>
            <a:endParaRPr lang="zh-TW" sz="1050" dirty="0"/>
          </a:p>
        </p:txBody>
      </p:sp>
      <p:sp>
        <p:nvSpPr>
          <p:cNvPr id="41" name="marker-2"/>
          <p:cNvSpPr/>
          <p:nvPr/>
        </p:nvSpPr>
        <p:spPr>
          <a:xfrm>
            <a:off x="6181344" y="4334256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2" name="marker-2-text"/>
          <p:cNvSpPr txBox="1"/>
          <p:nvPr/>
        </p:nvSpPr>
        <p:spPr>
          <a:xfrm>
            <a:off x="6181344" y="43342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43" name="Shape 41"/>
          <p:cNvSpPr/>
          <p:nvPr/>
        </p:nvSpPr>
        <p:spPr>
          <a:xfrm>
            <a:off x="2834640" y="4736592"/>
            <a:ext cx="100584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 w="28575">
            <a:solidFill>
              <a:schemeClr val="accent3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2834640" y="473659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chemeClr val="bg1"/>
                </a:solidFill>
              </a:rPr>
              <a:t>Save</a:t>
            </a:r>
            <a:endParaRPr lang="zh-TW" sz="1050" dirty="0"/>
          </a:p>
        </p:txBody>
      </p:sp>
      <p:sp>
        <p:nvSpPr>
          <p:cNvPr id="45" name="marker-2"/>
          <p:cNvSpPr/>
          <p:nvPr/>
        </p:nvSpPr>
        <p:spPr>
          <a:xfrm>
            <a:off x="3895344" y="4754880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marker-2-text"/>
          <p:cNvSpPr txBox="1"/>
          <p:nvPr/>
        </p:nvSpPr>
        <p:spPr>
          <a:xfrm>
            <a:off x="3895344" y="4754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47" name="marker-1"/>
          <p:cNvSpPr/>
          <p:nvPr/>
        </p:nvSpPr>
        <p:spPr>
          <a:xfrm>
            <a:off x="7452360" y="147218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marker-1-text"/>
          <p:cNvSpPr txBox="1"/>
          <p:nvPr/>
        </p:nvSpPr>
        <p:spPr>
          <a:xfrm>
            <a:off x="7452360" y="14721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7854696" y="1463040"/>
            <a:ext cx="3788359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打開專案 → Settings → Environment Variables</a:t>
            </a:r>
            <a:endParaRPr lang="zh-TW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7854696" y="2005584"/>
            <a:ext cx="378835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tx2"/>
                </a:solidFill>
              </a:rPr>
              <a:t>在 vercel.com 點專案 journal-article-memory-tool，左側 Settings → Environment Variables，按新增。</a:t>
            </a:r>
            <a:endParaRPr lang="zh-TW" sz="1200" dirty="0"/>
          </a:p>
        </p:txBody>
      </p:sp>
      <p:sp>
        <p:nvSpPr>
          <p:cNvPr id="51" name="marker-2"/>
          <p:cNvSpPr/>
          <p:nvPr/>
        </p:nvSpPr>
        <p:spPr>
          <a:xfrm>
            <a:off x="7452360" y="2773680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marker-2-text"/>
          <p:cNvSpPr txBox="1"/>
          <p:nvPr/>
        </p:nvSpPr>
        <p:spPr>
          <a:xfrm>
            <a:off x="7452360" y="2773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7854696" y="2764536"/>
            <a:ext cx="3788359" cy="252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第一個：Anthropic 金鑰</a:t>
            </a:r>
            <a:endParaRPr lang="zh-TW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854696" y="3072384"/>
            <a:ext cx="378835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tx2"/>
                </a:solidFill>
              </a:rPr>
              <a:t>Type 選 Secret，Value 貼 B2 的金鑰，Environments 選 Production，按 Save。</a:t>
            </a:r>
            <a:endParaRPr lang="zh-TW" sz="1200" dirty="0"/>
          </a:p>
        </p:txBody>
      </p:sp>
      <p:sp>
        <p:nvSpPr>
          <p:cNvPr id="55" name="paste"/>
          <p:cNvSpPr/>
          <p:nvPr/>
        </p:nvSpPr>
        <p:spPr>
          <a:xfrm>
            <a:off x="7854696" y="3529584"/>
            <a:ext cx="3788359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 w="9525">
            <a:solidFill>
              <a:srgbClr val="E6CF7A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946136" y="3529584"/>
            <a:ext cx="3184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ANTHROPIC_API_KEY</a:t>
            </a:r>
            <a:endParaRPr lang="zh-TW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11167567" y="3529584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50" b="1" dirty="0">
                <a:solidFill>
                  <a:schemeClr val="tx2"/>
                </a:solidFill>
              </a:rPr>
              <a:t>貼上</a:t>
            </a:r>
            <a:endParaRPr lang="zh-TW" sz="950" dirty="0"/>
          </a:p>
        </p:txBody>
      </p:sp>
      <p:sp>
        <p:nvSpPr>
          <p:cNvPr id="58" name="marker-3"/>
          <p:cNvSpPr/>
          <p:nvPr/>
        </p:nvSpPr>
        <p:spPr>
          <a:xfrm>
            <a:off x="7452360" y="4005072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9" name="marker-3-text"/>
          <p:cNvSpPr txBox="1"/>
          <p:nvPr/>
        </p:nvSpPr>
        <p:spPr>
          <a:xfrm>
            <a:off x="7452360" y="40050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7854696" y="3995928"/>
            <a:ext cx="3788359" cy="252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第二個：網站存取碼</a:t>
            </a:r>
            <a:endParaRPr lang="zh-TW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7854696" y="4303776"/>
            <a:ext cx="378835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tx2"/>
                </a:solidFill>
              </a:rPr>
              <a:t>再新增一個：Type 選 Secret，Value 填你訂的存取碼（半形英數字），Environments 一樣選 Production，按 Save。存了之後看不到，自己記好。</a:t>
            </a:r>
            <a:endParaRPr lang="zh-TW" sz="1200" dirty="0"/>
          </a:p>
        </p:txBody>
      </p:sp>
      <p:sp>
        <p:nvSpPr>
          <p:cNvPr id="62" name="paste"/>
          <p:cNvSpPr/>
          <p:nvPr/>
        </p:nvSpPr>
        <p:spPr>
          <a:xfrm>
            <a:off x="7854696" y="4962144"/>
            <a:ext cx="3788359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 w="9525">
            <a:solidFill>
              <a:srgbClr val="E6CF7A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7946136" y="4962144"/>
            <a:ext cx="3184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LUNYI_ACCESS_CODE</a:t>
            </a:r>
            <a:endParaRPr lang="zh-TW" sz="1150" dirty="0"/>
          </a:p>
        </p:txBody>
      </p:sp>
      <p:sp>
        <p:nvSpPr>
          <p:cNvPr id="64" name="Text 62"/>
          <p:cNvSpPr txBox="1"/>
          <p:nvPr/>
        </p:nvSpPr>
        <p:spPr>
          <a:xfrm>
            <a:off x="11167567" y="4962144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50" b="1" dirty="0">
                <a:solidFill>
                  <a:schemeClr val="tx2"/>
                </a:solidFill>
              </a:rPr>
              <a:t>貼上</a:t>
            </a:r>
            <a:endParaRPr lang="zh-TW" sz="950" dirty="0"/>
          </a:p>
        </p:txBody>
      </p:sp>
      <p:sp>
        <p:nvSpPr>
          <p:cNvPr id="65" name="note"/>
          <p:cNvSpPr/>
          <p:nvPr/>
        </p:nvSpPr>
        <p:spPr>
          <a:xfrm>
            <a:off x="7452360" y="5446776"/>
            <a:ext cx="4190695" cy="606552"/>
          </a:xfrm>
          <a:prstGeom prst="roundRect">
            <a:avLst>
              <a:gd name="adj" fmla="val 9045"/>
            </a:avLst>
          </a:prstGeom>
          <a:solidFill>
            <a:srgbClr val="FBEEE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7598664" y="5538216"/>
            <a:ext cx="3898087" cy="423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00" dirty="0">
                <a:solidFill>
                  <a:srgbClr val="7A2E12"/>
                </a:solidFill>
              </a:rPr>
              <a:t>Key 要一字不差；Value 前後不要有空白或引號；Environments 一定要選 Production。</a:t>
            </a:r>
            <a:endParaRPr lang="zh-TW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2764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B4　Vercel</a:t>
            </a:r>
            <a:endParaRPr lang="zh-TW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0350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重新部署，再用網址確認後端已經開啟</a:t>
            </a:r>
            <a:endParaRPr lang="zh-TW" sz="2800" dirty="0"/>
          </a:p>
        </p:txBody>
      </p:sp>
      <p:sp>
        <p:nvSpPr>
          <p:cNvPr id="4" name="mock-window"/>
          <p:cNvSpPr/>
          <p:nvPr/>
        </p:nvSpPr>
        <p:spPr>
          <a:xfrm>
            <a:off x="548640" y="1463040"/>
            <a:ext cx="658368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C9C3B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mock-bar"/>
          <p:cNvSpPr/>
          <p:nvPr/>
        </p:nvSpPr>
        <p:spPr>
          <a:xfrm>
            <a:off x="557784" y="1472184"/>
            <a:ext cx="65653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" name="Shape 4"/>
          <p:cNvSpPr/>
          <p:nvPr/>
        </p:nvSpPr>
        <p:spPr>
          <a:xfrm>
            <a:off x="694944" y="1600200"/>
            <a:ext cx="109728" cy="109728"/>
          </a:xfrm>
          <a:prstGeom prst="ellipse">
            <a:avLst/>
          </a:prstGeom>
          <a:solidFill>
            <a:srgbClr val="E0685A"/>
          </a:solidFill>
          <a:ln/>
        </p:spPr>
      </p:sp>
      <p:sp>
        <p:nvSpPr>
          <p:cNvPr id="7" name="Shape 5"/>
          <p:cNvSpPr/>
          <p:nvPr/>
        </p:nvSpPr>
        <p:spPr>
          <a:xfrm>
            <a:off x="877824" y="1600200"/>
            <a:ext cx="109728" cy="109728"/>
          </a:xfrm>
          <a:prstGeom prst="ellipse">
            <a:avLst/>
          </a:prstGeom>
          <a:solidFill>
            <a:srgbClr val="E8B44C"/>
          </a:solidFill>
          <a:ln/>
        </p:spPr>
      </p:sp>
      <p:sp>
        <p:nvSpPr>
          <p:cNvPr id="8" name="Shape 6"/>
          <p:cNvSpPr/>
          <p:nvPr/>
        </p:nvSpPr>
        <p:spPr>
          <a:xfrm>
            <a:off x="1060704" y="1600200"/>
            <a:ext cx="109728" cy="109728"/>
          </a:xfrm>
          <a:prstGeom prst="ellipse">
            <a:avLst/>
          </a:prstGeom>
          <a:solidFill>
            <a:srgbClr val="6BB86B"/>
          </a:solidFill>
          <a:ln/>
        </p:spPr>
      </p:sp>
      <p:sp>
        <p:nvSpPr>
          <p:cNvPr id="9" name="Shape 7"/>
          <p:cNvSpPr/>
          <p:nvPr/>
        </p:nvSpPr>
        <p:spPr>
          <a:xfrm>
            <a:off x="1280160" y="1536192"/>
            <a:ext cx="5669280" cy="246888"/>
          </a:xfrm>
          <a:prstGeom prst="roundRect">
            <a:avLst>
              <a:gd name="adj" fmla="val 48148"/>
            </a:avLst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417320" y="153619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vercel.com/…/journal-article-memory-tool/deployments</a:t>
            </a:r>
            <a:endParaRPr lang="zh-TW" sz="1000" dirty="0"/>
          </a:p>
        </p:txBody>
      </p:sp>
      <p:sp>
        <p:nvSpPr>
          <p:cNvPr id="11" name="Shape 9"/>
          <p:cNvSpPr/>
          <p:nvPr/>
        </p:nvSpPr>
        <p:spPr>
          <a:xfrm>
            <a:off x="557784" y="1856232"/>
            <a:ext cx="1783080" cy="2112264"/>
          </a:xfrm>
          <a:prstGeom prst="rect">
            <a:avLst/>
          </a:prstGeom>
          <a:solidFill>
            <a:srgbClr val="F7F6F3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1984248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E4F0F0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1984248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accent1"/>
                </a:solidFill>
              </a:rPr>
              <a:t>Deployments</a:t>
            </a:r>
            <a:endParaRPr lang="zh-TW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2331720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Logs</a:t>
            </a:r>
            <a:endParaRPr lang="zh-TW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713232" y="2679192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Settings</a:t>
            </a:r>
            <a:endParaRPr lang="zh-TW" sz="1000" dirty="0"/>
          </a:p>
        </p:txBody>
      </p:sp>
      <p:sp>
        <p:nvSpPr>
          <p:cNvPr id="16" name="tag-mock"/>
          <p:cNvSpPr/>
          <p:nvPr/>
        </p:nvSpPr>
        <p:spPr>
          <a:xfrm>
            <a:off x="621792" y="3593592"/>
            <a:ext cx="17830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359359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chemeClr val="accent3"/>
                </a:solidFill>
              </a:rPr>
              <a:t>示意圖・依官方文件整理</a:t>
            </a:r>
            <a:endParaRPr lang="zh-TW" sz="1000" dirty="0"/>
          </a:p>
        </p:txBody>
      </p:sp>
      <p:sp>
        <p:nvSpPr>
          <p:cNvPr id="18" name="Shape 16"/>
          <p:cNvSpPr/>
          <p:nvPr/>
        </p:nvSpPr>
        <p:spPr>
          <a:xfrm>
            <a:off x="2560320" y="2057400"/>
            <a:ext cx="43891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97480" y="205740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b="1" dirty="0">
                <a:solidFill>
                  <a:schemeClr val="accent1"/>
                </a:solidFill>
              </a:rPr>
              <a:t>Production  </a:t>
            </a:r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</a:rPr>
              <a:t>main · 最新一筆　</a:t>
            </a:r>
            <a:pPr indent="0" marL="0">
              <a:buNone/>
            </a:pPr>
            <a:r>
              <a:rPr lang="zh-TW" altLang="en-US" sz="1050" b="1" dirty="0">
                <a:solidFill>
                  <a:srgbClr val="2F8F4E"/>
                </a:solidFill>
              </a:rPr>
              <a:t>Ready</a:t>
            </a:r>
            <a:endParaRPr lang="zh-TW" sz="1050" dirty="0"/>
          </a:p>
        </p:txBody>
      </p:sp>
      <p:sp>
        <p:nvSpPr>
          <p:cNvPr id="20" name="Shape 18"/>
          <p:cNvSpPr/>
          <p:nvPr/>
        </p:nvSpPr>
        <p:spPr>
          <a:xfrm>
            <a:off x="6400800" y="2130552"/>
            <a:ext cx="411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28575">
            <a:solidFill>
              <a:schemeClr val="accent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0" y="2130552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⋯</a:t>
            </a:r>
            <a:endParaRPr lang="zh-TW" sz="1400" dirty="0"/>
          </a:p>
        </p:txBody>
      </p:sp>
      <p:sp>
        <p:nvSpPr>
          <p:cNvPr id="22" name="marker-1"/>
          <p:cNvSpPr/>
          <p:nvPr/>
        </p:nvSpPr>
        <p:spPr>
          <a:xfrm>
            <a:off x="6839712" y="2148840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marker-1-text"/>
          <p:cNvSpPr txBox="1"/>
          <p:nvPr/>
        </p:nvSpPr>
        <p:spPr>
          <a:xfrm>
            <a:off x="6839712" y="2148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24" name="Shape 22"/>
          <p:cNvSpPr/>
          <p:nvPr/>
        </p:nvSpPr>
        <p:spPr>
          <a:xfrm>
            <a:off x="4572000" y="2651760"/>
            <a:ext cx="224028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BDB6A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4663440" y="270662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b="1" dirty="0">
                <a:solidFill>
                  <a:schemeClr val="tx1"/>
                </a:solidFill>
              </a:rPr>
              <a:t>Redeploy to Production</a:t>
            </a:r>
            <a:endParaRPr lang="zh-TW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4663440" y="299923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950" dirty="0">
                <a:solidFill>
                  <a:schemeClr val="tx2"/>
                </a:solidFill>
              </a:rPr>
              <a:t>☐ Use existing Build Cache</a:t>
            </a:r>
            <a:endParaRPr lang="zh-TW" sz="950" dirty="0"/>
          </a:p>
        </p:txBody>
      </p:sp>
      <p:sp>
        <p:nvSpPr>
          <p:cNvPr id="27" name="Shape 25"/>
          <p:cNvSpPr/>
          <p:nvPr/>
        </p:nvSpPr>
        <p:spPr>
          <a:xfrm>
            <a:off x="5623560" y="3337560"/>
            <a:ext cx="1097280" cy="329184"/>
          </a:xfrm>
          <a:prstGeom prst="roundRect">
            <a:avLst>
              <a:gd name="adj" fmla="val 13889"/>
            </a:avLst>
          </a:prstGeom>
          <a:solidFill>
            <a:schemeClr val="accent1"/>
          </a:solidFill>
          <a:ln w="28575">
            <a:solidFill>
              <a:schemeClr val="accent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623560" y="333756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chemeClr val="bg1"/>
                </a:solidFill>
              </a:rPr>
              <a:t>Redeploy</a:t>
            </a:r>
            <a:endParaRPr lang="zh-TW" sz="1050" dirty="0"/>
          </a:p>
        </p:txBody>
      </p:sp>
      <p:sp>
        <p:nvSpPr>
          <p:cNvPr id="29" name="marker-2"/>
          <p:cNvSpPr/>
          <p:nvPr/>
        </p:nvSpPr>
        <p:spPr>
          <a:xfrm>
            <a:off x="5257800" y="3364992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marker-2-text"/>
          <p:cNvSpPr txBox="1"/>
          <p:nvPr/>
        </p:nvSpPr>
        <p:spPr>
          <a:xfrm>
            <a:off x="5257800" y="3364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416052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00" b="1" dirty="0">
                <a:solidFill>
                  <a:schemeClr val="tx1"/>
                </a:solidFill>
              </a:rPr>
              <a:t>打開這個網址確認</a:t>
            </a:r>
            <a:endParaRPr lang="zh-TW" sz="1200" dirty="0"/>
          </a:p>
        </p:txBody>
      </p:sp>
      <p:sp>
        <p:nvSpPr>
          <p:cNvPr id="32" name="paste"/>
          <p:cNvSpPr/>
          <p:nvPr/>
        </p:nvSpPr>
        <p:spPr>
          <a:xfrm>
            <a:off x="548640" y="4471416"/>
            <a:ext cx="658368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 w="9525">
            <a:solidFill>
              <a:srgbClr val="E6CF7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0080" y="4471416"/>
            <a:ext cx="6382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https://journal-article-memory-tool.vercel.app/api/claude</a:t>
            </a:r>
            <a:endParaRPr lang="zh-TW" sz="1200" dirty="0"/>
          </a:p>
        </p:txBody>
      </p:sp>
      <p:sp>
        <p:nvSpPr>
          <p:cNvPr id="34" name="Shape 32"/>
          <p:cNvSpPr/>
          <p:nvPr/>
        </p:nvSpPr>
        <p:spPr>
          <a:xfrm>
            <a:off x="548640" y="4892040"/>
            <a:ext cx="6583680" cy="347472"/>
          </a:xfrm>
          <a:prstGeom prst="roundRect">
            <a:avLst>
              <a:gd name="adj" fmla="val 13158"/>
            </a:avLst>
          </a:prstGeom>
          <a:solidFill>
            <a:srgbClr val="DFF0E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58368" y="489204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00" dirty="0">
                <a:solidFill>
                  <a:srgbClr val="1E5C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{"error":"POST only"}</a:t>
            </a:r>
            <a:endParaRPr lang="zh-TW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3886200" y="489204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rgbClr val="1E5C33"/>
                </a:solidFill>
              </a:rPr>
              <a:t>成功：後端已經開啟</a:t>
            </a:r>
            <a:endParaRPr lang="zh-TW" sz="1000" dirty="0"/>
          </a:p>
        </p:txBody>
      </p:sp>
      <p:sp>
        <p:nvSpPr>
          <p:cNvPr id="37" name="Shape 35"/>
          <p:cNvSpPr/>
          <p:nvPr/>
        </p:nvSpPr>
        <p:spPr>
          <a:xfrm>
            <a:off x="548640" y="5294376"/>
            <a:ext cx="6583680" cy="347472"/>
          </a:xfrm>
          <a:prstGeom prst="roundRect">
            <a:avLst>
              <a:gd name="adj" fmla="val 13158"/>
            </a:avLst>
          </a:prstGeom>
          <a:solidFill>
            <a:srgbClr val="FBEEE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58368" y="5294376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00" dirty="0">
                <a:solidFill>
                  <a:srgbClr val="7A2E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{"error":"AI backend not configured"}</a:t>
            </a:r>
            <a:endParaRPr lang="zh-TW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3886200" y="5294376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rgbClr val="7A2E12"/>
                </a:solidFill>
              </a:rPr>
              <a:t>還沒生效：檢查變數名稱、Production，或還沒 Redeploy</a:t>
            </a:r>
            <a:endParaRPr lang="zh-TW" sz="1000" dirty="0"/>
          </a:p>
        </p:txBody>
      </p:sp>
      <p:sp>
        <p:nvSpPr>
          <p:cNvPr id="40" name="Shape 38"/>
          <p:cNvSpPr/>
          <p:nvPr/>
        </p:nvSpPr>
        <p:spPr>
          <a:xfrm>
            <a:off x="548640" y="5696712"/>
            <a:ext cx="6583680" cy="347472"/>
          </a:xfrm>
          <a:prstGeom prst="roundRect">
            <a:avLst>
              <a:gd name="adj" fmla="val 13158"/>
            </a:avLst>
          </a:prstGeom>
          <a:solidFill>
            <a:srgbClr val="FBEEE6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58368" y="5696712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00" dirty="0">
                <a:solidFill>
                  <a:srgbClr val="7A2E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page could not be found</a:t>
            </a:r>
            <a:endParaRPr lang="zh-TW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3886200" y="5696712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rgbClr val="7A2E12"/>
                </a:solidFill>
              </a:rPr>
              <a:t>後端程式沒部署：確認網址，以及最新部署來自 main</a:t>
            </a:r>
            <a:endParaRPr lang="zh-TW" sz="1000" dirty="0"/>
          </a:p>
        </p:txBody>
      </p:sp>
      <p:sp>
        <p:nvSpPr>
          <p:cNvPr id="43" name="marker-1"/>
          <p:cNvSpPr/>
          <p:nvPr/>
        </p:nvSpPr>
        <p:spPr>
          <a:xfrm>
            <a:off x="7452360" y="147218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4" name="marker-1-text"/>
          <p:cNvSpPr txBox="1"/>
          <p:nvPr/>
        </p:nvSpPr>
        <p:spPr>
          <a:xfrm>
            <a:off x="7452360" y="14721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7854696" y="1463040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Deployments → 最新一筆 Production → ⋯</a:t>
            </a:r>
            <a:endParaRPr lang="zh-TW" sz="1450" dirty="0"/>
          </a:p>
        </p:txBody>
      </p:sp>
      <p:sp>
        <p:nvSpPr>
          <p:cNvPr id="46" name="Text 44"/>
          <p:cNvSpPr txBox="1"/>
          <p:nvPr/>
        </p:nvSpPr>
        <p:spPr>
          <a:xfrm>
            <a:off x="7854696" y="1779270"/>
            <a:ext cx="3788359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環境變數只有重新部署之後才會生效。</a:t>
            </a:r>
            <a:endParaRPr lang="zh-TW" sz="1250" dirty="0"/>
          </a:p>
        </p:txBody>
      </p:sp>
      <p:sp>
        <p:nvSpPr>
          <p:cNvPr id="47" name="marker-2"/>
          <p:cNvSpPr/>
          <p:nvPr/>
        </p:nvSpPr>
        <p:spPr>
          <a:xfrm>
            <a:off x="7452360" y="2235708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marker-2-text"/>
          <p:cNvSpPr txBox="1"/>
          <p:nvPr/>
        </p:nvSpPr>
        <p:spPr>
          <a:xfrm>
            <a:off x="7452360" y="22357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7854696" y="2226564"/>
            <a:ext cx="3788359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選 Redeploy，不勾 Use existing Build Cache</a:t>
            </a:r>
            <a:endParaRPr lang="zh-TW" sz="1450" dirty="0"/>
          </a:p>
        </p:txBody>
      </p:sp>
      <p:sp>
        <p:nvSpPr>
          <p:cNvPr id="50" name="Text 48"/>
          <p:cNvSpPr txBox="1"/>
          <p:nvPr/>
        </p:nvSpPr>
        <p:spPr>
          <a:xfrm>
            <a:off x="7854696" y="2785872"/>
            <a:ext cx="3788359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再按 Redeploy，等狀態變成 Ready。</a:t>
            </a:r>
            <a:endParaRPr lang="zh-TW" sz="1250" dirty="0"/>
          </a:p>
        </p:txBody>
      </p:sp>
      <p:sp>
        <p:nvSpPr>
          <p:cNvPr id="51" name="marker-3"/>
          <p:cNvSpPr/>
          <p:nvPr/>
        </p:nvSpPr>
        <p:spPr>
          <a:xfrm>
            <a:off x="7452360" y="3242310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marker-3-text"/>
          <p:cNvSpPr txBox="1"/>
          <p:nvPr/>
        </p:nvSpPr>
        <p:spPr>
          <a:xfrm>
            <a:off x="7452360" y="324231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7854696" y="3233166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打開左下的網址確認</a:t>
            </a:r>
            <a:endParaRPr lang="zh-TW" sz="1450" dirty="0"/>
          </a:p>
        </p:txBody>
      </p:sp>
      <p:sp>
        <p:nvSpPr>
          <p:cNvPr id="54" name="Text 52"/>
          <p:cNvSpPr txBox="1"/>
          <p:nvPr/>
        </p:nvSpPr>
        <p:spPr>
          <a:xfrm>
            <a:off x="7854696" y="3549396"/>
            <a:ext cx="3788359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看到 {"error":"POST only"} 就是成功。這個網址只是檢查，不會花錢。</a:t>
            </a:r>
            <a:endParaRPr lang="zh-TW" sz="1250" dirty="0"/>
          </a:p>
        </p:txBody>
      </p:sp>
      <p:sp>
        <p:nvSpPr>
          <p:cNvPr id="55" name="note"/>
          <p:cNvSpPr/>
          <p:nvPr/>
        </p:nvSpPr>
        <p:spPr>
          <a:xfrm>
            <a:off x="7452360" y="4251960"/>
            <a:ext cx="4190695" cy="623316"/>
          </a:xfrm>
          <a:prstGeom prst="roundRect">
            <a:avLst>
              <a:gd name="adj" fmla="val 8802"/>
            </a:avLst>
          </a:prstGeom>
          <a:solidFill>
            <a:srgbClr val="EEF4F4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598664" y="4343400"/>
            <a:ext cx="3898087" cy="44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50" dirty="0">
                <a:solidFill>
                  <a:srgbClr val="1D3B3D"/>
                </a:solidFill>
              </a:rPr>
              <a:t>只有 Vercel 網址有 AI。GitHub Pages 備用網址不能跑後端，在那裡打開永遠是 404。</a:t>
            </a:r>
            <a:endParaRPr lang="zh-TW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2764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B5　論憶</a:t>
            </a:r>
            <a:endParaRPr lang="zh-TW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0350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在論憶輸入存取碼：金鑰欄留空</a:t>
            </a:r>
            <a:endParaRPr lang="zh-TW" sz="2800" dirty="0"/>
          </a:p>
        </p:txBody>
      </p:sp>
      <p:sp>
        <p:nvSpPr>
          <p:cNvPr id="4" name="card-claude.png-frame"/>
          <p:cNvSpPr/>
          <p:nvPr/>
        </p:nvSpPr>
        <p:spPr>
          <a:xfrm>
            <a:off x="548640" y="1481328"/>
            <a:ext cx="6126480" cy="2855730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5" name="card-claude.png" descr="card-clau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6126480" cy="2855730"/>
          </a:xfrm>
          <a:prstGeom prst="rect">
            <a:avLst/>
          </a:prstGeom>
        </p:spPr>
      </p:pic>
      <p:sp>
        <p:nvSpPr>
          <p:cNvPr id="6" name="hl-2"/>
          <p:cNvSpPr/>
          <p:nvPr/>
        </p:nvSpPr>
        <p:spPr>
          <a:xfrm>
            <a:off x="678573" y="2453602"/>
            <a:ext cx="5866613" cy="421452"/>
          </a:xfrm>
          <a:prstGeom prst="roundRect">
            <a:avLst>
              <a:gd name="adj" fmla="val 13018"/>
            </a:avLst>
          </a:prstGeom>
          <a:ln w="28575">
            <a:solidFill>
              <a:schemeClr val="accent3"/>
            </a:solidFill>
            <a:prstDash val="solid"/>
          </a:ln>
        </p:spPr>
      </p:sp>
      <p:sp>
        <p:nvSpPr>
          <p:cNvPr id="7" name="marker-2"/>
          <p:cNvSpPr/>
          <p:nvPr/>
        </p:nvSpPr>
        <p:spPr>
          <a:xfrm>
            <a:off x="331101" y="2508880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marker-2-text"/>
          <p:cNvSpPr txBox="1"/>
          <p:nvPr/>
        </p:nvSpPr>
        <p:spPr>
          <a:xfrm>
            <a:off x="331101" y="2508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9" name="hl-3"/>
          <p:cNvSpPr/>
          <p:nvPr/>
        </p:nvSpPr>
        <p:spPr>
          <a:xfrm>
            <a:off x="678573" y="3381252"/>
            <a:ext cx="5866613" cy="421452"/>
          </a:xfrm>
          <a:prstGeom prst="roundRect">
            <a:avLst>
              <a:gd name="adj" fmla="val 13018"/>
            </a:avLst>
          </a:prstGeom>
          <a:ln w="28575">
            <a:solidFill>
              <a:schemeClr val="accent3"/>
            </a:solidFill>
            <a:prstDash val="solid"/>
          </a:ln>
        </p:spPr>
      </p:sp>
      <p:sp>
        <p:nvSpPr>
          <p:cNvPr id="10" name="marker-3"/>
          <p:cNvSpPr/>
          <p:nvPr/>
        </p:nvSpPr>
        <p:spPr>
          <a:xfrm>
            <a:off x="331101" y="3436530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marker-3-text"/>
          <p:cNvSpPr txBox="1"/>
          <p:nvPr/>
        </p:nvSpPr>
        <p:spPr>
          <a:xfrm>
            <a:off x="331101" y="343653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12" name="hl-4"/>
          <p:cNvSpPr/>
          <p:nvPr/>
        </p:nvSpPr>
        <p:spPr>
          <a:xfrm>
            <a:off x="678573" y="3854945"/>
            <a:ext cx="1320080" cy="342503"/>
          </a:xfrm>
          <a:prstGeom prst="roundRect">
            <a:avLst>
              <a:gd name="adj" fmla="val 16019"/>
            </a:avLst>
          </a:prstGeom>
          <a:ln w="28575">
            <a:solidFill>
              <a:schemeClr val="accent3"/>
            </a:solidFill>
            <a:prstDash val="solid"/>
          </a:ln>
        </p:spPr>
      </p:sp>
      <p:sp>
        <p:nvSpPr>
          <p:cNvPr id="13" name="marker-4"/>
          <p:cNvSpPr/>
          <p:nvPr/>
        </p:nvSpPr>
        <p:spPr>
          <a:xfrm>
            <a:off x="331101" y="3870749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marker-4-text"/>
          <p:cNvSpPr txBox="1"/>
          <p:nvPr/>
        </p:nvSpPr>
        <p:spPr>
          <a:xfrm>
            <a:off x="331101" y="387074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4</a:t>
            </a:r>
            <a:endParaRPr lang="zh-TW" sz="1200" dirty="0"/>
          </a:p>
        </p:txBody>
      </p:sp>
      <p:sp>
        <p:nvSpPr>
          <p:cNvPr id="15" name="tag-real"/>
          <p:cNvSpPr/>
          <p:nvPr/>
        </p:nvSpPr>
        <p:spPr>
          <a:xfrm>
            <a:off x="5806440" y="1152144"/>
            <a:ext cx="868680" cy="25603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806440" y="115214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chemeClr val="bg1"/>
                </a:solidFill>
              </a:rPr>
              <a:t>實際畫面</a:t>
            </a:r>
            <a:endParaRPr lang="zh-TW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444678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00" b="1" dirty="0">
                <a:solidFill>
                  <a:schemeClr val="accent3"/>
                </a:solidFill>
              </a:rPr>
              <a:t>儲存之後</a:t>
            </a:r>
            <a:endParaRPr lang="zh-TW" sz="1200" dirty="0"/>
          </a:p>
        </p:txBody>
      </p:sp>
      <p:sp>
        <p:nvSpPr>
          <p:cNvPr id="18" name="_claude-saved.png-frame"/>
          <p:cNvSpPr/>
          <p:nvPr/>
        </p:nvSpPr>
        <p:spPr>
          <a:xfrm>
            <a:off x="548640" y="4775970"/>
            <a:ext cx="6126480" cy="983201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9" name="_claude-saved.png" descr="_claude-sav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775970"/>
            <a:ext cx="6126480" cy="983201"/>
          </a:xfrm>
          <a:prstGeom prst="rect">
            <a:avLst/>
          </a:prstGeom>
        </p:spPr>
      </p:pic>
      <p:sp>
        <p:nvSpPr>
          <p:cNvPr id="20" name="hl-5"/>
          <p:cNvSpPr/>
          <p:nvPr/>
        </p:nvSpPr>
        <p:spPr>
          <a:xfrm>
            <a:off x="2653776" y="5346950"/>
            <a:ext cx="1696654" cy="203998"/>
          </a:xfrm>
          <a:prstGeom prst="roundRect">
            <a:avLst>
              <a:gd name="adj" fmla="val 26894"/>
            </a:avLst>
          </a:prstGeom>
          <a:ln w="28575">
            <a:solidFill>
              <a:schemeClr val="accent3"/>
            </a:solidFill>
            <a:prstDash val="solid"/>
          </a:ln>
        </p:spPr>
      </p:sp>
      <p:sp>
        <p:nvSpPr>
          <p:cNvPr id="21" name="marker-5"/>
          <p:cNvSpPr/>
          <p:nvPr/>
        </p:nvSpPr>
        <p:spPr>
          <a:xfrm>
            <a:off x="4387007" y="5293501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marker-5-text"/>
          <p:cNvSpPr txBox="1"/>
          <p:nvPr/>
        </p:nvSpPr>
        <p:spPr>
          <a:xfrm>
            <a:off x="4387007" y="529350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5</a:t>
            </a:r>
            <a:endParaRPr lang="zh-TW" sz="1200" dirty="0"/>
          </a:p>
        </p:txBody>
      </p:sp>
      <p:sp>
        <p:nvSpPr>
          <p:cNvPr id="23" name="marker-1"/>
          <p:cNvSpPr/>
          <p:nvPr/>
        </p:nvSpPr>
        <p:spPr>
          <a:xfrm>
            <a:off x="7452360" y="147218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marker-1-text"/>
          <p:cNvSpPr txBox="1"/>
          <p:nvPr/>
        </p:nvSpPr>
        <p:spPr>
          <a:xfrm>
            <a:off x="7452360" y="14721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7854696" y="1463040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左側「設定與備份」→「進階」</a:t>
            </a:r>
            <a:endParaRPr lang="zh-TW" sz="1450" dirty="0"/>
          </a:p>
        </p:txBody>
      </p:sp>
      <p:sp>
        <p:nvSpPr>
          <p:cNvPr id="26" name="Text 22"/>
          <p:cNvSpPr txBox="1"/>
          <p:nvPr/>
        </p:nvSpPr>
        <p:spPr>
          <a:xfrm>
            <a:off x="7854696" y="1779270"/>
            <a:ext cx="3788359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往下捲到「Anthropic Claude 金鑰」卡片。</a:t>
            </a:r>
            <a:endParaRPr lang="zh-TW" sz="1250" dirty="0"/>
          </a:p>
        </p:txBody>
      </p:sp>
      <p:sp>
        <p:nvSpPr>
          <p:cNvPr id="27" name="marker-2"/>
          <p:cNvSpPr/>
          <p:nvPr/>
        </p:nvSpPr>
        <p:spPr>
          <a:xfrm>
            <a:off x="7452360" y="218084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marker-2-text"/>
          <p:cNvSpPr txBox="1"/>
          <p:nvPr/>
        </p:nvSpPr>
        <p:spPr>
          <a:xfrm>
            <a:off x="7452360" y="21808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29" name="Text 25"/>
          <p:cNvSpPr txBox="1"/>
          <p:nvPr/>
        </p:nvSpPr>
        <p:spPr>
          <a:xfrm>
            <a:off x="7854696" y="2171700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「Anthropic API 金鑰」留空</a:t>
            </a:r>
            <a:endParaRPr lang="zh-TW" sz="1450" dirty="0"/>
          </a:p>
        </p:txBody>
      </p:sp>
      <p:sp>
        <p:nvSpPr>
          <p:cNvPr id="30" name="Text 26"/>
          <p:cNvSpPr txBox="1"/>
          <p:nvPr/>
        </p:nvSpPr>
        <p:spPr>
          <a:xfrm>
            <a:off x="7854696" y="2487930"/>
            <a:ext cx="3788359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金鑰已經在 Vercel，這裡不要貼。</a:t>
            </a:r>
            <a:endParaRPr lang="zh-TW" sz="1250" dirty="0"/>
          </a:p>
        </p:txBody>
      </p:sp>
      <p:sp>
        <p:nvSpPr>
          <p:cNvPr id="31" name="marker-3"/>
          <p:cNvSpPr/>
          <p:nvPr/>
        </p:nvSpPr>
        <p:spPr>
          <a:xfrm>
            <a:off x="7452360" y="288950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marker-3-text"/>
          <p:cNvSpPr txBox="1"/>
          <p:nvPr/>
        </p:nvSpPr>
        <p:spPr>
          <a:xfrm>
            <a:off x="7452360" y="28895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33" name="Text 29"/>
          <p:cNvSpPr txBox="1"/>
          <p:nvPr/>
        </p:nvSpPr>
        <p:spPr>
          <a:xfrm>
            <a:off x="7854696" y="2880360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「網站存取碼」填存取碼</a:t>
            </a:r>
            <a:endParaRPr lang="zh-TW" sz="1450" dirty="0"/>
          </a:p>
        </p:txBody>
      </p:sp>
      <p:sp>
        <p:nvSpPr>
          <p:cNvPr id="34" name="Text 30"/>
          <p:cNvSpPr txBox="1"/>
          <p:nvPr/>
        </p:nvSpPr>
        <p:spPr>
          <a:xfrm>
            <a:off x="7854696" y="3196590"/>
            <a:ext cx="3788359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和 B3 的 LUNYI_ACCESS_CODE 一樣（半形英數字）。</a:t>
            </a:r>
            <a:endParaRPr lang="zh-TW" sz="1250" dirty="0"/>
          </a:p>
        </p:txBody>
      </p:sp>
      <p:sp>
        <p:nvSpPr>
          <p:cNvPr id="35" name="paste"/>
          <p:cNvSpPr/>
          <p:nvPr/>
        </p:nvSpPr>
        <p:spPr>
          <a:xfrm>
            <a:off x="7854696" y="3670554"/>
            <a:ext cx="3788359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 w="9525">
            <a:solidFill>
              <a:srgbClr val="E6CF7A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7946136" y="3670554"/>
            <a:ext cx="289224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lunyi-2026</a:t>
            </a:r>
            <a:endParaRPr lang="zh-TW" sz="1150" dirty="0"/>
          </a:p>
        </p:txBody>
      </p:sp>
      <p:sp>
        <p:nvSpPr>
          <p:cNvPr id="37" name="Text 33"/>
          <p:cNvSpPr txBox="1"/>
          <p:nvPr/>
        </p:nvSpPr>
        <p:spPr>
          <a:xfrm>
            <a:off x="10874959" y="367055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50" b="1" dirty="0">
                <a:solidFill>
                  <a:schemeClr val="accent3"/>
                </a:solidFill>
              </a:rPr>
              <a:t>換成你的</a:t>
            </a:r>
            <a:endParaRPr lang="zh-TW" sz="950" dirty="0"/>
          </a:p>
        </p:txBody>
      </p:sp>
      <p:sp>
        <p:nvSpPr>
          <p:cNvPr id="38" name="marker-4"/>
          <p:cNvSpPr/>
          <p:nvPr/>
        </p:nvSpPr>
        <p:spPr>
          <a:xfrm>
            <a:off x="7452360" y="417347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marker-4-text"/>
          <p:cNvSpPr txBox="1"/>
          <p:nvPr/>
        </p:nvSpPr>
        <p:spPr>
          <a:xfrm>
            <a:off x="7452360" y="417347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4</a:t>
            </a:r>
            <a:endParaRPr lang="zh-TW" sz="1200" dirty="0"/>
          </a:p>
        </p:txBody>
      </p:sp>
      <p:sp>
        <p:nvSpPr>
          <p:cNvPr id="40" name="Text 36"/>
          <p:cNvSpPr txBox="1"/>
          <p:nvPr/>
        </p:nvSpPr>
        <p:spPr>
          <a:xfrm>
            <a:off x="7854696" y="4164330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按「儲存並使用 Claude」</a:t>
            </a:r>
            <a:endParaRPr lang="zh-TW" sz="1450" dirty="0"/>
          </a:p>
        </p:txBody>
      </p:sp>
      <p:sp>
        <p:nvSpPr>
          <p:cNvPr id="41" name="marker-5"/>
          <p:cNvSpPr/>
          <p:nvPr/>
        </p:nvSpPr>
        <p:spPr>
          <a:xfrm>
            <a:off x="7452360" y="4617720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2" name="marker-5-text"/>
          <p:cNvSpPr txBox="1"/>
          <p:nvPr/>
        </p:nvSpPr>
        <p:spPr>
          <a:xfrm>
            <a:off x="7452360" y="4617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5</a:t>
            </a:r>
            <a:endParaRPr lang="zh-TW" sz="1200" dirty="0"/>
          </a:p>
        </p:txBody>
      </p:sp>
      <p:sp>
        <p:nvSpPr>
          <p:cNvPr id="43" name="Text 39"/>
          <p:cNvSpPr txBox="1"/>
          <p:nvPr/>
        </p:nvSpPr>
        <p:spPr>
          <a:xfrm>
            <a:off x="7854696" y="4608576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看到「已儲存存取碼（使用網站後端）」</a:t>
            </a:r>
            <a:endParaRPr lang="zh-TW" sz="1450" dirty="0"/>
          </a:p>
        </p:txBody>
      </p:sp>
      <p:sp>
        <p:nvSpPr>
          <p:cNvPr id="44" name="Text 40"/>
          <p:cNvSpPr txBox="1"/>
          <p:nvPr/>
        </p:nvSpPr>
        <p:spPr>
          <a:xfrm>
            <a:off x="7854696" y="4924806"/>
            <a:ext cx="3788359" cy="646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如果寫「這個網址沒有網站後端 AI」或「會優先使用 Gemini 金鑰」，照提示處理。使用者也照 2～5 做，見 B7。</a:t>
            </a:r>
            <a:endParaRPr lang="zh-TW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2764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B6　論憶</a:t>
            </a:r>
            <a:endParaRPr lang="zh-TW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0350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確認成功：新增論文時 AI 自動產生關鍵詞與連線</a:t>
            </a:r>
            <a:endParaRPr lang="zh-TW" sz="2800" dirty="0"/>
          </a:p>
        </p:txBody>
      </p:sp>
      <p:sp>
        <p:nvSpPr>
          <p:cNvPr id="4" name="chip-backend-frame"/>
          <p:cNvSpPr/>
          <p:nvPr/>
        </p:nvSpPr>
        <p:spPr>
          <a:xfrm>
            <a:off x="548640" y="1481328"/>
            <a:ext cx="6629400" cy="540941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5" name="chip-backend" descr="chip-backe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6629400" cy="540941"/>
          </a:xfrm>
          <a:prstGeom prst="rect">
            <a:avLst/>
          </a:prstGeom>
        </p:spPr>
      </p:pic>
      <p:sp>
        <p:nvSpPr>
          <p:cNvPr id="6" name="hl-1"/>
          <p:cNvSpPr/>
          <p:nvPr/>
        </p:nvSpPr>
        <p:spPr>
          <a:xfrm>
            <a:off x="5570227" y="1546364"/>
            <a:ext cx="1474114" cy="366945"/>
          </a:xfrm>
          <a:prstGeom prst="roundRect">
            <a:avLst>
              <a:gd name="adj" fmla="val 14952"/>
            </a:avLst>
          </a:prstGeom>
          <a:ln w="28575">
            <a:solidFill>
              <a:schemeClr val="accent3"/>
            </a:solidFill>
            <a:prstDash val="solid"/>
          </a:ln>
        </p:spPr>
      </p:sp>
      <p:sp>
        <p:nvSpPr>
          <p:cNvPr id="7" name="marker-1"/>
          <p:cNvSpPr/>
          <p:nvPr/>
        </p:nvSpPr>
        <p:spPr>
          <a:xfrm>
            <a:off x="5222755" y="1574389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marker-1-text"/>
          <p:cNvSpPr txBox="1"/>
          <p:nvPr/>
        </p:nvSpPr>
        <p:spPr>
          <a:xfrm>
            <a:off x="5222755" y="157438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9" name="_add-ai.png-frame"/>
          <p:cNvSpPr/>
          <p:nvPr/>
        </p:nvSpPr>
        <p:spPr>
          <a:xfrm>
            <a:off x="548640" y="2377440"/>
            <a:ext cx="6629400" cy="1998865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0" name="_add-ai.png" descr="_add-a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77440"/>
            <a:ext cx="6629400" cy="1998865"/>
          </a:xfrm>
          <a:prstGeom prst="rect">
            <a:avLst/>
          </a:prstGeom>
        </p:spPr>
      </p:pic>
      <p:sp>
        <p:nvSpPr>
          <p:cNvPr id="11" name="hl-2"/>
          <p:cNvSpPr/>
          <p:nvPr/>
        </p:nvSpPr>
        <p:spPr>
          <a:xfrm>
            <a:off x="782366" y="2518953"/>
            <a:ext cx="6161948" cy="247847"/>
          </a:xfrm>
          <a:prstGeom prst="roundRect">
            <a:avLst>
              <a:gd name="adj" fmla="val 22136"/>
            </a:avLst>
          </a:prstGeom>
          <a:ln w="28575">
            <a:solidFill>
              <a:schemeClr val="accent3"/>
            </a:solidFill>
            <a:prstDash val="solid"/>
          </a:ln>
        </p:spPr>
      </p:sp>
      <p:sp>
        <p:nvSpPr>
          <p:cNvPr id="12" name="marker-2"/>
          <p:cNvSpPr/>
          <p:nvPr/>
        </p:nvSpPr>
        <p:spPr>
          <a:xfrm>
            <a:off x="434894" y="2487429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marker-2-text"/>
          <p:cNvSpPr txBox="1"/>
          <p:nvPr/>
        </p:nvSpPr>
        <p:spPr>
          <a:xfrm>
            <a:off x="434894" y="248742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14" name="hl-3"/>
          <p:cNvSpPr/>
          <p:nvPr/>
        </p:nvSpPr>
        <p:spPr>
          <a:xfrm>
            <a:off x="782366" y="3868577"/>
            <a:ext cx="6161948" cy="447116"/>
          </a:xfrm>
          <a:prstGeom prst="roundRect">
            <a:avLst>
              <a:gd name="adj" fmla="val 12271"/>
            </a:avLst>
          </a:prstGeom>
          <a:ln w="28575">
            <a:solidFill>
              <a:schemeClr val="accent3"/>
            </a:solidFill>
            <a:prstDash val="solid"/>
          </a:ln>
        </p:spPr>
      </p:sp>
      <p:sp>
        <p:nvSpPr>
          <p:cNvPr id="15" name="marker-3"/>
          <p:cNvSpPr/>
          <p:nvPr/>
        </p:nvSpPr>
        <p:spPr>
          <a:xfrm>
            <a:off x="434894" y="3936687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marker-3-text"/>
          <p:cNvSpPr txBox="1"/>
          <p:nvPr/>
        </p:nvSpPr>
        <p:spPr>
          <a:xfrm>
            <a:off x="434894" y="393668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17" name="tag-real"/>
          <p:cNvSpPr/>
          <p:nvPr/>
        </p:nvSpPr>
        <p:spPr>
          <a:xfrm>
            <a:off x="548640" y="4467745"/>
            <a:ext cx="868680" cy="25603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4467745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chemeClr val="bg1"/>
                </a:solidFill>
              </a:rPr>
              <a:t>實際畫面</a:t>
            </a:r>
            <a:endParaRPr lang="zh-TW" sz="1000" dirty="0"/>
          </a:p>
        </p:txBody>
      </p:sp>
      <p:sp>
        <p:nvSpPr>
          <p:cNvPr id="19" name="note"/>
          <p:cNvSpPr/>
          <p:nvPr/>
        </p:nvSpPr>
        <p:spPr>
          <a:xfrm>
            <a:off x="548640" y="4833505"/>
            <a:ext cx="6629400" cy="606552"/>
          </a:xfrm>
          <a:prstGeom prst="roundRect">
            <a:avLst>
              <a:gd name="adj" fmla="val 9045"/>
            </a:avLst>
          </a:prstGeom>
          <a:solidFill>
            <a:srgbClr val="EEF4F4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694944" y="4924945"/>
            <a:ext cx="6336792" cy="423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00" dirty="0">
                <a:solidFill>
                  <a:srgbClr val="1D3B3D"/>
                </a:solidFill>
              </a:rPr>
              <a:t>以前沒有 AI 時加進來的論文不會自動補關鍵詞，要用閱讀器的「編輯資訊」手動填。費用提醒：後端開啟後，預設的「自動」翻譯也會改用 Claude，這是最花額度的部分。</a:t>
            </a:r>
            <a:endParaRPr lang="zh-TW" sz="1100" dirty="0"/>
          </a:p>
        </p:txBody>
      </p:sp>
      <p:sp>
        <p:nvSpPr>
          <p:cNvPr id="21" name="marker-1"/>
          <p:cNvSpPr/>
          <p:nvPr/>
        </p:nvSpPr>
        <p:spPr>
          <a:xfrm>
            <a:off x="7452360" y="147218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marker-1-text"/>
          <p:cNvSpPr txBox="1"/>
          <p:nvPr/>
        </p:nvSpPr>
        <p:spPr>
          <a:xfrm>
            <a:off x="7452360" y="14721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7854696" y="1463040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右上角變成「AI：網站後端 AI」</a:t>
            </a:r>
            <a:endParaRPr lang="zh-TW" sz="1450" dirty="0"/>
          </a:p>
        </p:txBody>
      </p:sp>
      <p:sp>
        <p:nvSpPr>
          <p:cNvPr id="24" name="Text 20"/>
          <p:cNvSpPr txBox="1"/>
          <p:nvPr/>
        </p:nvSpPr>
        <p:spPr>
          <a:xfrm>
            <a:off x="7854696" y="1779270"/>
            <a:ext cx="3788359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沒有變的話，確認開的是 Vercel 網址，再重新整理一次。</a:t>
            </a:r>
            <a:endParaRPr lang="zh-TW" sz="1250" dirty="0"/>
          </a:p>
        </p:txBody>
      </p:sp>
      <p:sp>
        <p:nvSpPr>
          <p:cNvPr id="25" name="marker-2"/>
          <p:cNvSpPr/>
          <p:nvPr/>
        </p:nvSpPr>
        <p:spPr>
          <a:xfrm>
            <a:off x="7452360" y="239039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marker-2-text"/>
          <p:cNvSpPr txBox="1"/>
          <p:nvPr/>
        </p:nvSpPr>
        <p:spPr>
          <a:xfrm>
            <a:off x="7452360" y="239039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7854696" y="2381250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新增論文的視窗寫「會由 AI 自動辨識」</a:t>
            </a:r>
            <a:endParaRPr lang="zh-TW" sz="1450" dirty="0"/>
          </a:p>
        </p:txBody>
      </p:sp>
      <p:sp>
        <p:nvSpPr>
          <p:cNvPr id="28" name="Text 24"/>
          <p:cNvSpPr txBox="1"/>
          <p:nvPr/>
        </p:nvSpPr>
        <p:spPr>
          <a:xfrm>
            <a:off x="7854696" y="2697480"/>
            <a:ext cx="3788359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左側「＋ 新增論文」，上傳一篇 PDF。</a:t>
            </a:r>
            <a:endParaRPr lang="zh-TW" sz="1250" dirty="0"/>
          </a:p>
        </p:txBody>
      </p:sp>
      <p:sp>
        <p:nvSpPr>
          <p:cNvPr id="29" name="marker-3"/>
          <p:cNvSpPr/>
          <p:nvPr/>
        </p:nvSpPr>
        <p:spPr>
          <a:xfrm>
            <a:off x="7452360" y="309905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marker-3-text"/>
          <p:cNvSpPr txBox="1"/>
          <p:nvPr/>
        </p:nvSpPr>
        <p:spPr>
          <a:xfrm>
            <a:off x="7452360" y="309905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7854696" y="3089910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關鍵詞欄留空，按「儲存並翻譯」</a:t>
            </a:r>
            <a:endParaRPr lang="zh-TW" sz="1450" dirty="0"/>
          </a:p>
        </p:txBody>
      </p:sp>
      <p:sp>
        <p:nvSpPr>
          <p:cNvPr id="32" name="Text 28"/>
          <p:cNvSpPr txBox="1"/>
          <p:nvPr/>
        </p:nvSpPr>
        <p:spPr>
          <a:xfrm>
            <a:off x="7854696" y="3406140"/>
            <a:ext cx="3788359" cy="856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儲存後在閱讀器按「編輯資訊」：關鍵詞已經自動填好、標題是論文的標題（不是檔名）才算成功。提示出現「AI 沒有辨識出…」時，看最後的「疑難排解」。</a:t>
            </a:r>
            <a:endParaRPr lang="zh-TW" sz="1250" dirty="0"/>
          </a:p>
        </p:txBody>
      </p:sp>
      <p:sp>
        <p:nvSpPr>
          <p:cNvPr id="33" name="marker-4"/>
          <p:cNvSpPr/>
          <p:nvPr/>
        </p:nvSpPr>
        <p:spPr>
          <a:xfrm>
            <a:off x="7452360" y="443636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marker-4-text"/>
          <p:cNvSpPr txBox="1"/>
          <p:nvPr/>
        </p:nvSpPr>
        <p:spPr>
          <a:xfrm>
            <a:off x="7452360" y="44363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4</a:t>
            </a:r>
            <a:endParaRPr lang="zh-TW" sz="1200" dirty="0"/>
          </a:p>
        </p:txBody>
      </p:sp>
      <p:sp>
        <p:nvSpPr>
          <p:cNvPr id="35" name="Text 31"/>
          <p:cNvSpPr txBox="1"/>
          <p:nvPr/>
        </p:nvSpPr>
        <p:spPr>
          <a:xfrm>
            <a:off x="7854696" y="4427220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確認存取碼有效</a:t>
            </a:r>
            <a:endParaRPr lang="zh-TW" sz="1450" dirty="0"/>
          </a:p>
        </p:txBody>
      </p:sp>
      <p:sp>
        <p:nvSpPr>
          <p:cNvPr id="36" name="Text 32"/>
          <p:cNvSpPr txBox="1"/>
          <p:nvPr/>
        </p:nvSpPr>
        <p:spPr>
          <a:xfrm>
            <a:off x="7854696" y="4743450"/>
            <a:ext cx="3788359" cy="646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開無痕視窗打開網站、不輸入存取碼，新增一篇論文：提示出現「網站存取碼錯誤」，代表陌生人用不到你的額度。</a:t>
            </a:r>
            <a:endParaRPr lang="zh-TW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2764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B7　發給使用者</a:t>
            </a:r>
            <a:endParaRPr lang="zh-TW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0350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使用者只要做這三步</a:t>
            </a:r>
            <a:endParaRPr lang="zh-TW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2044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</p:spPr>
      </p:sp>
      <p:sp>
        <p:nvSpPr>
          <p:cNvPr id="5" name="marker-1"/>
          <p:cNvSpPr/>
          <p:nvPr/>
        </p:nvSpPr>
        <p:spPr>
          <a:xfrm>
            <a:off x="804672" y="1828800"/>
            <a:ext cx="457200" cy="45720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marker-1-text"/>
          <p:cNvSpPr txBox="1"/>
          <p:nvPr/>
        </p:nvSpPr>
        <p:spPr>
          <a:xfrm>
            <a:off x="804672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755648"/>
            <a:ext cx="2468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打開網站</a:t>
            </a:r>
            <a:endParaRPr lang="zh-TW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56032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journal-article-memory-tool.vercel.app（要用這個網址，GitHub Pages 備用網址沒有 AI）</a:t>
            </a:r>
            <a:endParaRPr lang="zh-TW" sz="1250" dirty="0"/>
          </a:p>
        </p:txBody>
      </p:sp>
      <p:sp>
        <p:nvSpPr>
          <p:cNvPr id="9" name="Shape 7"/>
          <p:cNvSpPr/>
          <p:nvPr/>
        </p:nvSpPr>
        <p:spPr>
          <a:xfrm>
            <a:off x="4261104" y="1554480"/>
            <a:ext cx="352044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</p:spPr>
      </p:sp>
      <p:sp>
        <p:nvSpPr>
          <p:cNvPr id="10" name="marker-2"/>
          <p:cNvSpPr/>
          <p:nvPr/>
        </p:nvSpPr>
        <p:spPr>
          <a:xfrm>
            <a:off x="4517136" y="1828800"/>
            <a:ext cx="457200" cy="45720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marker-2-text"/>
          <p:cNvSpPr txBox="1"/>
          <p:nvPr/>
        </p:nvSpPr>
        <p:spPr>
          <a:xfrm>
            <a:off x="4517136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129784" y="1755648"/>
            <a:ext cx="2468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左側「設定與備份」→「進階」</a:t>
            </a:r>
            <a:endParaRPr lang="zh-TW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35424" y="256032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手機或視窗較窄時，先按左上角 ☰。找到「Anthropic Claude 金鑰」卡片，金鑰欄留空。</a:t>
            </a:r>
            <a:endParaRPr lang="zh-TW" sz="1250" dirty="0"/>
          </a:p>
        </p:txBody>
      </p:sp>
      <p:sp>
        <p:nvSpPr>
          <p:cNvPr id="14" name="Shape 12"/>
          <p:cNvSpPr/>
          <p:nvPr/>
        </p:nvSpPr>
        <p:spPr>
          <a:xfrm>
            <a:off x="7973568" y="1554480"/>
            <a:ext cx="352044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</p:spPr>
      </p:sp>
      <p:sp>
        <p:nvSpPr>
          <p:cNvPr id="15" name="marker-3"/>
          <p:cNvSpPr/>
          <p:nvPr/>
        </p:nvSpPr>
        <p:spPr>
          <a:xfrm>
            <a:off x="8229600" y="1828800"/>
            <a:ext cx="457200" cy="45720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marker-3-text"/>
          <p:cNvSpPr txBox="1"/>
          <p:nvPr/>
        </p:nvSpPr>
        <p:spPr>
          <a:xfrm>
            <a:off x="822960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842248" y="1755648"/>
            <a:ext cx="2468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填「網站存取碼」，按「儲存並使用 Claude」</a:t>
            </a:r>
            <a:endParaRPr lang="zh-TW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247888" y="256032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存取碼向管理者索取。看到「已儲存存取碼（使用網站後端）」後新增一篇論文試試；出現「網站存取碼錯誤」就是打錯了。每台電腦、每個瀏覽器都要輸入一次。</a:t>
            </a:r>
            <a:endParaRPr lang="zh-TW" sz="1250" dirty="0"/>
          </a:p>
        </p:txBody>
      </p:sp>
      <p:sp>
        <p:nvSpPr>
          <p:cNvPr id="19" name="card-claude.png-frame"/>
          <p:cNvSpPr/>
          <p:nvPr/>
        </p:nvSpPr>
        <p:spPr>
          <a:xfrm>
            <a:off x="548640" y="3977640"/>
            <a:ext cx="3825293" cy="1783080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0" name="card-claude.png" descr="card-clau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977640"/>
            <a:ext cx="3825293" cy="1783080"/>
          </a:xfrm>
          <a:prstGeom prst="rect">
            <a:avLst/>
          </a:prstGeom>
        </p:spPr>
      </p:pic>
      <p:sp>
        <p:nvSpPr>
          <p:cNvPr id="21" name="hl-3"/>
          <p:cNvSpPr/>
          <p:nvPr/>
        </p:nvSpPr>
        <p:spPr>
          <a:xfrm>
            <a:off x="622899" y="5157058"/>
            <a:ext cx="3676774" cy="276887"/>
          </a:xfrm>
          <a:prstGeom prst="roundRect">
            <a:avLst>
              <a:gd name="adj" fmla="val 19815"/>
            </a:avLst>
          </a:prstGeom>
          <a:ln w="28575">
            <a:solidFill>
              <a:schemeClr val="accent3"/>
            </a:solidFill>
            <a:prstDash val="solid"/>
          </a:ln>
        </p:spPr>
      </p:sp>
      <p:sp>
        <p:nvSpPr>
          <p:cNvPr id="22" name="marker-3"/>
          <p:cNvSpPr/>
          <p:nvPr/>
        </p:nvSpPr>
        <p:spPr>
          <a:xfrm>
            <a:off x="4336249" y="5140054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marker-3-text"/>
          <p:cNvSpPr txBox="1"/>
          <p:nvPr/>
        </p:nvSpPr>
        <p:spPr>
          <a:xfrm>
            <a:off x="4336249" y="51400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24" name="tag-real"/>
          <p:cNvSpPr/>
          <p:nvPr/>
        </p:nvSpPr>
        <p:spPr>
          <a:xfrm>
            <a:off x="548640" y="5833872"/>
            <a:ext cx="868680" cy="25603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583387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chemeClr val="bg1"/>
                </a:solidFill>
              </a:rPr>
              <a:t>實際畫面</a:t>
            </a:r>
            <a:endParaRPr lang="zh-TW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0" y="4069080"/>
            <a:ext cx="61566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TW" altLang="en-US" sz="1250" b="1" dirty="0">
                <a:solidFill>
                  <a:schemeClr val="tx1"/>
                </a:solidFill>
              </a:rPr>
              <a:t>小提醒</a:t>
            </a:r>
            <a:endParaRPr lang="zh-TW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zh-TW" altLang="en-US" sz="1250" dirty="0">
                <a:solidFill>
                  <a:schemeClr val="tx1"/>
                </a:solidFill>
              </a:rPr>
              <a:t>存取碼不要公開貼到網路上。</a:t>
            </a:r>
            <a:endParaRPr lang="zh-TW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zh-TW" altLang="en-US" sz="1250" dirty="0">
                <a:solidFill>
                  <a:schemeClr val="tx1"/>
                </a:solidFill>
              </a:rPr>
              <a:t>想省額度：「設定與備份」→「AI 模型」→ 翻譯選「瀏覽器內建翻譯」（限電腦版 Chrome）。</a:t>
            </a:r>
            <a:endParaRPr lang="zh-TW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zh-TW" altLang="en-US" sz="1250" dirty="0">
                <a:solidFill>
                  <a:schemeClr val="tx1"/>
                </a:solidFill>
              </a:rPr>
              <a:t>出現「網站存取碼錯誤」：重新輸入，或向管理者確認。</a:t>
            </a:r>
            <a:endParaRPr lang="zh-TW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2764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C　Google AI Studio＋論憶</a:t>
            </a:r>
            <a:endParaRPr lang="zh-TW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0350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只有自己用：貼上免費的 Gemini 金鑰</a:t>
            </a:r>
            <a:endParaRPr lang="zh-TW" sz="2800" dirty="0"/>
          </a:p>
        </p:txBody>
      </p:sp>
      <p:sp>
        <p:nvSpPr>
          <p:cNvPr id="4" name="card-gemini.png-frame"/>
          <p:cNvSpPr/>
          <p:nvPr/>
        </p:nvSpPr>
        <p:spPr>
          <a:xfrm>
            <a:off x="548640" y="1481328"/>
            <a:ext cx="6629400" cy="2598297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5" name="card-gemini.png" descr="card-gemin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6629400" cy="2598297"/>
          </a:xfrm>
          <a:prstGeom prst="rect">
            <a:avLst/>
          </a:prstGeom>
        </p:spPr>
      </p:pic>
      <p:sp>
        <p:nvSpPr>
          <p:cNvPr id="6" name="hl-1"/>
          <p:cNvSpPr/>
          <p:nvPr/>
        </p:nvSpPr>
        <p:spPr>
          <a:xfrm>
            <a:off x="4919033" y="1614698"/>
            <a:ext cx="2126050" cy="387189"/>
          </a:xfrm>
          <a:prstGeom prst="roundRect">
            <a:avLst>
              <a:gd name="adj" fmla="val 14170"/>
            </a:avLst>
          </a:prstGeom>
          <a:ln w="28575">
            <a:solidFill>
              <a:schemeClr val="accent3"/>
            </a:solidFill>
            <a:prstDash val="solid"/>
          </a:ln>
        </p:spPr>
      </p:sp>
      <p:sp>
        <p:nvSpPr>
          <p:cNvPr id="7" name="marker-1"/>
          <p:cNvSpPr/>
          <p:nvPr/>
        </p:nvSpPr>
        <p:spPr>
          <a:xfrm>
            <a:off x="4571561" y="1652845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marker-1-text"/>
          <p:cNvSpPr txBox="1"/>
          <p:nvPr/>
        </p:nvSpPr>
        <p:spPr>
          <a:xfrm>
            <a:off x="4571561" y="165284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9" name="hl-3"/>
          <p:cNvSpPr/>
          <p:nvPr/>
        </p:nvSpPr>
        <p:spPr>
          <a:xfrm>
            <a:off x="681597" y="2529931"/>
            <a:ext cx="6363487" cy="472950"/>
          </a:xfrm>
          <a:prstGeom prst="roundRect">
            <a:avLst>
              <a:gd name="adj" fmla="val 11600"/>
            </a:avLst>
          </a:prstGeom>
          <a:ln w="28575">
            <a:solidFill>
              <a:schemeClr val="accent3"/>
            </a:solidFill>
            <a:prstDash val="solid"/>
          </a:ln>
        </p:spPr>
      </p:sp>
      <p:sp>
        <p:nvSpPr>
          <p:cNvPr id="10" name="marker-3"/>
          <p:cNvSpPr/>
          <p:nvPr/>
        </p:nvSpPr>
        <p:spPr>
          <a:xfrm>
            <a:off x="334125" y="2610958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marker-3-text"/>
          <p:cNvSpPr txBox="1"/>
          <p:nvPr/>
        </p:nvSpPr>
        <p:spPr>
          <a:xfrm>
            <a:off x="334125" y="261095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12" name="hl-4"/>
          <p:cNvSpPr/>
          <p:nvPr/>
        </p:nvSpPr>
        <p:spPr>
          <a:xfrm>
            <a:off x="681597" y="3548346"/>
            <a:ext cx="1451749" cy="387189"/>
          </a:xfrm>
          <a:prstGeom prst="roundRect">
            <a:avLst>
              <a:gd name="adj" fmla="val 14170"/>
            </a:avLst>
          </a:prstGeom>
          <a:ln w="28575">
            <a:solidFill>
              <a:schemeClr val="accent3"/>
            </a:solidFill>
            <a:prstDash val="solid"/>
          </a:ln>
        </p:spPr>
      </p:sp>
      <p:sp>
        <p:nvSpPr>
          <p:cNvPr id="13" name="marker-4"/>
          <p:cNvSpPr/>
          <p:nvPr/>
        </p:nvSpPr>
        <p:spPr>
          <a:xfrm>
            <a:off x="334125" y="3586492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marker-4-text"/>
          <p:cNvSpPr txBox="1"/>
          <p:nvPr/>
        </p:nvSpPr>
        <p:spPr>
          <a:xfrm>
            <a:off x="334125" y="35864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4</a:t>
            </a:r>
            <a:endParaRPr lang="zh-TW" sz="1200" dirty="0"/>
          </a:p>
        </p:txBody>
      </p:sp>
      <p:sp>
        <p:nvSpPr>
          <p:cNvPr id="15" name="tag-real"/>
          <p:cNvSpPr/>
          <p:nvPr/>
        </p:nvSpPr>
        <p:spPr>
          <a:xfrm>
            <a:off x="548640" y="4171065"/>
            <a:ext cx="868680" cy="25603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4171065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chemeClr val="bg1"/>
                </a:solidFill>
              </a:rPr>
              <a:t>實際畫面</a:t>
            </a:r>
            <a:endParaRPr lang="zh-TW" sz="1000" dirty="0"/>
          </a:p>
        </p:txBody>
      </p:sp>
      <p:sp>
        <p:nvSpPr>
          <p:cNvPr id="17" name="note"/>
          <p:cNvSpPr/>
          <p:nvPr/>
        </p:nvSpPr>
        <p:spPr>
          <a:xfrm>
            <a:off x="548640" y="4582545"/>
            <a:ext cx="6629400" cy="816102"/>
          </a:xfrm>
          <a:prstGeom prst="roundRect">
            <a:avLst>
              <a:gd name="adj" fmla="val 6723"/>
            </a:avLst>
          </a:prstGeom>
          <a:solidFill>
            <a:srgbClr val="FBEEE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94944" y="4673985"/>
            <a:ext cx="6336792" cy="633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50" dirty="0">
                <a:solidFill>
                  <a:srgbClr val="7A2E12"/>
                </a:solidFill>
              </a:rPr>
              <a:t>免費版的內容可能被 Google 用來改進產品（Gemini API 附加條款），未發表的稿件請留意。需年滿 18 歲；學校帳號可能被學校關閉 AI Studio，建議用個人 Gmail。存了 Gemini 金鑰的瀏覽器會優先用 Gemini、不走網站後端；要改回就在 Gemini 卡片按「清除」。</a:t>
            </a:r>
            <a:endParaRPr lang="zh-TW" sz="1150" dirty="0"/>
          </a:p>
        </p:txBody>
      </p:sp>
      <p:sp>
        <p:nvSpPr>
          <p:cNvPr id="19" name="marker-1"/>
          <p:cNvSpPr/>
          <p:nvPr/>
        </p:nvSpPr>
        <p:spPr>
          <a:xfrm>
            <a:off x="7452360" y="147218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marker-1-text"/>
          <p:cNvSpPr txBox="1"/>
          <p:nvPr/>
        </p:nvSpPr>
        <p:spPr>
          <a:xfrm>
            <a:off x="7452360" y="14721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7854696" y="1463040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按「用 Google 帳號免費取得金鑰 ↗」</a:t>
            </a:r>
            <a:endParaRPr lang="zh-TW" sz="1450" dirty="0"/>
          </a:p>
        </p:txBody>
      </p:sp>
      <p:sp>
        <p:nvSpPr>
          <p:cNvPr id="22" name="Text 19"/>
          <p:cNvSpPr txBox="1"/>
          <p:nvPr/>
        </p:nvSpPr>
        <p:spPr>
          <a:xfrm>
            <a:off x="7854696" y="1779270"/>
            <a:ext cx="3788359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在「設定與備份」→「進階」的 Gemini 卡片，會打開 aistudio.google.com/apikey。</a:t>
            </a:r>
            <a:endParaRPr lang="zh-TW" sz="1250" dirty="0"/>
          </a:p>
        </p:txBody>
      </p:sp>
      <p:sp>
        <p:nvSpPr>
          <p:cNvPr id="23" name="marker-2"/>
          <p:cNvSpPr/>
          <p:nvPr/>
        </p:nvSpPr>
        <p:spPr>
          <a:xfrm>
            <a:off x="7452360" y="2399538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marker-2-text"/>
          <p:cNvSpPr txBox="1"/>
          <p:nvPr/>
        </p:nvSpPr>
        <p:spPr>
          <a:xfrm>
            <a:off x="7452360" y="239953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7854696" y="2390394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在 AI Studio 建立並複製金鑰</a:t>
            </a:r>
            <a:endParaRPr lang="zh-TW" sz="1450" dirty="0"/>
          </a:p>
        </p:txBody>
      </p:sp>
      <p:sp>
        <p:nvSpPr>
          <p:cNvPr id="26" name="Text 23"/>
          <p:cNvSpPr txBox="1"/>
          <p:nvPr/>
        </p:nvSpPr>
        <p:spPr>
          <a:xfrm>
            <a:off x="7854696" y="2706624"/>
            <a:ext cx="3788359" cy="1066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第一次使用要先同意服務條款。按「Create API key」，取個名字，在專案選單選一個 Google Cloud 專案（清單是空的就建立新專案，或到 Dashboard → Projects →「Import projects」匯入 A1 的「論憶」），建好後按複製圖示。</a:t>
            </a:r>
            <a:endParaRPr lang="zh-TW" sz="1250" dirty="0"/>
          </a:p>
        </p:txBody>
      </p:sp>
      <p:sp>
        <p:nvSpPr>
          <p:cNvPr id="27" name="marker-3"/>
          <p:cNvSpPr/>
          <p:nvPr/>
        </p:nvSpPr>
        <p:spPr>
          <a:xfrm>
            <a:off x="7452360" y="3955542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marker-3-text"/>
          <p:cNvSpPr txBox="1"/>
          <p:nvPr/>
        </p:nvSpPr>
        <p:spPr>
          <a:xfrm>
            <a:off x="7452360" y="395554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7854696" y="3946398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貼到「Gemini API 金鑰」</a:t>
            </a:r>
            <a:endParaRPr lang="zh-TW" sz="1450" dirty="0"/>
          </a:p>
        </p:txBody>
      </p:sp>
      <p:sp>
        <p:nvSpPr>
          <p:cNvPr id="30" name="Text 27"/>
          <p:cNvSpPr txBox="1"/>
          <p:nvPr/>
        </p:nvSpPr>
        <p:spPr>
          <a:xfrm>
            <a:off x="7854696" y="4262628"/>
            <a:ext cx="3788359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「模型名稱」留空即可（預設 gemini-3.8-flash）。不要填 gemini-2.5-flash，新金鑰已經不能用。</a:t>
            </a:r>
            <a:endParaRPr lang="zh-TW" sz="1250" dirty="0"/>
          </a:p>
        </p:txBody>
      </p:sp>
      <p:sp>
        <p:nvSpPr>
          <p:cNvPr id="31" name="marker-4"/>
          <p:cNvSpPr/>
          <p:nvPr/>
        </p:nvSpPr>
        <p:spPr>
          <a:xfrm>
            <a:off x="7452360" y="4882896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marker-4-text"/>
          <p:cNvSpPr txBox="1"/>
          <p:nvPr/>
        </p:nvSpPr>
        <p:spPr>
          <a:xfrm>
            <a:off x="7452360" y="4882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4</a:t>
            </a:r>
            <a:endParaRPr lang="zh-TW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7854696" y="4873752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按「儲存並使用 Gemini」</a:t>
            </a:r>
            <a:endParaRPr lang="zh-TW" sz="1450" dirty="0"/>
          </a:p>
        </p:txBody>
      </p:sp>
      <p:sp>
        <p:nvSpPr>
          <p:cNvPr id="34" name="Text 31"/>
          <p:cNvSpPr txBox="1"/>
          <p:nvPr/>
        </p:nvSpPr>
        <p:spPr>
          <a:xfrm>
            <a:off x="7854696" y="5189982"/>
            <a:ext cx="3788359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看到「已驗證，AI 改用 Gemini」就完成，右上角會顯示「Gemini 金鑰」。</a:t>
            </a:r>
            <a:endParaRPr lang="zh-TW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2764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疑難排解</a:t>
            </a:r>
            <a:endParaRPr lang="zh-TW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0350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遇到問題時先看這裡</a:t>
            </a:r>
            <a:endParaRPr lang="zh-TW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論憶的提示會附上錯誤原因；英文的部分來自 Anthropic 或 Google，照下表找對應的處理方式。</a:t>
            </a:r>
            <a:endParaRPr lang="zh-TW" sz="1150" dirty="0"/>
          </a:p>
        </p:txBody>
      </p:sp>
      <p:graphicFrame>
        <p:nvGraphicFramePr>
          <p:cNvPr id="20" name="troubleshoo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4415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840480"/>
                <a:gridCol w="350215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250" b="1" dirty="0">
                          <a:solidFill>
                            <a:schemeClr val="bg1"/>
                          </a:solidFill>
                        </a:rPr>
                        <a:t>看到的狀況</a:t>
                      </a:r>
                      <a:endParaRPr lang="zh-TW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250" b="1" dirty="0">
                          <a:solidFill>
                            <a:schemeClr val="bg1"/>
                          </a:solidFill>
                        </a:rPr>
                        <a:t>原因</a:t>
                      </a:r>
                      <a:endParaRPr lang="zh-TW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250" b="1" dirty="0">
                          <a:solidFill>
                            <a:schemeClr val="bg1"/>
                          </a:solidFill>
                        </a:rPr>
                        <a:t>怎麼處理</a:t>
                      </a:r>
                      <a:endParaRPr lang="zh-TW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50" b="1" dirty="0">
                          <a:solidFill>
                            <a:schemeClr val="tx1"/>
                          </a:solidFill>
                        </a:rPr>
                        <a:t>「繼續使用 Google」還是灰的</a:t>
                      </a:r>
                      <a:endParaRPr lang="zh-TW" sz="10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50" dirty="0">
                          <a:solidFill>
                            <a:schemeClr val="tx1"/>
                          </a:solidFill>
                        </a:rPr>
                        <a:t>用戶端 ID 還沒寫進程式，或這台瀏覽器沒存</a:t>
                      </a:r>
                      <a:endParaRPr lang="zh-TW" sz="10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50" dirty="0">
                          <a:solidFill>
                            <a:schemeClr val="tx1"/>
                          </a:solidFill>
                        </a:rPr>
                        <a:t>A5 先試用；A6 寫進程式並發布</a:t>
                      </a:r>
                      <a:endParaRPr lang="zh-TW" sz="10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50" b="1" dirty="0">
                          <a:solidFill>
                            <a:schemeClr val="tx1"/>
                          </a:solidFill>
                        </a:rPr>
                        <a:t>Google 視窗顯示 origin_mismatch</a:t>
                      </a:r>
                      <a:endParaRPr lang="zh-TW" sz="10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50" dirty="0">
                          <a:solidFill>
                            <a:schemeClr val="tx1"/>
                          </a:solidFill>
                        </a:rPr>
                        <a:t>JavaScript 來源沒加、多了路徑或結尾「/」，或開的是 Vercel 預覽網址</a:t>
                      </a:r>
                      <a:endParaRPr lang="zh-TW" sz="10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50" dirty="0">
                          <a:solidFill>
                            <a:schemeClr val="tx1"/>
                          </a:solidFill>
                        </a:rPr>
                        <a:t>A4 改成只有網域；用正式網址；等 5 分鐘再試</a:t>
                      </a:r>
                      <a:endParaRPr lang="zh-TW" sz="10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50" b="1" dirty="0">
                          <a:solidFill>
                            <a:schemeClr val="tx1"/>
                          </a:solidFill>
                        </a:rPr>
                        <a:t>登入被擋（Access blocked／Error 403: access_denied）</a:t>
                      </a:r>
                      <a:endParaRPr lang="zh-TW" sz="10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50" dirty="0">
                          <a:solidFill>
                            <a:schemeClr val="tx1"/>
                          </a:solidFill>
                        </a:rPr>
                        <a:t>這個帳號不在測試使用者名單</a:t>
                      </a:r>
                      <a:endParaRPr lang="zh-TW" sz="10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50" dirty="0">
                          <a:solidFill>
                            <a:schemeClr val="tx1"/>
                          </a:solidFill>
                        </a:rPr>
                        <a:t>A3 加進名單</a:t>
                      </a:r>
                      <a:endParaRPr lang="zh-TW" sz="10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50" b="1" dirty="0">
                          <a:solidFill>
                            <a:schemeClr val="tx1"/>
                          </a:solidFill>
                        </a:rPr>
                        <a:t>/api/claude 顯示 AI backend not configured</a:t>
                      </a:r>
                      <a:endParaRPr lang="zh-TW" sz="10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50" dirty="0">
                          <a:solidFill>
                            <a:schemeClr val="tx1"/>
                          </a:solidFill>
                        </a:rPr>
                        <a:t>變數名稱打錯、沒選 Production，或還沒重新部署</a:t>
                      </a:r>
                      <a:endParaRPr lang="zh-TW" sz="10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50" dirty="0">
                          <a:solidFill>
                            <a:schemeClr val="tx1"/>
                          </a:solidFill>
                        </a:rPr>
                        <a:t>B3 檢查變數，B4 Redeploy</a:t>
                      </a:r>
                      <a:endParaRPr lang="zh-TW" sz="10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50" b="1" dirty="0">
                          <a:solidFill>
                            <a:schemeClr val="tx1"/>
                          </a:solidFill>
                        </a:rPr>
                        <a:t>提示含「credit balance is too low」</a:t>
                      </a:r>
                      <a:endParaRPr lang="zh-TW" sz="10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50" dirty="0">
                          <a:solidFill>
                            <a:schemeClr val="tx1"/>
                          </a:solidFill>
                        </a:rPr>
                        <a:t>儲值用完</a:t>
                      </a:r>
                      <a:endParaRPr lang="zh-TW" sz="10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50" dirty="0">
                          <a:solidFill>
                            <a:schemeClr val="tx1"/>
                          </a:solidFill>
                        </a:rPr>
                        <a:t>B1 儲值</a:t>
                      </a:r>
                      <a:endParaRPr lang="zh-TW" sz="10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50" b="1" dirty="0">
                          <a:solidFill>
                            <a:schemeClr val="tx1"/>
                          </a:solidFill>
                        </a:rPr>
                        <a:t>提示含「reached your specified API usage limits」</a:t>
                      </a:r>
                      <a:endParaRPr lang="zh-TW" sz="10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50" dirty="0">
                          <a:solidFill>
                            <a:schemeClr val="tx1"/>
                          </a:solidFill>
                        </a:rPr>
                        <a:t>到了 B1 設的每月上限</a:t>
                      </a:r>
                      <a:endParaRPr lang="zh-TW" sz="10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50" dirty="0">
                          <a:solidFill>
                            <a:schemeClr val="tx1"/>
                          </a:solidFill>
                        </a:rPr>
                        <a:t>B1 調高上限，或等下個月 1 日早上 8 點</a:t>
                      </a:r>
                      <a:endParaRPr lang="zh-TW" sz="10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50" b="1" dirty="0">
                          <a:solidFill>
                            <a:schemeClr val="tx1"/>
                          </a:solidFill>
                        </a:rPr>
                        <a:t>提示含「not scoped to a workspace」或「invalid x-api-key」</a:t>
                      </a:r>
                      <a:endParaRPr lang="zh-TW" sz="10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50" dirty="0">
                          <a:solidFill>
                            <a:schemeClr val="tx1"/>
                          </a:solidFill>
                        </a:rPr>
                        <a:t>金鑰沒選工作區、貼錯或已過期</a:t>
                      </a:r>
                      <a:endParaRPr lang="zh-TW" sz="10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50" dirty="0">
                          <a:solidFill>
                            <a:schemeClr val="tx1"/>
                          </a:solidFill>
                        </a:rPr>
                        <a:t>B2 重建金鑰並選 lunyi；B3 換掉後 Redeploy</a:t>
                      </a:r>
                      <a:endParaRPr lang="zh-TW" sz="10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50" b="1" dirty="0">
                          <a:solidFill>
                            <a:schemeClr val="tx1"/>
                          </a:solidFill>
                        </a:rPr>
                        <a:t>「網站存取碼錯誤」</a:t>
                      </a:r>
                      <a:endParaRPr lang="zh-TW" sz="10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50" dirty="0">
                          <a:solidFill>
                            <a:schemeClr val="tx1"/>
                          </a:solidFill>
                        </a:rPr>
                        <a:t>存取碼和 LUNYI_ACCESS_CODE 不一樣</a:t>
                      </a:r>
                      <a:endParaRPr lang="zh-TW" sz="10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50" dirty="0">
                          <a:solidFill>
                            <a:schemeClr val="tx1"/>
                          </a:solidFill>
                        </a:rPr>
                        <a:t>B5 重新輸入；或在 Vercel 改值後 Redeploy</a:t>
                      </a:r>
                      <a:endParaRPr lang="zh-TW" sz="10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50" b="1" dirty="0">
                          <a:solidFill>
                            <a:schemeClr val="tx1"/>
                          </a:solidFill>
                        </a:rPr>
                        <a:t>右上角沒有「網站後端 AI」</a:t>
                      </a:r>
                      <a:endParaRPr lang="zh-TW" sz="10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50" dirty="0">
                          <a:solidFill>
                            <a:schemeClr val="tx1"/>
                          </a:solidFill>
                        </a:rPr>
                        <a:t>開的是 GitHub Pages 網址；或這台瀏覽器存了 Gemini／Claude 金鑰（會優先使用）</a:t>
                      </a:r>
                      <a:endParaRPr lang="zh-TW" sz="10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50" dirty="0">
                          <a:solidFill>
                            <a:schemeClr val="tx1"/>
                          </a:solidFill>
                        </a:rPr>
                        <a:t>改用 Vercel 網址；在「進階」的 Gemini／Claude 卡片按「清除」</a:t>
                      </a:r>
                      <a:endParaRPr lang="zh-TW" sz="10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50" b="1" dirty="0">
                          <a:solidFill>
                            <a:schemeClr val="tx1"/>
                          </a:solidFill>
                        </a:rPr>
                        <a:t>Gemini 顯示「不能使用模型」</a:t>
                      </a:r>
                      <a:endParaRPr lang="zh-TW" sz="10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50" dirty="0">
                          <a:solidFill>
                            <a:schemeClr val="tx1"/>
                          </a:solidFill>
                        </a:rPr>
                        <a:t>模型名稱填了 gemini-2.5-flash</a:t>
                      </a:r>
                      <a:endParaRPr lang="zh-TW" sz="10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50" dirty="0">
                          <a:solidFill>
                            <a:schemeClr val="tx1"/>
                          </a:solidFill>
                        </a:rPr>
                        <a:t>C 把模型名稱清空</a:t>
                      </a:r>
                      <a:endParaRPr lang="zh-TW" sz="10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2764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完成檢查表</a:t>
            </a:r>
            <a:endParaRPr lang="zh-TW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0350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做完一項打一個勾</a:t>
            </a:r>
            <a:endParaRPr lang="zh-TW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700" b="1" dirty="0">
                <a:solidFill>
                  <a:schemeClr val="accent1"/>
                </a:solidFill>
              </a:rPr>
              <a:t>A. Google 登入</a:t>
            </a:r>
            <a:endParaRPr lang="zh-TW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1911096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1847088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啟用 Google Drive API、Google Calendar API</a:t>
            </a:r>
            <a:endParaRPr lang="zh-TW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359152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60120" y="2295144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Google Auth Platform：名稱、外部、聯絡信箱</a:t>
            </a:r>
            <a:endParaRPr lang="zh-TW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807208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60120" y="2743200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測試使用者加入自己、老師、同學</a:t>
            </a:r>
            <a:endParaRPr lang="zh-TW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255264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0120" y="3191256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用戶端：網頁應用程式、兩個 JavaScript 來源</a:t>
            </a:r>
            <a:endParaRPr lang="zh-TW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703320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60120" y="363931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在自己的瀏覽器試用登入成功</a:t>
            </a:r>
            <a:endParaRPr lang="zh-TW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151376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0120" y="4087368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用戶端 ID 寫進程式並發布</a:t>
            </a:r>
            <a:endParaRPr lang="zh-TW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599432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60120" y="4535424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發布後用無痕視窗、不貼 ID 也能登入</a:t>
            </a:r>
            <a:endParaRPr lang="zh-TW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172200" y="1417320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700" b="1" dirty="0">
                <a:solidFill>
                  <a:schemeClr val="accent1"/>
                </a:solidFill>
              </a:rPr>
              <a:t>B. AI 給所有人</a:t>
            </a:r>
            <a:endParaRPr lang="zh-TW" sz="1700" dirty="0"/>
          </a:p>
        </p:txBody>
      </p:sp>
      <p:sp>
        <p:nvSpPr>
          <p:cNvPr id="20" name="Shape 18"/>
          <p:cNvSpPr/>
          <p:nvPr/>
        </p:nvSpPr>
        <p:spPr>
          <a:xfrm>
            <a:off x="6172200" y="1911096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0" y="1847088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Claude Console 儲值，不開 auto-reload</a:t>
            </a:r>
            <a:endParaRPr lang="zh-TW" sz="1300" dirty="0"/>
          </a:p>
        </p:txBody>
      </p:sp>
      <p:sp>
        <p:nvSpPr>
          <p:cNvPr id="22" name="Shape 20"/>
          <p:cNvSpPr/>
          <p:nvPr/>
        </p:nvSpPr>
        <p:spPr>
          <a:xfrm>
            <a:off x="6172200" y="2359152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583680" y="2295144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工作區 lunyi 設每月上限與提醒</a:t>
            </a:r>
            <a:endParaRPr lang="zh-TW" sz="1300" dirty="0"/>
          </a:p>
        </p:txBody>
      </p:sp>
      <p:sp>
        <p:nvSpPr>
          <p:cNvPr id="24" name="Shape 22"/>
          <p:cNvSpPr/>
          <p:nvPr/>
        </p:nvSpPr>
        <p:spPr>
          <a:xfrm>
            <a:off x="6172200" y="2807208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83680" y="2743200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金鑰選工作區 lunyi，期限 Never</a:t>
            </a:r>
            <a:endParaRPr lang="zh-TW" sz="1300" dirty="0"/>
          </a:p>
        </p:txBody>
      </p:sp>
      <p:sp>
        <p:nvSpPr>
          <p:cNvPr id="26" name="Shape 24"/>
          <p:cNvSpPr/>
          <p:nvPr/>
        </p:nvSpPr>
        <p:spPr>
          <a:xfrm>
            <a:off x="6172200" y="3255264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583680" y="3191256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Vercel：ANTHROPIC_API_KEY、LUNYI_ACCESS_CODE</a:t>
            </a:r>
            <a:endParaRPr lang="zh-TW" sz="1300" dirty="0"/>
          </a:p>
        </p:txBody>
      </p:sp>
      <p:sp>
        <p:nvSpPr>
          <p:cNvPr id="28" name="Shape 26"/>
          <p:cNvSpPr/>
          <p:nvPr/>
        </p:nvSpPr>
        <p:spPr>
          <a:xfrm>
            <a:off x="6172200" y="3703320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583680" y="363931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Redeploy 後 /api/claude 顯示 POST only</a:t>
            </a:r>
            <a:endParaRPr lang="zh-TW" sz="1300" dirty="0"/>
          </a:p>
        </p:txBody>
      </p:sp>
      <p:sp>
        <p:nvSpPr>
          <p:cNvPr id="30" name="Shape 28"/>
          <p:cNvSpPr/>
          <p:nvPr/>
        </p:nvSpPr>
        <p:spPr>
          <a:xfrm>
            <a:off x="6172200" y="4151376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583680" y="4087368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輸入存取碼後，新增論文會自動產生關鍵詞</a:t>
            </a:r>
            <a:endParaRPr lang="zh-TW" sz="1300" dirty="0"/>
          </a:p>
        </p:txBody>
      </p:sp>
      <p:sp>
        <p:nvSpPr>
          <p:cNvPr id="32" name="Shape 30"/>
          <p:cNvSpPr/>
          <p:nvPr/>
        </p:nvSpPr>
        <p:spPr>
          <a:xfrm>
            <a:off x="6172200" y="4599432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583680" y="4535424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無痕視窗不輸入存取碼時，出現「網站存取碼錯誤」</a:t>
            </a:r>
            <a:endParaRPr lang="zh-TW" sz="1300" dirty="0"/>
          </a:p>
        </p:txBody>
      </p:sp>
      <p:sp>
        <p:nvSpPr>
          <p:cNvPr id="34" name="Shape 32"/>
          <p:cNvSpPr/>
          <p:nvPr/>
        </p:nvSpPr>
        <p:spPr>
          <a:xfrm>
            <a:off x="6172200" y="5047488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583680" y="4983480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存取碼發給使用者（B7 那一頁）</a:t>
            </a:r>
            <a:endParaRPr lang="zh-TW" sz="1300" dirty="0"/>
          </a:p>
        </p:txBody>
      </p:sp>
      <p:sp>
        <p:nvSpPr>
          <p:cNvPr id="36" name="note"/>
          <p:cNvSpPr/>
          <p:nvPr/>
        </p:nvSpPr>
        <p:spPr>
          <a:xfrm>
            <a:off x="548640" y="5486400"/>
            <a:ext cx="11094415" cy="640080"/>
          </a:xfrm>
          <a:prstGeom prst="roundRect">
            <a:avLst>
              <a:gd name="adj" fmla="val 8571"/>
            </a:avLst>
          </a:prstGeom>
          <a:solidFill>
            <a:srgbClr val="EEF4F4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94944" y="5577840"/>
            <a:ext cx="108018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00" dirty="0">
                <a:solidFill>
                  <a:srgbClr val="1D3B3D"/>
                </a:solidFill>
              </a:rPr>
              <a:t>每個月看一次 Claude Console 的 Usage 與 Cost。金鑰外流時到 API keys 按 Disable 或 Delete，建立新金鑰後到 Vercel 換掉 ANTHROPIC_API_KEY 再 Redeploy。</a:t>
            </a:r>
            <a:endParaRPr lang="zh-TW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2764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unyi">
  <a:themeElements>
    <a:clrScheme name="Lunyi">
      <a:dk1>
        <a:srgbClr val="1D1B18"/>
      </a:dk1>
      <a:lt1>
        <a:srgbClr val="FFFFFF"/>
      </a:lt1>
      <a:dk2>
        <a:srgbClr val="625D55"/>
      </a:dk2>
      <a:lt2>
        <a:srgbClr val="F4F2ED"/>
      </a:lt2>
      <a:accent1>
        <a:srgbClr val="00656B"/>
      </a:accent1>
      <a:accent2>
        <a:srgbClr val="2A78D6"/>
      </a:accent2>
      <a:accent3>
        <a:srgbClr val="EB6834"/>
      </a:accent3>
      <a:accent4>
        <a:srgbClr val="FAECB6"/>
      </a:accent4>
      <a:accent5>
        <a:srgbClr val="E2DDD3"/>
      </a:accent5>
      <a:accent6>
        <a:srgbClr val="FAF9F6"/>
      </a:accent6>
      <a:hlink>
        <a:srgbClr val="00656B"/>
      </a:hlink>
      <a:folHlink>
        <a:srgbClr val="004A50"/>
      </a:folHlink>
    </a:clrScheme>
    <a:fontScheme name="Lunyi">
      <a:majorFont>
        <a:latin typeface="Microsoft JhengHei"/>
        <a:ea typeface="Microsoft JhengHei"/>
        <a:cs typeface=""/>
        <a:font script="Jpan" typeface="游ゴシック Light"/>
        <a:font script="Hang" typeface="맑은 고딕"/>
        <a:font script="Hans" typeface="等线 Light"/>
        <a:font script="Hant" typeface="Microsoft Jheng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Microsoft JhengHei"/>
        <a:cs typeface=""/>
        <a:font script="Jpan" typeface="游ゴシック"/>
        <a:font script="Hang" typeface="맑은 고딕"/>
        <a:font script="Hans" typeface="等线"/>
        <a:font script="Hant" typeface="Microsoft Jheng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論憶 管理者操作手冊</dc:title>
  <dc:subject>開放 Google 登入、讓 AI 自動建立關聯圖譜</dc:subject>
  <dc:creator>林永欽</dc:creator>
  <cp:lastModifiedBy>林永欽</cp:lastModifiedBy>
  <cp:revision>1</cp:revision>
  <dcterms:created xsi:type="dcterms:W3CDTF">2026-10-24T04:41:42Z</dcterms:created>
  <dcterms:modified xsi:type="dcterms:W3CDTF">2026-10-24T04:41:42Z</dcterms:modified>
</cp:coreProperties>
</file>